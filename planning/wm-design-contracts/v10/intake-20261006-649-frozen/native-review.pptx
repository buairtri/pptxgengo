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bound template. Content classification: synthetic_example. Frozen source and binding provenance are recorded in layout-report.json and binding-report.json.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image" Target="../media/image-1008-2.sv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mds.frame.692319499296f16744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footer.rule"/>
          <p:cNvSpPr/>
          <p:nvPr/>
        </p:nvSpPr>
        <p:spPr>
          <a:xfrm>
            <a:off x="723900" y="62865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" name="wm.whiteboard.0.0"/>
          <p:cNvSpPr/>
          <p:nvPr/>
        </p:nvSpPr>
        <p:spPr>
          <a:xfrm>
            <a:off x="2667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whiteboard.0.18"/>
          <p:cNvSpPr/>
          <p:nvPr/>
        </p:nvSpPr>
        <p:spPr>
          <a:xfrm>
            <a:off x="2667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whiteboard.0.36"/>
          <p:cNvSpPr/>
          <p:nvPr/>
        </p:nvSpPr>
        <p:spPr>
          <a:xfrm>
            <a:off x="2667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whiteboard.0.54"/>
          <p:cNvSpPr/>
          <p:nvPr/>
        </p:nvSpPr>
        <p:spPr>
          <a:xfrm>
            <a:off x="2667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whiteboard.0.72"/>
          <p:cNvSpPr/>
          <p:nvPr/>
        </p:nvSpPr>
        <p:spPr>
          <a:xfrm>
            <a:off x="266700" y="1143000"/>
            <a:ext cx="38100" cy="38100"/>
          </a:xfrm>
          <a:prstGeom prst="rect">
            <a:avLst/>
          </a:prstGeom>
          <a:solidFill>
            <a:srgbClr val="CED7E6">
              <a:alpha val="85305"/>
            </a:srgbClr>
          </a:solidFill>
          <a:ln>
            <a:noFill/>
          </a:ln>
        </p:spPr>
      </p:sp>
      <p:sp>
        <p:nvSpPr>
          <p:cNvPr id="8" name="wm.whiteboard.0.90"/>
          <p:cNvSpPr/>
          <p:nvPr/>
        </p:nvSpPr>
        <p:spPr>
          <a:xfrm>
            <a:off x="266700" y="1371600"/>
            <a:ext cx="38100" cy="38100"/>
          </a:xfrm>
          <a:prstGeom prst="rect">
            <a:avLst/>
          </a:prstGeom>
          <a:solidFill>
            <a:srgbClr val="CED7E6">
              <a:alpha val="68524"/>
            </a:srgbClr>
          </a:solidFill>
          <a:ln>
            <a:noFill/>
          </a:ln>
        </p:spPr>
      </p:sp>
      <p:sp>
        <p:nvSpPr>
          <p:cNvPr id="9" name="wm.whiteboard.0.108"/>
          <p:cNvSpPr/>
          <p:nvPr/>
        </p:nvSpPr>
        <p:spPr>
          <a:xfrm>
            <a:off x="266700" y="1600200"/>
            <a:ext cx="38100" cy="38100"/>
          </a:xfrm>
          <a:prstGeom prst="rect">
            <a:avLst/>
          </a:prstGeom>
          <a:solidFill>
            <a:srgbClr val="CED7E6">
              <a:alpha val="51742"/>
            </a:srgbClr>
          </a:solidFill>
          <a:ln>
            <a:noFill/>
          </a:ln>
        </p:spPr>
      </p:sp>
      <p:sp>
        <p:nvSpPr>
          <p:cNvPr id="10" name="wm.whiteboard.0.126"/>
          <p:cNvSpPr/>
          <p:nvPr/>
        </p:nvSpPr>
        <p:spPr>
          <a:xfrm>
            <a:off x="266700" y="1828800"/>
            <a:ext cx="38100" cy="38100"/>
          </a:xfrm>
          <a:prstGeom prst="rect">
            <a:avLst/>
          </a:prstGeom>
          <a:solidFill>
            <a:srgbClr val="CED7E6">
              <a:alpha val="34959"/>
            </a:srgbClr>
          </a:solidFill>
          <a:ln>
            <a:noFill/>
          </a:ln>
        </p:spPr>
      </p:sp>
      <p:sp>
        <p:nvSpPr>
          <p:cNvPr id="11" name="wm.whiteboard.0.144"/>
          <p:cNvSpPr/>
          <p:nvPr/>
        </p:nvSpPr>
        <p:spPr>
          <a:xfrm>
            <a:off x="266700" y="2057400"/>
            <a:ext cx="38100" cy="38100"/>
          </a:xfrm>
          <a:prstGeom prst="rect">
            <a:avLst/>
          </a:prstGeom>
          <a:solidFill>
            <a:srgbClr val="CED7E6">
              <a:alpha val="18177"/>
            </a:srgbClr>
          </a:solidFill>
          <a:ln>
            <a:noFill/>
          </a:ln>
        </p:spPr>
      </p:sp>
      <p:sp>
        <p:nvSpPr>
          <p:cNvPr id="12" name="wm.whiteboard.0.162"/>
          <p:cNvSpPr/>
          <p:nvPr/>
        </p:nvSpPr>
        <p:spPr>
          <a:xfrm>
            <a:off x="266700" y="2286000"/>
            <a:ext cx="38100" cy="38100"/>
          </a:xfrm>
          <a:prstGeom prst="rect">
            <a:avLst/>
          </a:prstGeom>
          <a:solidFill>
            <a:srgbClr val="CED7E6">
              <a:alpha val="1394"/>
            </a:srgbClr>
          </a:solidFill>
          <a:ln>
            <a:noFill/>
          </a:ln>
        </p:spPr>
      </p:sp>
      <p:sp>
        <p:nvSpPr>
          <p:cNvPr id="13" name="wm.whiteboard.18.0"/>
          <p:cNvSpPr/>
          <p:nvPr/>
        </p:nvSpPr>
        <p:spPr>
          <a:xfrm>
            <a:off x="4953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" name="wm.whiteboard.18.18"/>
          <p:cNvSpPr/>
          <p:nvPr/>
        </p:nvSpPr>
        <p:spPr>
          <a:xfrm>
            <a:off x="4953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" name="wm.whiteboard.18.36"/>
          <p:cNvSpPr/>
          <p:nvPr/>
        </p:nvSpPr>
        <p:spPr>
          <a:xfrm>
            <a:off x="4953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" name="wm.whiteboard.18.54"/>
          <p:cNvSpPr/>
          <p:nvPr/>
        </p:nvSpPr>
        <p:spPr>
          <a:xfrm>
            <a:off x="495300" y="914400"/>
            <a:ext cx="38100" cy="38100"/>
          </a:xfrm>
          <a:prstGeom prst="rect">
            <a:avLst/>
          </a:prstGeom>
          <a:solidFill>
            <a:srgbClr val="CED7E6">
              <a:alpha val="99988"/>
            </a:srgbClr>
          </a:solidFill>
          <a:ln>
            <a:noFill/>
          </a:ln>
        </p:spPr>
      </p:sp>
      <p:sp>
        <p:nvSpPr>
          <p:cNvPr id="17" name="wm.whiteboard.18.72"/>
          <p:cNvSpPr/>
          <p:nvPr/>
        </p:nvSpPr>
        <p:spPr>
          <a:xfrm>
            <a:off x="495300" y="1143000"/>
            <a:ext cx="38100" cy="38100"/>
          </a:xfrm>
          <a:prstGeom prst="rect">
            <a:avLst/>
          </a:prstGeom>
          <a:solidFill>
            <a:srgbClr val="CED7E6">
              <a:alpha val="83708"/>
            </a:srgbClr>
          </a:solidFill>
          <a:ln>
            <a:noFill/>
          </a:ln>
        </p:spPr>
      </p:sp>
      <p:sp>
        <p:nvSpPr>
          <p:cNvPr id="18" name="wm.whiteboard.18.90"/>
          <p:cNvSpPr/>
          <p:nvPr/>
        </p:nvSpPr>
        <p:spPr>
          <a:xfrm>
            <a:off x="495300" y="1371600"/>
            <a:ext cx="38100" cy="38100"/>
          </a:xfrm>
          <a:prstGeom prst="rect">
            <a:avLst/>
          </a:prstGeom>
          <a:solidFill>
            <a:srgbClr val="CED7E6">
              <a:alpha val="67236"/>
            </a:srgbClr>
          </a:solidFill>
          <a:ln>
            <a:noFill/>
          </a:ln>
        </p:spPr>
      </p:sp>
      <p:sp>
        <p:nvSpPr>
          <p:cNvPr id="19" name="wm.whiteboard.18.108"/>
          <p:cNvSpPr/>
          <p:nvPr/>
        </p:nvSpPr>
        <p:spPr>
          <a:xfrm>
            <a:off x="495300" y="1600200"/>
            <a:ext cx="38100" cy="38100"/>
          </a:xfrm>
          <a:prstGeom prst="rect">
            <a:avLst/>
          </a:prstGeom>
          <a:solidFill>
            <a:srgbClr val="CED7E6">
              <a:alpha val="50663"/>
            </a:srgbClr>
          </a:solidFill>
          <a:ln>
            <a:noFill/>
          </a:ln>
        </p:spPr>
      </p:sp>
      <p:sp>
        <p:nvSpPr>
          <p:cNvPr id="20" name="wm.whiteboard.18.126"/>
          <p:cNvSpPr/>
          <p:nvPr/>
        </p:nvSpPr>
        <p:spPr>
          <a:xfrm>
            <a:off x="495300" y="1828800"/>
            <a:ext cx="38100" cy="38100"/>
          </a:xfrm>
          <a:prstGeom prst="rect">
            <a:avLst/>
          </a:prstGeom>
          <a:solidFill>
            <a:srgbClr val="CED7E6">
              <a:alpha val="34032"/>
            </a:srgbClr>
          </a:solidFill>
          <a:ln>
            <a:noFill/>
          </a:ln>
        </p:spPr>
      </p:sp>
      <p:sp>
        <p:nvSpPr>
          <p:cNvPr id="21" name="wm.whiteboard.18.144"/>
          <p:cNvSpPr/>
          <p:nvPr/>
        </p:nvSpPr>
        <p:spPr>
          <a:xfrm>
            <a:off x="495300" y="2057400"/>
            <a:ext cx="38100" cy="38100"/>
          </a:xfrm>
          <a:prstGeom prst="rect">
            <a:avLst/>
          </a:prstGeom>
          <a:solidFill>
            <a:srgbClr val="CED7E6">
              <a:alpha val="17363"/>
            </a:srgbClr>
          </a:solidFill>
          <a:ln>
            <a:noFill/>
          </a:ln>
        </p:spPr>
      </p:sp>
      <p:sp>
        <p:nvSpPr>
          <p:cNvPr id="22" name="wm.whiteboard.18.162"/>
          <p:cNvSpPr/>
          <p:nvPr/>
        </p:nvSpPr>
        <p:spPr>
          <a:xfrm>
            <a:off x="495300" y="2286000"/>
            <a:ext cx="38100" cy="38100"/>
          </a:xfrm>
          <a:prstGeom prst="rect">
            <a:avLst/>
          </a:prstGeom>
          <a:solidFill>
            <a:srgbClr val="CED7E6">
              <a:alpha val="670"/>
            </a:srgbClr>
          </a:solidFill>
          <a:ln>
            <a:noFill/>
          </a:ln>
        </p:spPr>
      </p:sp>
      <p:sp>
        <p:nvSpPr>
          <p:cNvPr id="23" name="wm.whiteboard.36.0"/>
          <p:cNvSpPr/>
          <p:nvPr/>
        </p:nvSpPr>
        <p:spPr>
          <a:xfrm>
            <a:off x="7239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" name="wm.whiteboard.36.18"/>
          <p:cNvSpPr/>
          <p:nvPr/>
        </p:nvSpPr>
        <p:spPr>
          <a:xfrm>
            <a:off x="7239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" name="wm.whiteboard.36.36"/>
          <p:cNvSpPr/>
          <p:nvPr/>
        </p:nvSpPr>
        <p:spPr>
          <a:xfrm>
            <a:off x="723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" name="wm.whiteboard.36.54"/>
          <p:cNvSpPr/>
          <p:nvPr/>
        </p:nvSpPr>
        <p:spPr>
          <a:xfrm>
            <a:off x="723900" y="914400"/>
            <a:ext cx="38100" cy="38100"/>
          </a:xfrm>
          <a:prstGeom prst="rect">
            <a:avLst/>
          </a:prstGeom>
          <a:solidFill>
            <a:srgbClr val="CED7E6">
              <a:alpha val="94671"/>
            </a:srgbClr>
          </a:solidFill>
          <a:ln>
            <a:noFill/>
          </a:ln>
        </p:spPr>
      </p:sp>
      <p:sp>
        <p:nvSpPr>
          <p:cNvPr id="27" name="wm.whiteboard.36.72"/>
          <p:cNvSpPr/>
          <p:nvPr/>
        </p:nvSpPr>
        <p:spPr>
          <a:xfrm>
            <a:off x="723900" y="1143000"/>
            <a:ext cx="38100" cy="38100"/>
          </a:xfrm>
          <a:prstGeom prst="rect">
            <a:avLst/>
          </a:prstGeom>
          <a:solidFill>
            <a:srgbClr val="CED7E6">
              <a:alpha val="79547"/>
            </a:srgbClr>
          </a:solidFill>
          <a:ln>
            <a:noFill/>
          </a:ln>
        </p:spPr>
      </p:sp>
      <p:sp>
        <p:nvSpPr>
          <p:cNvPr id="28" name="wm.whiteboard.36.90"/>
          <p:cNvSpPr/>
          <p:nvPr/>
        </p:nvSpPr>
        <p:spPr>
          <a:xfrm>
            <a:off x="723900" y="1371600"/>
            <a:ext cx="38100" cy="38100"/>
          </a:xfrm>
          <a:prstGeom prst="rect">
            <a:avLst/>
          </a:prstGeom>
          <a:solidFill>
            <a:srgbClr val="CED7E6">
              <a:alpha val="63833"/>
            </a:srgbClr>
          </a:solidFill>
          <a:ln>
            <a:noFill/>
          </a:ln>
        </p:spPr>
      </p:sp>
      <p:sp>
        <p:nvSpPr>
          <p:cNvPr id="29" name="wm.whiteboard.36.108"/>
          <p:cNvSpPr/>
          <p:nvPr/>
        </p:nvSpPr>
        <p:spPr>
          <a:xfrm>
            <a:off x="723900" y="1600200"/>
            <a:ext cx="38100" cy="38100"/>
          </a:xfrm>
          <a:prstGeom prst="rect">
            <a:avLst/>
          </a:prstGeom>
          <a:solidFill>
            <a:srgbClr val="CED7E6">
              <a:alpha val="47790"/>
            </a:srgbClr>
          </a:solidFill>
          <a:ln>
            <a:noFill/>
          </a:ln>
        </p:spPr>
      </p:sp>
      <p:sp>
        <p:nvSpPr>
          <p:cNvPr id="30" name="wm.whiteboard.36.126"/>
          <p:cNvSpPr/>
          <p:nvPr/>
        </p:nvSpPr>
        <p:spPr>
          <a:xfrm>
            <a:off x="723900" y="1828800"/>
            <a:ext cx="38100" cy="38100"/>
          </a:xfrm>
          <a:prstGeom prst="rect">
            <a:avLst/>
          </a:prstGeom>
          <a:solidFill>
            <a:srgbClr val="CED7E6">
              <a:alpha val="31549"/>
            </a:srgbClr>
          </a:solidFill>
          <a:ln>
            <a:noFill/>
          </a:ln>
        </p:spPr>
      </p:sp>
      <p:sp>
        <p:nvSpPr>
          <p:cNvPr id="31" name="wm.whiteboard.36.144"/>
          <p:cNvSpPr/>
          <p:nvPr/>
        </p:nvSpPr>
        <p:spPr>
          <a:xfrm>
            <a:off x="723900" y="2057400"/>
            <a:ext cx="38100" cy="38100"/>
          </a:xfrm>
          <a:prstGeom prst="rect">
            <a:avLst/>
          </a:prstGeom>
          <a:solidFill>
            <a:srgbClr val="CED7E6">
              <a:alpha val="15179"/>
            </a:srgbClr>
          </a:solidFill>
          <a:ln>
            <a:noFill/>
          </a:ln>
        </p:spPr>
      </p:sp>
      <p:sp>
        <p:nvSpPr>
          <p:cNvPr id="32" name="wm.whiteboard.54.0"/>
          <p:cNvSpPr/>
          <p:nvPr/>
        </p:nvSpPr>
        <p:spPr>
          <a:xfrm>
            <a:off x="9525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" name="wm.whiteboard.54.18"/>
          <p:cNvSpPr/>
          <p:nvPr/>
        </p:nvSpPr>
        <p:spPr>
          <a:xfrm>
            <a:off x="9525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" name="wm.whiteboard.54.36"/>
          <p:cNvSpPr/>
          <p:nvPr/>
        </p:nvSpPr>
        <p:spPr>
          <a:xfrm>
            <a:off x="952500" y="685800"/>
            <a:ext cx="38100" cy="38100"/>
          </a:xfrm>
          <a:prstGeom prst="rect">
            <a:avLst/>
          </a:prstGeom>
          <a:solidFill>
            <a:srgbClr val="CED7E6">
              <a:alpha val="98827"/>
            </a:srgbClr>
          </a:solidFill>
          <a:ln>
            <a:noFill/>
          </a:ln>
        </p:spPr>
      </p:sp>
      <p:sp>
        <p:nvSpPr>
          <p:cNvPr id="35" name="wm.whiteboard.54.54"/>
          <p:cNvSpPr/>
          <p:nvPr/>
        </p:nvSpPr>
        <p:spPr>
          <a:xfrm>
            <a:off x="952500" y="914400"/>
            <a:ext cx="38100" cy="38100"/>
          </a:xfrm>
          <a:prstGeom prst="rect">
            <a:avLst/>
          </a:prstGeom>
          <a:solidFill>
            <a:srgbClr val="CED7E6">
              <a:alpha val="86895"/>
            </a:srgbClr>
          </a:solidFill>
          <a:ln>
            <a:noFill/>
          </a:ln>
        </p:spPr>
      </p:sp>
      <p:sp>
        <p:nvSpPr>
          <p:cNvPr id="36" name="wm.whiteboard.54.72"/>
          <p:cNvSpPr/>
          <p:nvPr/>
        </p:nvSpPr>
        <p:spPr>
          <a:xfrm>
            <a:off x="952500" y="1143000"/>
            <a:ext cx="38100" cy="38100"/>
          </a:xfrm>
          <a:prstGeom prst="rect">
            <a:avLst/>
          </a:prstGeom>
          <a:solidFill>
            <a:srgbClr val="CED7E6">
              <a:alpha val="73217"/>
            </a:srgbClr>
          </a:solidFill>
          <a:ln>
            <a:noFill/>
          </a:ln>
        </p:spPr>
      </p:sp>
      <p:sp>
        <p:nvSpPr>
          <p:cNvPr id="37" name="wm.whiteboard.54.90"/>
          <p:cNvSpPr/>
          <p:nvPr/>
        </p:nvSpPr>
        <p:spPr>
          <a:xfrm>
            <a:off x="952500" y="1371600"/>
            <a:ext cx="38100" cy="38100"/>
          </a:xfrm>
          <a:prstGeom prst="rect">
            <a:avLst/>
          </a:prstGeom>
          <a:solidFill>
            <a:srgbClr val="CED7E6">
              <a:alpha val="58541"/>
            </a:srgbClr>
          </a:solidFill>
          <a:ln>
            <a:noFill/>
          </a:ln>
        </p:spPr>
      </p:sp>
      <p:sp>
        <p:nvSpPr>
          <p:cNvPr id="38" name="wm.whiteboard.54.108"/>
          <p:cNvSpPr/>
          <p:nvPr/>
        </p:nvSpPr>
        <p:spPr>
          <a:xfrm>
            <a:off x="952500" y="1600200"/>
            <a:ext cx="38100" cy="38100"/>
          </a:xfrm>
          <a:prstGeom prst="rect">
            <a:avLst/>
          </a:prstGeom>
          <a:solidFill>
            <a:srgbClr val="CED7E6">
              <a:alpha val="43263"/>
            </a:srgbClr>
          </a:solidFill>
          <a:ln>
            <a:noFill/>
          </a:ln>
        </p:spPr>
      </p:sp>
      <p:sp>
        <p:nvSpPr>
          <p:cNvPr id="39" name="wm.whiteboard.54.126"/>
          <p:cNvSpPr/>
          <p:nvPr/>
        </p:nvSpPr>
        <p:spPr>
          <a:xfrm>
            <a:off x="952500" y="1828800"/>
            <a:ext cx="38100" cy="38100"/>
          </a:xfrm>
          <a:prstGeom prst="rect">
            <a:avLst/>
          </a:prstGeom>
          <a:solidFill>
            <a:srgbClr val="CED7E6">
              <a:alpha val="27603"/>
            </a:srgbClr>
          </a:solidFill>
          <a:ln>
            <a:noFill/>
          </a:ln>
        </p:spPr>
      </p:sp>
      <p:sp>
        <p:nvSpPr>
          <p:cNvPr id="40" name="wm.whiteboard.54.144"/>
          <p:cNvSpPr/>
          <p:nvPr/>
        </p:nvSpPr>
        <p:spPr>
          <a:xfrm>
            <a:off x="952500" y="2057400"/>
            <a:ext cx="38100" cy="38100"/>
          </a:xfrm>
          <a:prstGeom prst="rect">
            <a:avLst/>
          </a:prstGeom>
          <a:solidFill>
            <a:srgbClr val="CED7E6">
              <a:alpha val="11687"/>
            </a:srgbClr>
          </a:solidFill>
          <a:ln>
            <a:noFill/>
          </a:ln>
        </p:spPr>
      </p:sp>
      <p:sp>
        <p:nvSpPr>
          <p:cNvPr id="41" name="wm.whiteboard.72.0"/>
          <p:cNvSpPr/>
          <p:nvPr/>
        </p:nvSpPr>
        <p:spPr>
          <a:xfrm>
            <a:off x="1181100" y="228600"/>
            <a:ext cx="38100" cy="38100"/>
          </a:xfrm>
          <a:prstGeom prst="rect">
            <a:avLst/>
          </a:prstGeom>
          <a:solidFill>
            <a:srgbClr val="CED7E6">
              <a:alpha val="97572"/>
            </a:srgbClr>
          </a:solidFill>
          <a:ln>
            <a:noFill/>
          </a:ln>
        </p:spPr>
      </p:sp>
      <p:sp>
        <p:nvSpPr>
          <p:cNvPr id="42" name="wm.whiteboard.72.18"/>
          <p:cNvSpPr/>
          <p:nvPr/>
        </p:nvSpPr>
        <p:spPr>
          <a:xfrm>
            <a:off x="1181100" y="457200"/>
            <a:ext cx="38100" cy="38100"/>
          </a:xfrm>
          <a:prstGeom prst="rect">
            <a:avLst/>
          </a:prstGeom>
          <a:solidFill>
            <a:srgbClr val="CED7E6">
              <a:alpha val="94724"/>
            </a:srgbClr>
          </a:solidFill>
          <a:ln>
            <a:noFill/>
          </a:ln>
        </p:spPr>
      </p:sp>
      <p:sp>
        <p:nvSpPr>
          <p:cNvPr id="43" name="wm.whiteboard.72.36"/>
          <p:cNvSpPr/>
          <p:nvPr/>
        </p:nvSpPr>
        <p:spPr>
          <a:xfrm>
            <a:off x="1181100" y="685800"/>
            <a:ext cx="38100" cy="38100"/>
          </a:xfrm>
          <a:prstGeom prst="rect">
            <a:avLst/>
          </a:prstGeom>
          <a:solidFill>
            <a:srgbClr val="CED7E6">
              <a:alpha val="87609"/>
            </a:srgbClr>
          </a:solidFill>
          <a:ln>
            <a:noFill/>
          </a:ln>
        </p:spPr>
      </p:sp>
      <p:sp>
        <p:nvSpPr>
          <p:cNvPr id="44" name="wm.whiteboard.72.54"/>
          <p:cNvSpPr/>
          <p:nvPr/>
        </p:nvSpPr>
        <p:spPr>
          <a:xfrm>
            <a:off x="1181100" y="914400"/>
            <a:ext cx="38100" cy="38100"/>
          </a:xfrm>
          <a:prstGeom prst="rect">
            <a:avLst/>
          </a:prstGeom>
          <a:solidFill>
            <a:srgbClr val="CED7E6">
              <a:alpha val="77408"/>
            </a:srgbClr>
          </a:solidFill>
          <a:ln>
            <a:noFill/>
          </a:ln>
        </p:spPr>
      </p:sp>
      <p:sp>
        <p:nvSpPr>
          <p:cNvPr id="45" name="wm.whiteboard.72.72"/>
          <p:cNvSpPr/>
          <p:nvPr/>
        </p:nvSpPr>
        <p:spPr>
          <a:xfrm>
            <a:off x="1181100" y="1143000"/>
            <a:ext cx="38100" cy="38100"/>
          </a:xfrm>
          <a:prstGeom prst="rect">
            <a:avLst/>
          </a:prstGeom>
          <a:solidFill>
            <a:srgbClr val="CED7E6">
              <a:alpha val="65181"/>
            </a:srgbClr>
          </a:solidFill>
          <a:ln>
            <a:noFill/>
          </a:ln>
        </p:spPr>
      </p:sp>
      <p:sp>
        <p:nvSpPr>
          <p:cNvPr id="46" name="wm.whiteboard.72.90"/>
          <p:cNvSpPr/>
          <p:nvPr/>
        </p:nvSpPr>
        <p:spPr>
          <a:xfrm>
            <a:off x="1181100" y="1371600"/>
            <a:ext cx="38100" cy="38100"/>
          </a:xfrm>
          <a:prstGeom prst="rect">
            <a:avLst/>
          </a:prstGeom>
          <a:solidFill>
            <a:srgbClr val="CED7E6">
              <a:alpha val="51653"/>
            </a:srgbClr>
          </a:solidFill>
          <a:ln>
            <a:noFill/>
          </a:ln>
        </p:spPr>
      </p:sp>
      <p:sp>
        <p:nvSpPr>
          <p:cNvPr id="47" name="wm.whiteboard.72.108"/>
          <p:cNvSpPr/>
          <p:nvPr/>
        </p:nvSpPr>
        <p:spPr>
          <a:xfrm>
            <a:off x="1181100" y="1600200"/>
            <a:ext cx="38100" cy="38100"/>
          </a:xfrm>
          <a:prstGeom prst="rect">
            <a:avLst/>
          </a:prstGeom>
          <a:solidFill>
            <a:srgbClr val="CED7E6">
              <a:alpha val="37275"/>
            </a:srgbClr>
          </a:solidFill>
          <a:ln>
            <a:noFill/>
          </a:ln>
        </p:spPr>
      </p:sp>
      <p:sp>
        <p:nvSpPr>
          <p:cNvPr id="48" name="wm.whiteboard.72.126"/>
          <p:cNvSpPr/>
          <p:nvPr/>
        </p:nvSpPr>
        <p:spPr>
          <a:xfrm>
            <a:off x="1181100" y="1828800"/>
            <a:ext cx="38100" cy="38100"/>
          </a:xfrm>
          <a:prstGeom prst="rect">
            <a:avLst/>
          </a:prstGeom>
          <a:solidFill>
            <a:srgbClr val="CED7E6">
              <a:alpha val="22326"/>
            </a:srgbClr>
          </a:solidFill>
          <a:ln>
            <a:noFill/>
          </a:ln>
        </p:spPr>
      </p:sp>
      <p:sp>
        <p:nvSpPr>
          <p:cNvPr id="49" name="wm.whiteboard.72.144"/>
          <p:cNvSpPr/>
          <p:nvPr/>
        </p:nvSpPr>
        <p:spPr>
          <a:xfrm>
            <a:off x="1181100" y="2057400"/>
            <a:ext cx="38100" cy="38100"/>
          </a:xfrm>
          <a:prstGeom prst="rect">
            <a:avLst/>
          </a:prstGeom>
          <a:solidFill>
            <a:srgbClr val="CED7E6">
              <a:alpha val="6980"/>
            </a:srgbClr>
          </a:solidFill>
          <a:ln>
            <a:noFill/>
          </a:ln>
        </p:spPr>
      </p:sp>
      <p:sp>
        <p:nvSpPr>
          <p:cNvPr id="50" name="wm.whiteboard.90.0"/>
          <p:cNvSpPr/>
          <p:nvPr/>
        </p:nvSpPr>
        <p:spPr>
          <a:xfrm>
            <a:off x="1409700" y="228600"/>
            <a:ext cx="38100" cy="38100"/>
          </a:xfrm>
          <a:prstGeom prst="rect">
            <a:avLst/>
          </a:prstGeom>
          <a:solidFill>
            <a:srgbClr val="CED7E6">
              <a:alpha val="83798"/>
            </a:srgbClr>
          </a:solidFill>
          <a:ln>
            <a:noFill/>
          </a:ln>
        </p:spPr>
      </p:sp>
      <p:sp>
        <p:nvSpPr>
          <p:cNvPr id="51" name="wm.whiteboard.90.18"/>
          <p:cNvSpPr/>
          <p:nvPr/>
        </p:nvSpPr>
        <p:spPr>
          <a:xfrm>
            <a:off x="1409700" y="457200"/>
            <a:ext cx="38100" cy="38100"/>
          </a:xfrm>
          <a:prstGeom prst="rect">
            <a:avLst/>
          </a:prstGeom>
          <a:solidFill>
            <a:srgbClr val="CED7E6">
              <a:alpha val="81490"/>
            </a:srgbClr>
          </a:solidFill>
          <a:ln>
            <a:noFill/>
          </a:ln>
        </p:spPr>
      </p:sp>
      <p:sp>
        <p:nvSpPr>
          <p:cNvPr id="52" name="wm.whiteboard.90.36"/>
          <p:cNvSpPr/>
          <p:nvPr/>
        </p:nvSpPr>
        <p:spPr>
          <a:xfrm>
            <a:off x="1409700" y="685800"/>
            <a:ext cx="38100" cy="38100"/>
          </a:xfrm>
          <a:prstGeom prst="rect">
            <a:avLst/>
          </a:prstGeom>
          <a:solidFill>
            <a:srgbClr val="CED7E6">
              <a:alpha val="75569"/>
            </a:srgbClr>
          </a:solidFill>
          <a:ln>
            <a:noFill/>
          </a:ln>
        </p:spPr>
      </p:sp>
      <p:sp>
        <p:nvSpPr>
          <p:cNvPr id="53" name="wm.whiteboard.90.54"/>
          <p:cNvSpPr/>
          <p:nvPr/>
        </p:nvSpPr>
        <p:spPr>
          <a:xfrm>
            <a:off x="1409700" y="914400"/>
            <a:ext cx="38100" cy="38100"/>
          </a:xfrm>
          <a:prstGeom prst="rect">
            <a:avLst/>
          </a:prstGeom>
          <a:solidFill>
            <a:srgbClr val="CED7E6">
              <a:alpha val="66767"/>
            </a:srgbClr>
          </a:solidFill>
          <a:ln>
            <a:noFill/>
          </a:ln>
        </p:spPr>
      </p:sp>
      <p:sp>
        <p:nvSpPr>
          <p:cNvPr id="54" name="wm.whiteboard.90.72"/>
          <p:cNvSpPr/>
          <p:nvPr/>
        </p:nvSpPr>
        <p:spPr>
          <a:xfrm>
            <a:off x="1409700" y="1143000"/>
            <a:ext cx="38100" cy="38100"/>
          </a:xfrm>
          <a:prstGeom prst="rect">
            <a:avLst/>
          </a:prstGeom>
          <a:solidFill>
            <a:srgbClr val="CED7E6">
              <a:alpha val="55859"/>
            </a:srgbClr>
          </a:solidFill>
          <a:ln>
            <a:noFill/>
          </a:ln>
        </p:spPr>
      </p:sp>
      <p:sp>
        <p:nvSpPr>
          <p:cNvPr id="55" name="wm.whiteboard.90.90"/>
          <p:cNvSpPr/>
          <p:nvPr/>
        </p:nvSpPr>
        <p:spPr>
          <a:xfrm>
            <a:off x="1409700" y="1371600"/>
            <a:ext cx="38100" cy="38100"/>
          </a:xfrm>
          <a:prstGeom prst="rect">
            <a:avLst/>
          </a:prstGeom>
          <a:solidFill>
            <a:srgbClr val="CED7E6">
              <a:alpha val="43468"/>
            </a:srgbClr>
          </a:solidFill>
          <a:ln>
            <a:noFill/>
          </a:ln>
        </p:spPr>
      </p:sp>
      <p:sp>
        <p:nvSpPr>
          <p:cNvPr id="56" name="wm.whiteboard.90.108"/>
          <p:cNvSpPr/>
          <p:nvPr/>
        </p:nvSpPr>
        <p:spPr>
          <a:xfrm>
            <a:off x="1409700" y="1600200"/>
            <a:ext cx="38100" cy="38100"/>
          </a:xfrm>
          <a:prstGeom prst="rect">
            <a:avLst/>
          </a:prstGeom>
          <a:solidFill>
            <a:srgbClr val="CED7E6">
              <a:alpha val="30037"/>
            </a:srgbClr>
          </a:solidFill>
          <a:ln>
            <a:noFill/>
          </a:ln>
        </p:spPr>
      </p:sp>
      <p:sp>
        <p:nvSpPr>
          <p:cNvPr id="57" name="wm.whiteboard.90.126"/>
          <p:cNvSpPr/>
          <p:nvPr/>
        </p:nvSpPr>
        <p:spPr>
          <a:xfrm>
            <a:off x="1409700" y="1828800"/>
            <a:ext cx="38100" cy="38100"/>
          </a:xfrm>
          <a:prstGeom prst="rect">
            <a:avLst/>
          </a:prstGeom>
          <a:solidFill>
            <a:srgbClr val="CED7E6">
              <a:alpha val="15870"/>
            </a:srgbClr>
          </a:solidFill>
          <a:ln>
            <a:noFill/>
          </a:ln>
        </p:spPr>
      </p:sp>
      <p:sp>
        <p:nvSpPr>
          <p:cNvPr id="58" name="wm.whiteboard.90.144"/>
          <p:cNvSpPr/>
          <p:nvPr/>
        </p:nvSpPr>
        <p:spPr>
          <a:xfrm>
            <a:off x="1409700" y="2057400"/>
            <a:ext cx="38100" cy="38100"/>
          </a:xfrm>
          <a:prstGeom prst="rect">
            <a:avLst/>
          </a:prstGeom>
          <a:solidFill>
            <a:srgbClr val="CED7E6">
              <a:alpha val="1171"/>
            </a:srgbClr>
          </a:solidFill>
          <a:ln>
            <a:noFill/>
          </a:ln>
        </p:spPr>
      </p:sp>
      <p:sp>
        <p:nvSpPr>
          <p:cNvPr id="59" name="wm.whiteboard.108.0"/>
          <p:cNvSpPr/>
          <p:nvPr/>
        </p:nvSpPr>
        <p:spPr>
          <a:xfrm>
            <a:off x="1638300" y="228600"/>
            <a:ext cx="38100" cy="38100"/>
          </a:xfrm>
          <a:prstGeom prst="rect">
            <a:avLst/>
          </a:prstGeom>
          <a:solidFill>
            <a:srgbClr val="CED7E6">
              <a:alpha val="70023"/>
            </a:srgbClr>
          </a:solidFill>
          <a:ln>
            <a:noFill/>
          </a:ln>
        </p:spPr>
      </p:sp>
      <p:sp>
        <p:nvSpPr>
          <p:cNvPr id="60" name="wm.whiteboard.108.18"/>
          <p:cNvSpPr/>
          <p:nvPr/>
        </p:nvSpPr>
        <p:spPr>
          <a:xfrm>
            <a:off x="1638300" y="457200"/>
            <a:ext cx="38100" cy="38100"/>
          </a:xfrm>
          <a:prstGeom prst="rect">
            <a:avLst/>
          </a:prstGeom>
          <a:solidFill>
            <a:srgbClr val="CED7E6">
              <a:alpha val="68085"/>
            </a:srgbClr>
          </a:solidFill>
          <a:ln>
            <a:noFill/>
          </a:ln>
        </p:spPr>
      </p:sp>
      <p:sp>
        <p:nvSpPr>
          <p:cNvPr id="61" name="wm.whiteboard.108.36"/>
          <p:cNvSpPr/>
          <p:nvPr/>
        </p:nvSpPr>
        <p:spPr>
          <a:xfrm>
            <a:off x="1638300" y="685800"/>
            <a:ext cx="38100" cy="38100"/>
          </a:xfrm>
          <a:prstGeom prst="rect">
            <a:avLst/>
          </a:prstGeom>
          <a:solidFill>
            <a:srgbClr val="CED7E6">
              <a:alpha val="63033"/>
            </a:srgbClr>
          </a:solidFill>
          <a:ln>
            <a:noFill/>
          </a:ln>
        </p:spPr>
      </p:sp>
      <p:sp>
        <p:nvSpPr>
          <p:cNvPr id="62" name="wm.whiteboard.108.54"/>
          <p:cNvSpPr/>
          <p:nvPr/>
        </p:nvSpPr>
        <p:spPr>
          <a:xfrm>
            <a:off x="1638300" y="914400"/>
            <a:ext cx="38100" cy="38100"/>
          </a:xfrm>
          <a:prstGeom prst="rect">
            <a:avLst/>
          </a:prstGeom>
          <a:solidFill>
            <a:srgbClr val="CED7E6">
              <a:alpha val="55346"/>
            </a:srgbClr>
          </a:solidFill>
          <a:ln>
            <a:noFill/>
          </a:ln>
        </p:spPr>
      </p:sp>
      <p:sp>
        <p:nvSpPr>
          <p:cNvPr id="63" name="wm.whiteboard.108.72"/>
          <p:cNvSpPr/>
          <p:nvPr/>
        </p:nvSpPr>
        <p:spPr>
          <a:xfrm>
            <a:off x="1638300" y="1143000"/>
            <a:ext cx="38100" cy="38100"/>
          </a:xfrm>
          <a:prstGeom prst="rect">
            <a:avLst/>
          </a:prstGeom>
          <a:solidFill>
            <a:srgbClr val="CED7E6">
              <a:alpha val="45583"/>
            </a:srgbClr>
          </a:solidFill>
          <a:ln>
            <a:noFill/>
          </a:ln>
        </p:spPr>
      </p:sp>
      <p:sp>
        <p:nvSpPr>
          <p:cNvPr id="64" name="wm.whiteboard.108.90"/>
          <p:cNvSpPr/>
          <p:nvPr/>
        </p:nvSpPr>
        <p:spPr>
          <a:xfrm>
            <a:off x="1638300" y="1371600"/>
            <a:ext cx="38100" cy="38100"/>
          </a:xfrm>
          <a:prstGeom prst="rect">
            <a:avLst/>
          </a:prstGeom>
          <a:solidFill>
            <a:srgbClr val="CED7E6">
              <a:alpha val="34251"/>
            </a:srgbClr>
          </a:solidFill>
          <a:ln>
            <a:noFill/>
          </a:ln>
        </p:spPr>
      </p:sp>
      <p:sp>
        <p:nvSpPr>
          <p:cNvPr id="65" name="wm.whiteboard.108.108"/>
          <p:cNvSpPr/>
          <p:nvPr/>
        </p:nvSpPr>
        <p:spPr>
          <a:xfrm>
            <a:off x="1638300" y="1600200"/>
            <a:ext cx="38100" cy="38100"/>
          </a:xfrm>
          <a:prstGeom prst="rect">
            <a:avLst/>
          </a:prstGeom>
          <a:solidFill>
            <a:srgbClr val="CED7E6">
              <a:alpha val="21754"/>
            </a:srgbClr>
          </a:solidFill>
          <a:ln>
            <a:noFill/>
          </a:ln>
        </p:spPr>
      </p:sp>
      <p:sp>
        <p:nvSpPr>
          <p:cNvPr id="66" name="wm.whiteboard.108.126"/>
          <p:cNvSpPr/>
          <p:nvPr/>
        </p:nvSpPr>
        <p:spPr>
          <a:xfrm>
            <a:off x="1638300" y="1828800"/>
            <a:ext cx="38100" cy="38100"/>
          </a:xfrm>
          <a:prstGeom prst="rect">
            <a:avLst/>
          </a:prstGeom>
          <a:solidFill>
            <a:srgbClr val="CED7E6">
              <a:alpha val="8391"/>
            </a:srgbClr>
          </a:solidFill>
          <a:ln>
            <a:noFill/>
          </a:ln>
        </p:spPr>
      </p:sp>
      <p:sp>
        <p:nvSpPr>
          <p:cNvPr id="67" name="wm.whiteboard.126.0"/>
          <p:cNvSpPr/>
          <p:nvPr/>
        </p:nvSpPr>
        <p:spPr>
          <a:xfrm>
            <a:off x="1866900" y="228600"/>
            <a:ext cx="38100" cy="38100"/>
          </a:xfrm>
          <a:prstGeom prst="rect">
            <a:avLst/>
          </a:prstGeom>
          <a:solidFill>
            <a:srgbClr val="CED7E6">
              <a:alpha val="56247"/>
            </a:srgbClr>
          </a:solidFill>
          <a:ln>
            <a:noFill/>
          </a:ln>
        </p:spPr>
      </p:sp>
      <p:sp>
        <p:nvSpPr>
          <p:cNvPr id="68" name="wm.whiteboard.126.18"/>
          <p:cNvSpPr/>
          <p:nvPr/>
        </p:nvSpPr>
        <p:spPr>
          <a:xfrm>
            <a:off x="1866900" y="457200"/>
            <a:ext cx="38100" cy="38100"/>
          </a:xfrm>
          <a:prstGeom prst="rect">
            <a:avLst/>
          </a:prstGeom>
          <a:solidFill>
            <a:srgbClr val="CED7E6">
              <a:alpha val="54578"/>
            </a:srgbClr>
          </a:solidFill>
          <a:ln>
            <a:noFill/>
          </a:ln>
        </p:spPr>
      </p:sp>
      <p:sp>
        <p:nvSpPr>
          <p:cNvPr id="69" name="wm.whiteboard.126.36"/>
          <p:cNvSpPr/>
          <p:nvPr/>
        </p:nvSpPr>
        <p:spPr>
          <a:xfrm>
            <a:off x="1866900" y="685800"/>
            <a:ext cx="38100" cy="38100"/>
          </a:xfrm>
          <a:prstGeom prst="rect">
            <a:avLst/>
          </a:prstGeom>
          <a:solidFill>
            <a:srgbClr val="CED7E6">
              <a:alpha val="50182"/>
            </a:srgbClr>
          </a:solidFill>
          <a:ln>
            <a:noFill/>
          </a:ln>
        </p:spPr>
      </p:sp>
      <p:sp>
        <p:nvSpPr>
          <p:cNvPr id="70" name="wm.whiteboard.126.54"/>
          <p:cNvSpPr/>
          <p:nvPr/>
        </p:nvSpPr>
        <p:spPr>
          <a:xfrm>
            <a:off x="1866900" y="914400"/>
            <a:ext cx="38100" cy="38100"/>
          </a:xfrm>
          <a:prstGeom prst="rect">
            <a:avLst/>
          </a:prstGeom>
          <a:solidFill>
            <a:srgbClr val="CED7E6">
              <a:alpha val="43386"/>
            </a:srgbClr>
          </a:solidFill>
          <a:ln>
            <a:noFill/>
          </a:ln>
        </p:spPr>
      </p:sp>
      <p:sp>
        <p:nvSpPr>
          <p:cNvPr id="71" name="wm.whiteboard.126.72"/>
          <p:cNvSpPr/>
          <p:nvPr/>
        </p:nvSpPr>
        <p:spPr>
          <a:xfrm>
            <a:off x="1866900" y="1143000"/>
            <a:ext cx="38100" cy="38100"/>
          </a:xfrm>
          <a:prstGeom prst="rect">
            <a:avLst/>
          </a:prstGeom>
          <a:solidFill>
            <a:srgbClr val="CED7E6">
              <a:alpha val="34598"/>
            </a:srgbClr>
          </a:solidFill>
          <a:ln>
            <a:noFill/>
          </a:ln>
        </p:spPr>
      </p:sp>
      <p:sp>
        <p:nvSpPr>
          <p:cNvPr id="72" name="wm.whiteboard.126.90"/>
          <p:cNvSpPr/>
          <p:nvPr/>
        </p:nvSpPr>
        <p:spPr>
          <a:xfrm>
            <a:off x="1866900" y="1371600"/>
            <a:ext cx="38100" cy="38100"/>
          </a:xfrm>
          <a:prstGeom prst="rect">
            <a:avLst/>
          </a:prstGeom>
          <a:solidFill>
            <a:srgbClr val="CED7E6">
              <a:alpha val="24223"/>
            </a:srgbClr>
          </a:solidFill>
          <a:ln>
            <a:noFill/>
          </a:ln>
        </p:spPr>
      </p:sp>
      <p:sp>
        <p:nvSpPr>
          <p:cNvPr id="73" name="wm.whiteboard.126.108"/>
          <p:cNvSpPr/>
          <p:nvPr/>
        </p:nvSpPr>
        <p:spPr>
          <a:xfrm>
            <a:off x="1866900" y="1600200"/>
            <a:ext cx="38100" cy="38100"/>
          </a:xfrm>
          <a:prstGeom prst="rect">
            <a:avLst/>
          </a:prstGeom>
          <a:solidFill>
            <a:srgbClr val="CED7E6">
              <a:alpha val="12610"/>
            </a:srgbClr>
          </a:solidFill>
          <a:ln>
            <a:noFill/>
          </a:ln>
        </p:spPr>
      </p:sp>
      <p:sp>
        <p:nvSpPr>
          <p:cNvPr id="74" name="wm.whiteboard.126.126"/>
          <p:cNvSpPr/>
          <p:nvPr/>
        </p:nvSpPr>
        <p:spPr>
          <a:xfrm>
            <a:off x="1866900" y="1828800"/>
            <a:ext cx="38100" cy="38100"/>
          </a:xfrm>
          <a:prstGeom prst="rect">
            <a:avLst/>
          </a:prstGeom>
          <a:solidFill>
            <a:srgbClr val="CED7E6">
              <a:alpha val="40"/>
            </a:srgbClr>
          </a:solidFill>
          <a:ln>
            <a:noFill/>
          </a:ln>
        </p:spPr>
      </p:sp>
      <p:sp>
        <p:nvSpPr>
          <p:cNvPr id="75" name="wm.whiteboard.144.0"/>
          <p:cNvSpPr/>
          <p:nvPr/>
        </p:nvSpPr>
        <p:spPr>
          <a:xfrm>
            <a:off x="2095500" y="228600"/>
            <a:ext cx="38100" cy="38100"/>
          </a:xfrm>
          <a:prstGeom prst="rect">
            <a:avLst/>
          </a:prstGeom>
          <a:solidFill>
            <a:srgbClr val="CED7E6">
              <a:alpha val="42471"/>
            </a:srgbClr>
          </a:solidFill>
          <a:ln>
            <a:noFill/>
          </a:ln>
        </p:spPr>
      </p:sp>
      <p:sp>
        <p:nvSpPr>
          <p:cNvPr id="76" name="wm.whiteboard.144.18"/>
          <p:cNvSpPr/>
          <p:nvPr/>
        </p:nvSpPr>
        <p:spPr>
          <a:xfrm>
            <a:off x="2095500" y="457200"/>
            <a:ext cx="38100" cy="38100"/>
          </a:xfrm>
          <a:prstGeom prst="rect">
            <a:avLst/>
          </a:prstGeom>
          <a:solidFill>
            <a:srgbClr val="CED7E6">
              <a:alpha val="41005"/>
            </a:srgbClr>
          </a:solidFill>
          <a:ln>
            <a:noFill/>
          </a:ln>
        </p:spPr>
      </p:sp>
      <p:sp>
        <p:nvSpPr>
          <p:cNvPr id="77" name="wm.whiteboard.144.36"/>
          <p:cNvSpPr/>
          <p:nvPr/>
        </p:nvSpPr>
        <p:spPr>
          <a:xfrm>
            <a:off x="2095500" y="685800"/>
            <a:ext cx="38100" cy="38100"/>
          </a:xfrm>
          <a:prstGeom prst="rect">
            <a:avLst/>
          </a:prstGeom>
          <a:solidFill>
            <a:srgbClr val="CED7E6">
              <a:alpha val="37120"/>
            </a:srgbClr>
          </a:solidFill>
          <a:ln>
            <a:noFill/>
          </a:ln>
        </p:spPr>
      </p:sp>
      <p:sp>
        <p:nvSpPr>
          <p:cNvPr id="78" name="wm.whiteboard.144.54"/>
          <p:cNvSpPr/>
          <p:nvPr/>
        </p:nvSpPr>
        <p:spPr>
          <a:xfrm>
            <a:off x="2095500" y="914400"/>
            <a:ext cx="38100" cy="38100"/>
          </a:xfrm>
          <a:prstGeom prst="rect">
            <a:avLst/>
          </a:prstGeom>
          <a:solidFill>
            <a:srgbClr val="CED7E6">
              <a:alpha val="31044"/>
            </a:srgbClr>
          </a:solidFill>
          <a:ln>
            <a:noFill/>
          </a:ln>
        </p:spPr>
      </p:sp>
      <p:sp>
        <p:nvSpPr>
          <p:cNvPr id="79" name="wm.whiteboard.144.72"/>
          <p:cNvSpPr/>
          <p:nvPr/>
        </p:nvSpPr>
        <p:spPr>
          <a:xfrm>
            <a:off x="2095500" y="1143000"/>
            <a:ext cx="38100" cy="38100"/>
          </a:xfrm>
          <a:prstGeom prst="rect">
            <a:avLst/>
          </a:prstGeom>
          <a:solidFill>
            <a:srgbClr val="CED7E6">
              <a:alpha val="23083"/>
            </a:srgbClr>
          </a:solidFill>
          <a:ln>
            <a:noFill/>
          </a:ln>
        </p:spPr>
      </p:sp>
      <p:sp>
        <p:nvSpPr>
          <p:cNvPr id="80" name="wm.whiteboard.144.90"/>
          <p:cNvSpPr/>
          <p:nvPr/>
        </p:nvSpPr>
        <p:spPr>
          <a:xfrm>
            <a:off x="2095500" y="1371600"/>
            <a:ext cx="38100" cy="38100"/>
          </a:xfrm>
          <a:prstGeom prst="rect">
            <a:avLst/>
          </a:prstGeom>
          <a:solidFill>
            <a:srgbClr val="CED7E6">
              <a:alpha val="13557"/>
            </a:srgbClr>
          </a:solidFill>
          <a:ln>
            <a:noFill/>
          </a:ln>
        </p:spPr>
      </p:sp>
      <p:sp>
        <p:nvSpPr>
          <p:cNvPr id="81" name="wm.whiteboard.144.108"/>
          <p:cNvSpPr/>
          <p:nvPr/>
        </p:nvSpPr>
        <p:spPr>
          <a:xfrm>
            <a:off x="2095500" y="1600200"/>
            <a:ext cx="38100" cy="38100"/>
          </a:xfrm>
          <a:prstGeom prst="rect">
            <a:avLst/>
          </a:prstGeom>
          <a:solidFill>
            <a:srgbClr val="CED7E6">
              <a:alpha val="2762"/>
            </a:srgbClr>
          </a:solidFill>
          <a:ln>
            <a:noFill/>
          </a:ln>
        </p:spPr>
      </p:sp>
      <p:sp>
        <p:nvSpPr>
          <p:cNvPr id="82" name="wm.whiteboard.162.0"/>
          <p:cNvSpPr/>
          <p:nvPr/>
        </p:nvSpPr>
        <p:spPr>
          <a:xfrm>
            <a:off x="2324100" y="228600"/>
            <a:ext cx="38100" cy="38100"/>
          </a:xfrm>
          <a:prstGeom prst="rect">
            <a:avLst/>
          </a:prstGeom>
          <a:solidFill>
            <a:srgbClr val="CED7E6">
              <a:alpha val="28695"/>
            </a:srgbClr>
          </a:solidFill>
          <a:ln>
            <a:noFill/>
          </a:ln>
        </p:spPr>
      </p:sp>
      <p:sp>
        <p:nvSpPr>
          <p:cNvPr id="83" name="wm.whiteboard.162.18"/>
          <p:cNvSpPr/>
          <p:nvPr/>
        </p:nvSpPr>
        <p:spPr>
          <a:xfrm>
            <a:off x="2324100" y="457200"/>
            <a:ext cx="38100" cy="38100"/>
          </a:xfrm>
          <a:prstGeom prst="rect">
            <a:avLst/>
          </a:prstGeom>
          <a:solidFill>
            <a:srgbClr val="CED7E6">
              <a:alpha val="27389"/>
            </a:srgbClr>
          </a:solidFill>
          <a:ln>
            <a:noFill/>
          </a:ln>
        </p:spPr>
      </p:sp>
      <p:sp>
        <p:nvSpPr>
          <p:cNvPr id="84" name="wm.whiteboard.162.36"/>
          <p:cNvSpPr/>
          <p:nvPr/>
        </p:nvSpPr>
        <p:spPr>
          <a:xfrm>
            <a:off x="2324100" y="685800"/>
            <a:ext cx="38100" cy="38100"/>
          </a:xfrm>
          <a:prstGeom prst="rect">
            <a:avLst/>
          </a:prstGeom>
          <a:solidFill>
            <a:srgbClr val="CED7E6">
              <a:alpha val="23910"/>
            </a:srgbClr>
          </a:solidFill>
          <a:ln>
            <a:noFill/>
          </a:ln>
        </p:spPr>
      </p:sp>
      <p:sp>
        <p:nvSpPr>
          <p:cNvPr id="85" name="wm.whiteboard.162.54"/>
          <p:cNvSpPr/>
          <p:nvPr/>
        </p:nvSpPr>
        <p:spPr>
          <a:xfrm>
            <a:off x="2324100" y="914400"/>
            <a:ext cx="38100" cy="38100"/>
          </a:xfrm>
          <a:prstGeom prst="rect">
            <a:avLst/>
          </a:prstGeom>
          <a:solidFill>
            <a:srgbClr val="CED7E6">
              <a:alpha val="18425"/>
            </a:srgbClr>
          </a:solidFill>
          <a:ln>
            <a:noFill/>
          </a:ln>
        </p:spPr>
      </p:sp>
      <p:sp>
        <p:nvSpPr>
          <p:cNvPr id="86" name="wm.whiteboard.162.72"/>
          <p:cNvSpPr/>
          <p:nvPr/>
        </p:nvSpPr>
        <p:spPr>
          <a:xfrm>
            <a:off x="2324100" y="1143000"/>
            <a:ext cx="38100" cy="38100"/>
          </a:xfrm>
          <a:prstGeom prst="rect">
            <a:avLst/>
          </a:prstGeom>
          <a:solidFill>
            <a:srgbClr val="CED7E6">
              <a:alpha val="11167"/>
            </a:srgbClr>
          </a:solidFill>
          <a:ln>
            <a:noFill/>
          </a:ln>
        </p:spPr>
      </p:sp>
      <p:sp>
        <p:nvSpPr>
          <p:cNvPr id="87" name="wm.whiteboard.162.90"/>
          <p:cNvSpPr/>
          <p:nvPr/>
        </p:nvSpPr>
        <p:spPr>
          <a:xfrm>
            <a:off x="2324100" y="1371600"/>
            <a:ext cx="38100" cy="38100"/>
          </a:xfrm>
          <a:prstGeom prst="rect">
            <a:avLst/>
          </a:prstGeom>
          <a:solidFill>
            <a:srgbClr val="CED7E6">
              <a:alpha val="2388"/>
            </a:srgbClr>
          </a:solidFill>
          <a:ln>
            <a:noFill/>
          </a:ln>
        </p:spPr>
      </p:sp>
      <p:sp>
        <p:nvSpPr>
          <p:cNvPr id="88" name="wm.whiteboard.180.0"/>
          <p:cNvSpPr/>
          <p:nvPr/>
        </p:nvSpPr>
        <p:spPr>
          <a:xfrm>
            <a:off x="2552700" y="228600"/>
            <a:ext cx="38100" cy="38100"/>
          </a:xfrm>
          <a:prstGeom prst="rect">
            <a:avLst/>
          </a:prstGeom>
          <a:solidFill>
            <a:srgbClr val="CED7E6">
              <a:alpha val="14918"/>
            </a:srgbClr>
          </a:solidFill>
          <a:ln>
            <a:noFill/>
          </a:ln>
        </p:spPr>
      </p:sp>
      <p:sp>
        <p:nvSpPr>
          <p:cNvPr id="89" name="wm.whiteboard.180.18"/>
          <p:cNvSpPr/>
          <p:nvPr/>
        </p:nvSpPr>
        <p:spPr>
          <a:xfrm>
            <a:off x="2552700" y="457200"/>
            <a:ext cx="38100" cy="38100"/>
          </a:xfrm>
          <a:prstGeom prst="rect">
            <a:avLst/>
          </a:prstGeom>
          <a:solidFill>
            <a:srgbClr val="CED7E6">
              <a:alpha val="13741"/>
            </a:srgbClr>
          </a:solidFill>
          <a:ln>
            <a:noFill/>
          </a:ln>
        </p:spPr>
      </p:sp>
      <p:sp>
        <p:nvSpPr>
          <p:cNvPr id="90" name="wm.whiteboard.180.36"/>
          <p:cNvSpPr/>
          <p:nvPr/>
        </p:nvSpPr>
        <p:spPr>
          <a:xfrm>
            <a:off x="2552700" y="685800"/>
            <a:ext cx="38100" cy="38100"/>
          </a:xfrm>
          <a:prstGeom prst="rect">
            <a:avLst/>
          </a:prstGeom>
          <a:solidFill>
            <a:srgbClr val="CED7E6">
              <a:alpha val="10593"/>
            </a:srgbClr>
          </a:solidFill>
          <a:ln>
            <a:noFill/>
          </a:ln>
        </p:spPr>
      </p:sp>
      <p:sp>
        <p:nvSpPr>
          <p:cNvPr id="91" name="wm.whiteboard.180.54"/>
          <p:cNvSpPr/>
          <p:nvPr/>
        </p:nvSpPr>
        <p:spPr>
          <a:xfrm>
            <a:off x="2552700" y="914400"/>
            <a:ext cx="38100" cy="38100"/>
          </a:xfrm>
          <a:prstGeom prst="rect">
            <a:avLst/>
          </a:prstGeom>
          <a:solidFill>
            <a:srgbClr val="CED7E6">
              <a:alpha val="5600"/>
            </a:srgbClr>
          </a:solidFill>
          <a:ln>
            <a:noFill/>
          </a:ln>
        </p:spPr>
      </p:sp>
      <p:sp>
        <p:nvSpPr>
          <p:cNvPr id="92" name="wm.whiteboard.198.0"/>
          <p:cNvSpPr/>
          <p:nvPr/>
        </p:nvSpPr>
        <p:spPr>
          <a:xfrm>
            <a:off x="2781300" y="228600"/>
            <a:ext cx="38100" cy="38100"/>
          </a:xfrm>
          <a:prstGeom prst="rect">
            <a:avLst/>
          </a:prstGeom>
          <a:solidFill>
            <a:srgbClr val="CED7E6">
              <a:alpha val="1142"/>
            </a:srgbClr>
          </a:solidFill>
          <a:ln>
            <a:noFill/>
          </a:ln>
        </p:spPr>
      </p:sp>
      <p:sp>
        <p:nvSpPr>
          <p:cNvPr id="93" name="wm.whiteboard.198.18"/>
          <p:cNvSpPr/>
          <p:nvPr/>
        </p:nvSpPr>
        <p:spPr>
          <a:xfrm>
            <a:off x="2781300" y="457200"/>
            <a:ext cx="38100" cy="38100"/>
          </a:xfrm>
          <a:prstGeom prst="rect">
            <a:avLst/>
          </a:prstGeom>
          <a:solidFill>
            <a:srgbClr val="CED7E6">
              <a:alpha val="69"/>
            </a:srgbClr>
          </a:solidFill>
          <a:ln>
            <a:noFill/>
          </a:ln>
        </p:spPr>
      </p:sp>
      <p:sp>
        <p:nvSpPr>
          <p:cNvPr id="94" name="wm.header.rule"/>
          <p:cNvSpPr/>
          <p:nvPr/>
        </p:nvSpPr>
        <p:spPr>
          <a:xfrm>
            <a:off x="723900" y="13716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pic>
        <p:nvPicPr>
          <p:cNvPr id="95" name="wm.logo" descr="West Monro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6400800"/>
            <a:ext cx="729403" cy="152400"/>
          </a:xfrm>
          <a:prstGeom prst="rect">
            <a:avLst/>
          </a:prstGeom>
        </p:spPr>
      </p:pic>
      <p:sp>
        <p:nvSpPr>
          <p:cNvPr id="96" name="wm.legal"/>
          <p:cNvSpPr/>
          <p:nvPr/>
        </p:nvSpPr>
        <p:spPr>
          <a:xfrm>
            <a:off x="2171700" y="6419850"/>
            <a:ext cx="8915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spc="0" kern="0" b="0" i="0" dirty="0">
                <a:solidFill>
                  <a:srgbClr val="50658E"/>
                </a:solidFill>
                <a:latin typeface="IBM Plex Mono"/>
                <a:ea typeface="IBM Plex Mono"/>
                <a:cs typeface="IBM Plex Mono"/>
              </a:rPr>
              <a:t>© 2026 West Monroe Partners | Reproduction and/or distribution without West Monroe Partners’ prior consent is prohibited.</a:t>
            </a:r>
            <a:endParaRPr lang="en-US" sz="700" spc="0" kern="0" b="0" i="0" dirty="0">
              <a:solidFill>
                <a:srgbClr val="50658E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mds.frame.36729c3c09d4ab875fa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footer.rule"/>
          <p:cNvSpPr/>
          <p:nvPr/>
        </p:nvSpPr>
        <p:spPr>
          <a:xfrm>
            <a:off x="723900" y="62865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" name="wm.whiteboard.0.0"/>
          <p:cNvSpPr/>
          <p:nvPr/>
        </p:nvSpPr>
        <p:spPr>
          <a:xfrm>
            <a:off x="7239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whiteboard.0.18"/>
          <p:cNvSpPr/>
          <p:nvPr/>
        </p:nvSpPr>
        <p:spPr>
          <a:xfrm>
            <a:off x="7239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whiteboard.0.36"/>
          <p:cNvSpPr/>
          <p:nvPr/>
        </p:nvSpPr>
        <p:spPr>
          <a:xfrm>
            <a:off x="723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whiteboard.0.54"/>
          <p:cNvSpPr/>
          <p:nvPr/>
        </p:nvSpPr>
        <p:spPr>
          <a:xfrm>
            <a:off x="7239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whiteboard.0.72"/>
          <p:cNvSpPr/>
          <p:nvPr/>
        </p:nvSpPr>
        <p:spPr>
          <a:xfrm>
            <a:off x="723900" y="1143000"/>
            <a:ext cx="38100" cy="38100"/>
          </a:xfrm>
          <a:prstGeom prst="rect">
            <a:avLst/>
          </a:prstGeom>
          <a:solidFill>
            <a:srgbClr val="CED7E6">
              <a:alpha val="85305"/>
            </a:srgbClr>
          </a:solidFill>
          <a:ln>
            <a:noFill/>
          </a:ln>
        </p:spPr>
      </p:sp>
      <p:sp>
        <p:nvSpPr>
          <p:cNvPr id="8" name="wm.whiteboard.0.90"/>
          <p:cNvSpPr/>
          <p:nvPr/>
        </p:nvSpPr>
        <p:spPr>
          <a:xfrm>
            <a:off x="723900" y="1371600"/>
            <a:ext cx="38100" cy="38100"/>
          </a:xfrm>
          <a:prstGeom prst="rect">
            <a:avLst/>
          </a:prstGeom>
          <a:solidFill>
            <a:srgbClr val="CED7E6">
              <a:alpha val="68524"/>
            </a:srgbClr>
          </a:solidFill>
          <a:ln>
            <a:noFill/>
          </a:ln>
        </p:spPr>
      </p:sp>
      <p:sp>
        <p:nvSpPr>
          <p:cNvPr id="9" name="wm.whiteboard.0.108"/>
          <p:cNvSpPr/>
          <p:nvPr/>
        </p:nvSpPr>
        <p:spPr>
          <a:xfrm>
            <a:off x="723900" y="1600200"/>
            <a:ext cx="38100" cy="38100"/>
          </a:xfrm>
          <a:prstGeom prst="rect">
            <a:avLst/>
          </a:prstGeom>
          <a:solidFill>
            <a:srgbClr val="CED7E6">
              <a:alpha val="51742"/>
            </a:srgbClr>
          </a:solidFill>
          <a:ln>
            <a:noFill/>
          </a:ln>
        </p:spPr>
      </p:sp>
      <p:sp>
        <p:nvSpPr>
          <p:cNvPr id="10" name="wm.whiteboard.0.126"/>
          <p:cNvSpPr/>
          <p:nvPr/>
        </p:nvSpPr>
        <p:spPr>
          <a:xfrm>
            <a:off x="723900" y="1828800"/>
            <a:ext cx="38100" cy="38100"/>
          </a:xfrm>
          <a:prstGeom prst="rect">
            <a:avLst/>
          </a:prstGeom>
          <a:solidFill>
            <a:srgbClr val="CED7E6">
              <a:alpha val="34959"/>
            </a:srgbClr>
          </a:solidFill>
          <a:ln>
            <a:noFill/>
          </a:ln>
        </p:spPr>
      </p:sp>
      <p:sp>
        <p:nvSpPr>
          <p:cNvPr id="11" name="wm.whiteboard.0.144"/>
          <p:cNvSpPr/>
          <p:nvPr/>
        </p:nvSpPr>
        <p:spPr>
          <a:xfrm>
            <a:off x="723900" y="2057400"/>
            <a:ext cx="38100" cy="38100"/>
          </a:xfrm>
          <a:prstGeom prst="rect">
            <a:avLst/>
          </a:prstGeom>
          <a:solidFill>
            <a:srgbClr val="CED7E6">
              <a:alpha val="18177"/>
            </a:srgbClr>
          </a:solidFill>
          <a:ln>
            <a:noFill/>
          </a:ln>
        </p:spPr>
      </p:sp>
      <p:sp>
        <p:nvSpPr>
          <p:cNvPr id="12" name="wm.whiteboard.0.162"/>
          <p:cNvSpPr/>
          <p:nvPr/>
        </p:nvSpPr>
        <p:spPr>
          <a:xfrm>
            <a:off x="723900" y="2286000"/>
            <a:ext cx="38100" cy="38100"/>
          </a:xfrm>
          <a:prstGeom prst="rect">
            <a:avLst/>
          </a:prstGeom>
          <a:solidFill>
            <a:srgbClr val="CED7E6">
              <a:alpha val="1394"/>
            </a:srgbClr>
          </a:solidFill>
          <a:ln>
            <a:noFill/>
          </a:ln>
        </p:spPr>
      </p:sp>
      <p:sp>
        <p:nvSpPr>
          <p:cNvPr id="13" name="wm.whiteboard.18.0"/>
          <p:cNvSpPr/>
          <p:nvPr/>
        </p:nvSpPr>
        <p:spPr>
          <a:xfrm>
            <a:off x="9525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" name="wm.whiteboard.18.18"/>
          <p:cNvSpPr/>
          <p:nvPr/>
        </p:nvSpPr>
        <p:spPr>
          <a:xfrm>
            <a:off x="9525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" name="wm.whiteboard.18.36"/>
          <p:cNvSpPr/>
          <p:nvPr/>
        </p:nvSpPr>
        <p:spPr>
          <a:xfrm>
            <a:off x="9525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" name="wm.whiteboard.18.54"/>
          <p:cNvSpPr/>
          <p:nvPr/>
        </p:nvSpPr>
        <p:spPr>
          <a:xfrm>
            <a:off x="952500" y="914400"/>
            <a:ext cx="38100" cy="38100"/>
          </a:xfrm>
          <a:prstGeom prst="rect">
            <a:avLst/>
          </a:prstGeom>
          <a:solidFill>
            <a:srgbClr val="CED7E6">
              <a:alpha val="99988"/>
            </a:srgbClr>
          </a:solidFill>
          <a:ln>
            <a:noFill/>
          </a:ln>
        </p:spPr>
      </p:sp>
      <p:sp>
        <p:nvSpPr>
          <p:cNvPr id="17" name="wm.whiteboard.18.72"/>
          <p:cNvSpPr/>
          <p:nvPr/>
        </p:nvSpPr>
        <p:spPr>
          <a:xfrm>
            <a:off x="952500" y="1143000"/>
            <a:ext cx="38100" cy="38100"/>
          </a:xfrm>
          <a:prstGeom prst="rect">
            <a:avLst/>
          </a:prstGeom>
          <a:solidFill>
            <a:srgbClr val="CED7E6">
              <a:alpha val="83708"/>
            </a:srgbClr>
          </a:solidFill>
          <a:ln>
            <a:noFill/>
          </a:ln>
        </p:spPr>
      </p:sp>
      <p:sp>
        <p:nvSpPr>
          <p:cNvPr id="18" name="wm.whiteboard.18.90"/>
          <p:cNvSpPr/>
          <p:nvPr/>
        </p:nvSpPr>
        <p:spPr>
          <a:xfrm>
            <a:off x="952500" y="1371600"/>
            <a:ext cx="38100" cy="38100"/>
          </a:xfrm>
          <a:prstGeom prst="rect">
            <a:avLst/>
          </a:prstGeom>
          <a:solidFill>
            <a:srgbClr val="CED7E6">
              <a:alpha val="67236"/>
            </a:srgbClr>
          </a:solidFill>
          <a:ln>
            <a:noFill/>
          </a:ln>
        </p:spPr>
      </p:sp>
      <p:sp>
        <p:nvSpPr>
          <p:cNvPr id="19" name="wm.whiteboard.18.108"/>
          <p:cNvSpPr/>
          <p:nvPr/>
        </p:nvSpPr>
        <p:spPr>
          <a:xfrm>
            <a:off x="952500" y="1600200"/>
            <a:ext cx="38100" cy="38100"/>
          </a:xfrm>
          <a:prstGeom prst="rect">
            <a:avLst/>
          </a:prstGeom>
          <a:solidFill>
            <a:srgbClr val="CED7E6">
              <a:alpha val="50663"/>
            </a:srgbClr>
          </a:solidFill>
          <a:ln>
            <a:noFill/>
          </a:ln>
        </p:spPr>
      </p:sp>
      <p:sp>
        <p:nvSpPr>
          <p:cNvPr id="20" name="wm.whiteboard.18.126"/>
          <p:cNvSpPr/>
          <p:nvPr/>
        </p:nvSpPr>
        <p:spPr>
          <a:xfrm>
            <a:off x="952500" y="1828800"/>
            <a:ext cx="38100" cy="38100"/>
          </a:xfrm>
          <a:prstGeom prst="rect">
            <a:avLst/>
          </a:prstGeom>
          <a:solidFill>
            <a:srgbClr val="CED7E6">
              <a:alpha val="34032"/>
            </a:srgbClr>
          </a:solidFill>
          <a:ln>
            <a:noFill/>
          </a:ln>
        </p:spPr>
      </p:sp>
      <p:sp>
        <p:nvSpPr>
          <p:cNvPr id="21" name="wm.whiteboard.18.144"/>
          <p:cNvSpPr/>
          <p:nvPr/>
        </p:nvSpPr>
        <p:spPr>
          <a:xfrm>
            <a:off x="952500" y="2057400"/>
            <a:ext cx="38100" cy="38100"/>
          </a:xfrm>
          <a:prstGeom prst="rect">
            <a:avLst/>
          </a:prstGeom>
          <a:solidFill>
            <a:srgbClr val="CED7E6">
              <a:alpha val="17363"/>
            </a:srgbClr>
          </a:solidFill>
          <a:ln>
            <a:noFill/>
          </a:ln>
        </p:spPr>
      </p:sp>
      <p:sp>
        <p:nvSpPr>
          <p:cNvPr id="22" name="wm.whiteboard.18.162"/>
          <p:cNvSpPr/>
          <p:nvPr/>
        </p:nvSpPr>
        <p:spPr>
          <a:xfrm>
            <a:off x="952500" y="2286000"/>
            <a:ext cx="38100" cy="38100"/>
          </a:xfrm>
          <a:prstGeom prst="rect">
            <a:avLst/>
          </a:prstGeom>
          <a:solidFill>
            <a:srgbClr val="CED7E6">
              <a:alpha val="670"/>
            </a:srgbClr>
          </a:solidFill>
          <a:ln>
            <a:noFill/>
          </a:ln>
        </p:spPr>
      </p:sp>
      <p:sp>
        <p:nvSpPr>
          <p:cNvPr id="23" name="wm.whiteboard.36.0"/>
          <p:cNvSpPr/>
          <p:nvPr/>
        </p:nvSpPr>
        <p:spPr>
          <a:xfrm>
            <a:off x="11811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" name="wm.whiteboard.36.18"/>
          <p:cNvSpPr/>
          <p:nvPr/>
        </p:nvSpPr>
        <p:spPr>
          <a:xfrm>
            <a:off x="11811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" name="wm.whiteboard.36.36"/>
          <p:cNvSpPr/>
          <p:nvPr/>
        </p:nvSpPr>
        <p:spPr>
          <a:xfrm>
            <a:off x="11811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" name="wm.whiteboard.36.54"/>
          <p:cNvSpPr/>
          <p:nvPr/>
        </p:nvSpPr>
        <p:spPr>
          <a:xfrm>
            <a:off x="1181100" y="914400"/>
            <a:ext cx="38100" cy="38100"/>
          </a:xfrm>
          <a:prstGeom prst="rect">
            <a:avLst/>
          </a:prstGeom>
          <a:solidFill>
            <a:srgbClr val="CED7E6">
              <a:alpha val="94671"/>
            </a:srgbClr>
          </a:solidFill>
          <a:ln>
            <a:noFill/>
          </a:ln>
        </p:spPr>
      </p:sp>
      <p:sp>
        <p:nvSpPr>
          <p:cNvPr id="27" name="wm.whiteboard.36.72"/>
          <p:cNvSpPr/>
          <p:nvPr/>
        </p:nvSpPr>
        <p:spPr>
          <a:xfrm>
            <a:off x="1181100" y="1143000"/>
            <a:ext cx="38100" cy="38100"/>
          </a:xfrm>
          <a:prstGeom prst="rect">
            <a:avLst/>
          </a:prstGeom>
          <a:solidFill>
            <a:srgbClr val="CED7E6">
              <a:alpha val="79547"/>
            </a:srgbClr>
          </a:solidFill>
          <a:ln>
            <a:noFill/>
          </a:ln>
        </p:spPr>
      </p:sp>
      <p:sp>
        <p:nvSpPr>
          <p:cNvPr id="28" name="wm.whiteboard.36.90"/>
          <p:cNvSpPr/>
          <p:nvPr/>
        </p:nvSpPr>
        <p:spPr>
          <a:xfrm>
            <a:off x="1181100" y="1371600"/>
            <a:ext cx="38100" cy="38100"/>
          </a:xfrm>
          <a:prstGeom prst="rect">
            <a:avLst/>
          </a:prstGeom>
          <a:solidFill>
            <a:srgbClr val="CED7E6">
              <a:alpha val="63833"/>
            </a:srgbClr>
          </a:solidFill>
          <a:ln>
            <a:noFill/>
          </a:ln>
        </p:spPr>
      </p:sp>
      <p:sp>
        <p:nvSpPr>
          <p:cNvPr id="29" name="wm.whiteboard.36.108"/>
          <p:cNvSpPr/>
          <p:nvPr/>
        </p:nvSpPr>
        <p:spPr>
          <a:xfrm>
            <a:off x="1181100" y="1600200"/>
            <a:ext cx="38100" cy="38100"/>
          </a:xfrm>
          <a:prstGeom prst="rect">
            <a:avLst/>
          </a:prstGeom>
          <a:solidFill>
            <a:srgbClr val="CED7E6">
              <a:alpha val="47790"/>
            </a:srgbClr>
          </a:solidFill>
          <a:ln>
            <a:noFill/>
          </a:ln>
        </p:spPr>
      </p:sp>
      <p:sp>
        <p:nvSpPr>
          <p:cNvPr id="30" name="wm.whiteboard.36.126"/>
          <p:cNvSpPr/>
          <p:nvPr/>
        </p:nvSpPr>
        <p:spPr>
          <a:xfrm>
            <a:off x="1181100" y="1828800"/>
            <a:ext cx="38100" cy="38100"/>
          </a:xfrm>
          <a:prstGeom prst="rect">
            <a:avLst/>
          </a:prstGeom>
          <a:solidFill>
            <a:srgbClr val="CED7E6">
              <a:alpha val="31549"/>
            </a:srgbClr>
          </a:solidFill>
          <a:ln>
            <a:noFill/>
          </a:ln>
        </p:spPr>
      </p:sp>
      <p:sp>
        <p:nvSpPr>
          <p:cNvPr id="31" name="wm.whiteboard.36.144"/>
          <p:cNvSpPr/>
          <p:nvPr/>
        </p:nvSpPr>
        <p:spPr>
          <a:xfrm>
            <a:off x="1181100" y="2057400"/>
            <a:ext cx="38100" cy="38100"/>
          </a:xfrm>
          <a:prstGeom prst="rect">
            <a:avLst/>
          </a:prstGeom>
          <a:solidFill>
            <a:srgbClr val="CED7E6">
              <a:alpha val="15179"/>
            </a:srgbClr>
          </a:solidFill>
          <a:ln>
            <a:noFill/>
          </a:ln>
        </p:spPr>
      </p:sp>
      <p:sp>
        <p:nvSpPr>
          <p:cNvPr id="32" name="wm.whiteboard.54.0"/>
          <p:cNvSpPr/>
          <p:nvPr/>
        </p:nvSpPr>
        <p:spPr>
          <a:xfrm>
            <a:off x="14097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" name="wm.whiteboard.54.18"/>
          <p:cNvSpPr/>
          <p:nvPr/>
        </p:nvSpPr>
        <p:spPr>
          <a:xfrm>
            <a:off x="14097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" name="wm.whiteboard.54.36"/>
          <p:cNvSpPr/>
          <p:nvPr/>
        </p:nvSpPr>
        <p:spPr>
          <a:xfrm>
            <a:off x="1409700" y="685800"/>
            <a:ext cx="38100" cy="38100"/>
          </a:xfrm>
          <a:prstGeom prst="rect">
            <a:avLst/>
          </a:prstGeom>
          <a:solidFill>
            <a:srgbClr val="CED7E6">
              <a:alpha val="98827"/>
            </a:srgbClr>
          </a:solidFill>
          <a:ln>
            <a:noFill/>
          </a:ln>
        </p:spPr>
      </p:sp>
      <p:sp>
        <p:nvSpPr>
          <p:cNvPr id="35" name="wm.whiteboard.54.54"/>
          <p:cNvSpPr/>
          <p:nvPr/>
        </p:nvSpPr>
        <p:spPr>
          <a:xfrm>
            <a:off x="1409700" y="914400"/>
            <a:ext cx="38100" cy="38100"/>
          </a:xfrm>
          <a:prstGeom prst="rect">
            <a:avLst/>
          </a:prstGeom>
          <a:solidFill>
            <a:srgbClr val="CED7E6">
              <a:alpha val="86895"/>
            </a:srgbClr>
          </a:solidFill>
          <a:ln>
            <a:noFill/>
          </a:ln>
        </p:spPr>
      </p:sp>
      <p:sp>
        <p:nvSpPr>
          <p:cNvPr id="36" name="wm.whiteboard.54.72"/>
          <p:cNvSpPr/>
          <p:nvPr/>
        </p:nvSpPr>
        <p:spPr>
          <a:xfrm>
            <a:off x="1409700" y="1143000"/>
            <a:ext cx="38100" cy="38100"/>
          </a:xfrm>
          <a:prstGeom prst="rect">
            <a:avLst/>
          </a:prstGeom>
          <a:solidFill>
            <a:srgbClr val="CED7E6">
              <a:alpha val="73217"/>
            </a:srgbClr>
          </a:solidFill>
          <a:ln>
            <a:noFill/>
          </a:ln>
        </p:spPr>
      </p:sp>
      <p:sp>
        <p:nvSpPr>
          <p:cNvPr id="37" name="wm.whiteboard.54.90"/>
          <p:cNvSpPr/>
          <p:nvPr/>
        </p:nvSpPr>
        <p:spPr>
          <a:xfrm>
            <a:off x="1409700" y="1371600"/>
            <a:ext cx="38100" cy="38100"/>
          </a:xfrm>
          <a:prstGeom prst="rect">
            <a:avLst/>
          </a:prstGeom>
          <a:solidFill>
            <a:srgbClr val="CED7E6">
              <a:alpha val="58541"/>
            </a:srgbClr>
          </a:solidFill>
          <a:ln>
            <a:noFill/>
          </a:ln>
        </p:spPr>
      </p:sp>
      <p:sp>
        <p:nvSpPr>
          <p:cNvPr id="38" name="wm.whiteboard.54.108"/>
          <p:cNvSpPr/>
          <p:nvPr/>
        </p:nvSpPr>
        <p:spPr>
          <a:xfrm>
            <a:off x="1409700" y="1600200"/>
            <a:ext cx="38100" cy="38100"/>
          </a:xfrm>
          <a:prstGeom prst="rect">
            <a:avLst/>
          </a:prstGeom>
          <a:solidFill>
            <a:srgbClr val="CED7E6">
              <a:alpha val="43263"/>
            </a:srgbClr>
          </a:solidFill>
          <a:ln>
            <a:noFill/>
          </a:ln>
        </p:spPr>
      </p:sp>
      <p:sp>
        <p:nvSpPr>
          <p:cNvPr id="39" name="wm.whiteboard.54.126"/>
          <p:cNvSpPr/>
          <p:nvPr/>
        </p:nvSpPr>
        <p:spPr>
          <a:xfrm>
            <a:off x="1409700" y="1828800"/>
            <a:ext cx="38100" cy="38100"/>
          </a:xfrm>
          <a:prstGeom prst="rect">
            <a:avLst/>
          </a:prstGeom>
          <a:solidFill>
            <a:srgbClr val="CED7E6">
              <a:alpha val="27603"/>
            </a:srgbClr>
          </a:solidFill>
          <a:ln>
            <a:noFill/>
          </a:ln>
        </p:spPr>
      </p:sp>
      <p:sp>
        <p:nvSpPr>
          <p:cNvPr id="40" name="wm.whiteboard.54.144"/>
          <p:cNvSpPr/>
          <p:nvPr/>
        </p:nvSpPr>
        <p:spPr>
          <a:xfrm>
            <a:off x="1409700" y="2057400"/>
            <a:ext cx="38100" cy="38100"/>
          </a:xfrm>
          <a:prstGeom prst="rect">
            <a:avLst/>
          </a:prstGeom>
          <a:solidFill>
            <a:srgbClr val="CED7E6">
              <a:alpha val="11687"/>
            </a:srgbClr>
          </a:solidFill>
          <a:ln>
            <a:noFill/>
          </a:ln>
        </p:spPr>
      </p:sp>
      <p:sp>
        <p:nvSpPr>
          <p:cNvPr id="41" name="wm.whiteboard.72.0"/>
          <p:cNvSpPr/>
          <p:nvPr/>
        </p:nvSpPr>
        <p:spPr>
          <a:xfrm>
            <a:off x="1638300" y="228600"/>
            <a:ext cx="38100" cy="38100"/>
          </a:xfrm>
          <a:prstGeom prst="rect">
            <a:avLst/>
          </a:prstGeom>
          <a:solidFill>
            <a:srgbClr val="CED7E6">
              <a:alpha val="97572"/>
            </a:srgbClr>
          </a:solidFill>
          <a:ln>
            <a:noFill/>
          </a:ln>
        </p:spPr>
      </p:sp>
      <p:sp>
        <p:nvSpPr>
          <p:cNvPr id="42" name="wm.whiteboard.72.18"/>
          <p:cNvSpPr/>
          <p:nvPr/>
        </p:nvSpPr>
        <p:spPr>
          <a:xfrm>
            <a:off x="1638300" y="457200"/>
            <a:ext cx="38100" cy="38100"/>
          </a:xfrm>
          <a:prstGeom prst="rect">
            <a:avLst/>
          </a:prstGeom>
          <a:solidFill>
            <a:srgbClr val="CED7E6">
              <a:alpha val="94724"/>
            </a:srgbClr>
          </a:solidFill>
          <a:ln>
            <a:noFill/>
          </a:ln>
        </p:spPr>
      </p:sp>
      <p:sp>
        <p:nvSpPr>
          <p:cNvPr id="43" name="wm.whiteboard.72.36"/>
          <p:cNvSpPr/>
          <p:nvPr/>
        </p:nvSpPr>
        <p:spPr>
          <a:xfrm>
            <a:off x="1638300" y="685800"/>
            <a:ext cx="38100" cy="38100"/>
          </a:xfrm>
          <a:prstGeom prst="rect">
            <a:avLst/>
          </a:prstGeom>
          <a:solidFill>
            <a:srgbClr val="CED7E6">
              <a:alpha val="87609"/>
            </a:srgbClr>
          </a:solidFill>
          <a:ln>
            <a:noFill/>
          </a:ln>
        </p:spPr>
      </p:sp>
      <p:sp>
        <p:nvSpPr>
          <p:cNvPr id="44" name="wm.whiteboard.72.54"/>
          <p:cNvSpPr/>
          <p:nvPr/>
        </p:nvSpPr>
        <p:spPr>
          <a:xfrm>
            <a:off x="1638300" y="914400"/>
            <a:ext cx="38100" cy="38100"/>
          </a:xfrm>
          <a:prstGeom prst="rect">
            <a:avLst/>
          </a:prstGeom>
          <a:solidFill>
            <a:srgbClr val="CED7E6">
              <a:alpha val="77408"/>
            </a:srgbClr>
          </a:solidFill>
          <a:ln>
            <a:noFill/>
          </a:ln>
        </p:spPr>
      </p:sp>
      <p:sp>
        <p:nvSpPr>
          <p:cNvPr id="45" name="wm.whiteboard.72.72"/>
          <p:cNvSpPr/>
          <p:nvPr/>
        </p:nvSpPr>
        <p:spPr>
          <a:xfrm>
            <a:off x="1638300" y="1143000"/>
            <a:ext cx="38100" cy="38100"/>
          </a:xfrm>
          <a:prstGeom prst="rect">
            <a:avLst/>
          </a:prstGeom>
          <a:solidFill>
            <a:srgbClr val="CED7E6">
              <a:alpha val="65181"/>
            </a:srgbClr>
          </a:solidFill>
          <a:ln>
            <a:noFill/>
          </a:ln>
        </p:spPr>
      </p:sp>
      <p:sp>
        <p:nvSpPr>
          <p:cNvPr id="46" name="wm.whiteboard.72.90"/>
          <p:cNvSpPr/>
          <p:nvPr/>
        </p:nvSpPr>
        <p:spPr>
          <a:xfrm>
            <a:off x="1638300" y="1371600"/>
            <a:ext cx="38100" cy="38100"/>
          </a:xfrm>
          <a:prstGeom prst="rect">
            <a:avLst/>
          </a:prstGeom>
          <a:solidFill>
            <a:srgbClr val="CED7E6">
              <a:alpha val="51653"/>
            </a:srgbClr>
          </a:solidFill>
          <a:ln>
            <a:noFill/>
          </a:ln>
        </p:spPr>
      </p:sp>
      <p:sp>
        <p:nvSpPr>
          <p:cNvPr id="47" name="wm.whiteboard.72.108"/>
          <p:cNvSpPr/>
          <p:nvPr/>
        </p:nvSpPr>
        <p:spPr>
          <a:xfrm>
            <a:off x="1638300" y="1600200"/>
            <a:ext cx="38100" cy="38100"/>
          </a:xfrm>
          <a:prstGeom prst="rect">
            <a:avLst/>
          </a:prstGeom>
          <a:solidFill>
            <a:srgbClr val="CED7E6">
              <a:alpha val="37275"/>
            </a:srgbClr>
          </a:solidFill>
          <a:ln>
            <a:noFill/>
          </a:ln>
        </p:spPr>
      </p:sp>
      <p:sp>
        <p:nvSpPr>
          <p:cNvPr id="48" name="wm.whiteboard.72.126"/>
          <p:cNvSpPr/>
          <p:nvPr/>
        </p:nvSpPr>
        <p:spPr>
          <a:xfrm>
            <a:off x="1638300" y="1828800"/>
            <a:ext cx="38100" cy="38100"/>
          </a:xfrm>
          <a:prstGeom prst="rect">
            <a:avLst/>
          </a:prstGeom>
          <a:solidFill>
            <a:srgbClr val="CED7E6">
              <a:alpha val="22326"/>
            </a:srgbClr>
          </a:solidFill>
          <a:ln>
            <a:noFill/>
          </a:ln>
        </p:spPr>
      </p:sp>
      <p:sp>
        <p:nvSpPr>
          <p:cNvPr id="49" name="wm.whiteboard.72.144"/>
          <p:cNvSpPr/>
          <p:nvPr/>
        </p:nvSpPr>
        <p:spPr>
          <a:xfrm>
            <a:off x="1638300" y="2057400"/>
            <a:ext cx="38100" cy="38100"/>
          </a:xfrm>
          <a:prstGeom prst="rect">
            <a:avLst/>
          </a:prstGeom>
          <a:solidFill>
            <a:srgbClr val="CED7E6">
              <a:alpha val="6980"/>
            </a:srgbClr>
          </a:solidFill>
          <a:ln>
            <a:noFill/>
          </a:ln>
        </p:spPr>
      </p:sp>
      <p:sp>
        <p:nvSpPr>
          <p:cNvPr id="50" name="wm.whiteboard.90.0"/>
          <p:cNvSpPr/>
          <p:nvPr/>
        </p:nvSpPr>
        <p:spPr>
          <a:xfrm>
            <a:off x="1866900" y="228600"/>
            <a:ext cx="38100" cy="38100"/>
          </a:xfrm>
          <a:prstGeom prst="rect">
            <a:avLst/>
          </a:prstGeom>
          <a:solidFill>
            <a:srgbClr val="CED7E6">
              <a:alpha val="83798"/>
            </a:srgbClr>
          </a:solidFill>
          <a:ln>
            <a:noFill/>
          </a:ln>
        </p:spPr>
      </p:sp>
      <p:sp>
        <p:nvSpPr>
          <p:cNvPr id="51" name="wm.whiteboard.90.18"/>
          <p:cNvSpPr/>
          <p:nvPr/>
        </p:nvSpPr>
        <p:spPr>
          <a:xfrm>
            <a:off x="1866900" y="457200"/>
            <a:ext cx="38100" cy="38100"/>
          </a:xfrm>
          <a:prstGeom prst="rect">
            <a:avLst/>
          </a:prstGeom>
          <a:solidFill>
            <a:srgbClr val="CED7E6">
              <a:alpha val="81490"/>
            </a:srgbClr>
          </a:solidFill>
          <a:ln>
            <a:noFill/>
          </a:ln>
        </p:spPr>
      </p:sp>
      <p:sp>
        <p:nvSpPr>
          <p:cNvPr id="52" name="wm.whiteboard.90.36"/>
          <p:cNvSpPr/>
          <p:nvPr/>
        </p:nvSpPr>
        <p:spPr>
          <a:xfrm>
            <a:off x="1866900" y="685800"/>
            <a:ext cx="38100" cy="38100"/>
          </a:xfrm>
          <a:prstGeom prst="rect">
            <a:avLst/>
          </a:prstGeom>
          <a:solidFill>
            <a:srgbClr val="CED7E6">
              <a:alpha val="75569"/>
            </a:srgbClr>
          </a:solidFill>
          <a:ln>
            <a:noFill/>
          </a:ln>
        </p:spPr>
      </p:sp>
      <p:sp>
        <p:nvSpPr>
          <p:cNvPr id="53" name="wm.whiteboard.90.54"/>
          <p:cNvSpPr/>
          <p:nvPr/>
        </p:nvSpPr>
        <p:spPr>
          <a:xfrm>
            <a:off x="1866900" y="914400"/>
            <a:ext cx="38100" cy="38100"/>
          </a:xfrm>
          <a:prstGeom prst="rect">
            <a:avLst/>
          </a:prstGeom>
          <a:solidFill>
            <a:srgbClr val="CED7E6">
              <a:alpha val="66767"/>
            </a:srgbClr>
          </a:solidFill>
          <a:ln>
            <a:noFill/>
          </a:ln>
        </p:spPr>
      </p:sp>
      <p:sp>
        <p:nvSpPr>
          <p:cNvPr id="54" name="wm.whiteboard.90.72"/>
          <p:cNvSpPr/>
          <p:nvPr/>
        </p:nvSpPr>
        <p:spPr>
          <a:xfrm>
            <a:off x="1866900" y="1143000"/>
            <a:ext cx="38100" cy="38100"/>
          </a:xfrm>
          <a:prstGeom prst="rect">
            <a:avLst/>
          </a:prstGeom>
          <a:solidFill>
            <a:srgbClr val="CED7E6">
              <a:alpha val="55859"/>
            </a:srgbClr>
          </a:solidFill>
          <a:ln>
            <a:noFill/>
          </a:ln>
        </p:spPr>
      </p:sp>
      <p:sp>
        <p:nvSpPr>
          <p:cNvPr id="55" name="wm.whiteboard.90.90"/>
          <p:cNvSpPr/>
          <p:nvPr/>
        </p:nvSpPr>
        <p:spPr>
          <a:xfrm>
            <a:off x="1866900" y="1371600"/>
            <a:ext cx="38100" cy="38100"/>
          </a:xfrm>
          <a:prstGeom prst="rect">
            <a:avLst/>
          </a:prstGeom>
          <a:solidFill>
            <a:srgbClr val="CED7E6">
              <a:alpha val="43468"/>
            </a:srgbClr>
          </a:solidFill>
          <a:ln>
            <a:noFill/>
          </a:ln>
        </p:spPr>
      </p:sp>
      <p:sp>
        <p:nvSpPr>
          <p:cNvPr id="56" name="wm.whiteboard.90.108"/>
          <p:cNvSpPr/>
          <p:nvPr/>
        </p:nvSpPr>
        <p:spPr>
          <a:xfrm>
            <a:off x="1866900" y="1600200"/>
            <a:ext cx="38100" cy="38100"/>
          </a:xfrm>
          <a:prstGeom prst="rect">
            <a:avLst/>
          </a:prstGeom>
          <a:solidFill>
            <a:srgbClr val="CED7E6">
              <a:alpha val="30037"/>
            </a:srgbClr>
          </a:solidFill>
          <a:ln>
            <a:noFill/>
          </a:ln>
        </p:spPr>
      </p:sp>
      <p:sp>
        <p:nvSpPr>
          <p:cNvPr id="57" name="wm.whiteboard.90.126"/>
          <p:cNvSpPr/>
          <p:nvPr/>
        </p:nvSpPr>
        <p:spPr>
          <a:xfrm>
            <a:off x="1866900" y="1828800"/>
            <a:ext cx="38100" cy="38100"/>
          </a:xfrm>
          <a:prstGeom prst="rect">
            <a:avLst/>
          </a:prstGeom>
          <a:solidFill>
            <a:srgbClr val="CED7E6">
              <a:alpha val="15870"/>
            </a:srgbClr>
          </a:solidFill>
          <a:ln>
            <a:noFill/>
          </a:ln>
        </p:spPr>
      </p:sp>
      <p:sp>
        <p:nvSpPr>
          <p:cNvPr id="58" name="wm.whiteboard.90.144"/>
          <p:cNvSpPr/>
          <p:nvPr/>
        </p:nvSpPr>
        <p:spPr>
          <a:xfrm>
            <a:off x="1866900" y="2057400"/>
            <a:ext cx="38100" cy="38100"/>
          </a:xfrm>
          <a:prstGeom prst="rect">
            <a:avLst/>
          </a:prstGeom>
          <a:solidFill>
            <a:srgbClr val="CED7E6">
              <a:alpha val="1171"/>
            </a:srgbClr>
          </a:solidFill>
          <a:ln>
            <a:noFill/>
          </a:ln>
        </p:spPr>
      </p:sp>
      <p:sp>
        <p:nvSpPr>
          <p:cNvPr id="59" name="wm.whiteboard.108.0"/>
          <p:cNvSpPr/>
          <p:nvPr/>
        </p:nvSpPr>
        <p:spPr>
          <a:xfrm>
            <a:off x="2095500" y="228600"/>
            <a:ext cx="38100" cy="38100"/>
          </a:xfrm>
          <a:prstGeom prst="rect">
            <a:avLst/>
          </a:prstGeom>
          <a:solidFill>
            <a:srgbClr val="CED7E6">
              <a:alpha val="70023"/>
            </a:srgbClr>
          </a:solidFill>
          <a:ln>
            <a:noFill/>
          </a:ln>
        </p:spPr>
      </p:sp>
      <p:sp>
        <p:nvSpPr>
          <p:cNvPr id="60" name="wm.whiteboard.108.18"/>
          <p:cNvSpPr/>
          <p:nvPr/>
        </p:nvSpPr>
        <p:spPr>
          <a:xfrm>
            <a:off x="2095500" y="457200"/>
            <a:ext cx="38100" cy="38100"/>
          </a:xfrm>
          <a:prstGeom prst="rect">
            <a:avLst/>
          </a:prstGeom>
          <a:solidFill>
            <a:srgbClr val="CED7E6">
              <a:alpha val="68085"/>
            </a:srgbClr>
          </a:solidFill>
          <a:ln>
            <a:noFill/>
          </a:ln>
        </p:spPr>
      </p:sp>
      <p:sp>
        <p:nvSpPr>
          <p:cNvPr id="61" name="wm.whiteboard.108.36"/>
          <p:cNvSpPr/>
          <p:nvPr/>
        </p:nvSpPr>
        <p:spPr>
          <a:xfrm>
            <a:off x="2095500" y="685800"/>
            <a:ext cx="38100" cy="38100"/>
          </a:xfrm>
          <a:prstGeom prst="rect">
            <a:avLst/>
          </a:prstGeom>
          <a:solidFill>
            <a:srgbClr val="CED7E6">
              <a:alpha val="63033"/>
            </a:srgbClr>
          </a:solidFill>
          <a:ln>
            <a:noFill/>
          </a:ln>
        </p:spPr>
      </p:sp>
      <p:sp>
        <p:nvSpPr>
          <p:cNvPr id="62" name="wm.whiteboard.108.54"/>
          <p:cNvSpPr/>
          <p:nvPr/>
        </p:nvSpPr>
        <p:spPr>
          <a:xfrm>
            <a:off x="2095500" y="914400"/>
            <a:ext cx="38100" cy="38100"/>
          </a:xfrm>
          <a:prstGeom prst="rect">
            <a:avLst/>
          </a:prstGeom>
          <a:solidFill>
            <a:srgbClr val="CED7E6">
              <a:alpha val="55346"/>
            </a:srgbClr>
          </a:solidFill>
          <a:ln>
            <a:noFill/>
          </a:ln>
        </p:spPr>
      </p:sp>
      <p:sp>
        <p:nvSpPr>
          <p:cNvPr id="63" name="wm.whiteboard.108.72"/>
          <p:cNvSpPr/>
          <p:nvPr/>
        </p:nvSpPr>
        <p:spPr>
          <a:xfrm>
            <a:off x="2095500" y="1143000"/>
            <a:ext cx="38100" cy="38100"/>
          </a:xfrm>
          <a:prstGeom prst="rect">
            <a:avLst/>
          </a:prstGeom>
          <a:solidFill>
            <a:srgbClr val="CED7E6">
              <a:alpha val="45583"/>
            </a:srgbClr>
          </a:solidFill>
          <a:ln>
            <a:noFill/>
          </a:ln>
        </p:spPr>
      </p:sp>
      <p:sp>
        <p:nvSpPr>
          <p:cNvPr id="64" name="wm.whiteboard.108.90"/>
          <p:cNvSpPr/>
          <p:nvPr/>
        </p:nvSpPr>
        <p:spPr>
          <a:xfrm>
            <a:off x="2095500" y="1371600"/>
            <a:ext cx="38100" cy="38100"/>
          </a:xfrm>
          <a:prstGeom prst="rect">
            <a:avLst/>
          </a:prstGeom>
          <a:solidFill>
            <a:srgbClr val="CED7E6">
              <a:alpha val="34251"/>
            </a:srgbClr>
          </a:solidFill>
          <a:ln>
            <a:noFill/>
          </a:ln>
        </p:spPr>
      </p:sp>
      <p:sp>
        <p:nvSpPr>
          <p:cNvPr id="65" name="wm.whiteboard.108.108"/>
          <p:cNvSpPr/>
          <p:nvPr/>
        </p:nvSpPr>
        <p:spPr>
          <a:xfrm>
            <a:off x="2095500" y="1600200"/>
            <a:ext cx="38100" cy="38100"/>
          </a:xfrm>
          <a:prstGeom prst="rect">
            <a:avLst/>
          </a:prstGeom>
          <a:solidFill>
            <a:srgbClr val="CED7E6">
              <a:alpha val="21754"/>
            </a:srgbClr>
          </a:solidFill>
          <a:ln>
            <a:noFill/>
          </a:ln>
        </p:spPr>
      </p:sp>
      <p:sp>
        <p:nvSpPr>
          <p:cNvPr id="66" name="wm.whiteboard.108.126"/>
          <p:cNvSpPr/>
          <p:nvPr/>
        </p:nvSpPr>
        <p:spPr>
          <a:xfrm>
            <a:off x="2095500" y="1828800"/>
            <a:ext cx="38100" cy="38100"/>
          </a:xfrm>
          <a:prstGeom prst="rect">
            <a:avLst/>
          </a:prstGeom>
          <a:solidFill>
            <a:srgbClr val="CED7E6">
              <a:alpha val="8391"/>
            </a:srgbClr>
          </a:solidFill>
          <a:ln>
            <a:noFill/>
          </a:ln>
        </p:spPr>
      </p:sp>
      <p:sp>
        <p:nvSpPr>
          <p:cNvPr id="67" name="wm.whiteboard.126.0"/>
          <p:cNvSpPr/>
          <p:nvPr/>
        </p:nvSpPr>
        <p:spPr>
          <a:xfrm>
            <a:off x="2324100" y="228600"/>
            <a:ext cx="38100" cy="38100"/>
          </a:xfrm>
          <a:prstGeom prst="rect">
            <a:avLst/>
          </a:prstGeom>
          <a:solidFill>
            <a:srgbClr val="CED7E6">
              <a:alpha val="56247"/>
            </a:srgbClr>
          </a:solidFill>
          <a:ln>
            <a:noFill/>
          </a:ln>
        </p:spPr>
      </p:sp>
      <p:sp>
        <p:nvSpPr>
          <p:cNvPr id="68" name="wm.whiteboard.126.18"/>
          <p:cNvSpPr/>
          <p:nvPr/>
        </p:nvSpPr>
        <p:spPr>
          <a:xfrm>
            <a:off x="2324100" y="457200"/>
            <a:ext cx="38100" cy="38100"/>
          </a:xfrm>
          <a:prstGeom prst="rect">
            <a:avLst/>
          </a:prstGeom>
          <a:solidFill>
            <a:srgbClr val="CED7E6">
              <a:alpha val="54578"/>
            </a:srgbClr>
          </a:solidFill>
          <a:ln>
            <a:noFill/>
          </a:ln>
        </p:spPr>
      </p:sp>
      <p:sp>
        <p:nvSpPr>
          <p:cNvPr id="69" name="wm.whiteboard.126.36"/>
          <p:cNvSpPr/>
          <p:nvPr/>
        </p:nvSpPr>
        <p:spPr>
          <a:xfrm>
            <a:off x="2324100" y="685800"/>
            <a:ext cx="38100" cy="38100"/>
          </a:xfrm>
          <a:prstGeom prst="rect">
            <a:avLst/>
          </a:prstGeom>
          <a:solidFill>
            <a:srgbClr val="CED7E6">
              <a:alpha val="50182"/>
            </a:srgbClr>
          </a:solidFill>
          <a:ln>
            <a:noFill/>
          </a:ln>
        </p:spPr>
      </p:sp>
      <p:sp>
        <p:nvSpPr>
          <p:cNvPr id="70" name="wm.whiteboard.126.54"/>
          <p:cNvSpPr/>
          <p:nvPr/>
        </p:nvSpPr>
        <p:spPr>
          <a:xfrm>
            <a:off x="2324100" y="914400"/>
            <a:ext cx="38100" cy="38100"/>
          </a:xfrm>
          <a:prstGeom prst="rect">
            <a:avLst/>
          </a:prstGeom>
          <a:solidFill>
            <a:srgbClr val="CED7E6">
              <a:alpha val="43386"/>
            </a:srgbClr>
          </a:solidFill>
          <a:ln>
            <a:noFill/>
          </a:ln>
        </p:spPr>
      </p:sp>
      <p:sp>
        <p:nvSpPr>
          <p:cNvPr id="71" name="wm.whiteboard.126.72"/>
          <p:cNvSpPr/>
          <p:nvPr/>
        </p:nvSpPr>
        <p:spPr>
          <a:xfrm>
            <a:off x="2324100" y="1143000"/>
            <a:ext cx="38100" cy="38100"/>
          </a:xfrm>
          <a:prstGeom prst="rect">
            <a:avLst/>
          </a:prstGeom>
          <a:solidFill>
            <a:srgbClr val="CED7E6">
              <a:alpha val="34598"/>
            </a:srgbClr>
          </a:solidFill>
          <a:ln>
            <a:noFill/>
          </a:ln>
        </p:spPr>
      </p:sp>
      <p:sp>
        <p:nvSpPr>
          <p:cNvPr id="72" name="wm.whiteboard.126.90"/>
          <p:cNvSpPr/>
          <p:nvPr/>
        </p:nvSpPr>
        <p:spPr>
          <a:xfrm>
            <a:off x="2324100" y="1371600"/>
            <a:ext cx="38100" cy="38100"/>
          </a:xfrm>
          <a:prstGeom prst="rect">
            <a:avLst/>
          </a:prstGeom>
          <a:solidFill>
            <a:srgbClr val="CED7E6">
              <a:alpha val="24223"/>
            </a:srgbClr>
          </a:solidFill>
          <a:ln>
            <a:noFill/>
          </a:ln>
        </p:spPr>
      </p:sp>
      <p:sp>
        <p:nvSpPr>
          <p:cNvPr id="73" name="wm.whiteboard.126.108"/>
          <p:cNvSpPr/>
          <p:nvPr/>
        </p:nvSpPr>
        <p:spPr>
          <a:xfrm>
            <a:off x="2324100" y="1600200"/>
            <a:ext cx="38100" cy="38100"/>
          </a:xfrm>
          <a:prstGeom prst="rect">
            <a:avLst/>
          </a:prstGeom>
          <a:solidFill>
            <a:srgbClr val="CED7E6">
              <a:alpha val="12610"/>
            </a:srgbClr>
          </a:solidFill>
          <a:ln>
            <a:noFill/>
          </a:ln>
        </p:spPr>
      </p:sp>
      <p:sp>
        <p:nvSpPr>
          <p:cNvPr id="74" name="wm.whiteboard.126.126"/>
          <p:cNvSpPr/>
          <p:nvPr/>
        </p:nvSpPr>
        <p:spPr>
          <a:xfrm>
            <a:off x="2324100" y="1828800"/>
            <a:ext cx="38100" cy="38100"/>
          </a:xfrm>
          <a:prstGeom prst="rect">
            <a:avLst/>
          </a:prstGeom>
          <a:solidFill>
            <a:srgbClr val="CED7E6">
              <a:alpha val="40"/>
            </a:srgbClr>
          </a:solidFill>
          <a:ln>
            <a:noFill/>
          </a:ln>
        </p:spPr>
      </p:sp>
      <p:sp>
        <p:nvSpPr>
          <p:cNvPr id="75" name="wm.whiteboard.144.0"/>
          <p:cNvSpPr/>
          <p:nvPr/>
        </p:nvSpPr>
        <p:spPr>
          <a:xfrm>
            <a:off x="2552700" y="228600"/>
            <a:ext cx="38100" cy="38100"/>
          </a:xfrm>
          <a:prstGeom prst="rect">
            <a:avLst/>
          </a:prstGeom>
          <a:solidFill>
            <a:srgbClr val="CED7E6">
              <a:alpha val="42471"/>
            </a:srgbClr>
          </a:solidFill>
          <a:ln>
            <a:noFill/>
          </a:ln>
        </p:spPr>
      </p:sp>
      <p:sp>
        <p:nvSpPr>
          <p:cNvPr id="76" name="wm.whiteboard.144.18"/>
          <p:cNvSpPr/>
          <p:nvPr/>
        </p:nvSpPr>
        <p:spPr>
          <a:xfrm>
            <a:off x="2552700" y="457200"/>
            <a:ext cx="38100" cy="38100"/>
          </a:xfrm>
          <a:prstGeom prst="rect">
            <a:avLst/>
          </a:prstGeom>
          <a:solidFill>
            <a:srgbClr val="CED7E6">
              <a:alpha val="41005"/>
            </a:srgbClr>
          </a:solidFill>
          <a:ln>
            <a:noFill/>
          </a:ln>
        </p:spPr>
      </p:sp>
      <p:sp>
        <p:nvSpPr>
          <p:cNvPr id="77" name="wm.whiteboard.144.36"/>
          <p:cNvSpPr/>
          <p:nvPr/>
        </p:nvSpPr>
        <p:spPr>
          <a:xfrm>
            <a:off x="2552700" y="685800"/>
            <a:ext cx="38100" cy="38100"/>
          </a:xfrm>
          <a:prstGeom prst="rect">
            <a:avLst/>
          </a:prstGeom>
          <a:solidFill>
            <a:srgbClr val="CED7E6">
              <a:alpha val="37120"/>
            </a:srgbClr>
          </a:solidFill>
          <a:ln>
            <a:noFill/>
          </a:ln>
        </p:spPr>
      </p:sp>
      <p:sp>
        <p:nvSpPr>
          <p:cNvPr id="78" name="wm.whiteboard.144.54"/>
          <p:cNvSpPr/>
          <p:nvPr/>
        </p:nvSpPr>
        <p:spPr>
          <a:xfrm>
            <a:off x="2552700" y="914400"/>
            <a:ext cx="38100" cy="38100"/>
          </a:xfrm>
          <a:prstGeom prst="rect">
            <a:avLst/>
          </a:prstGeom>
          <a:solidFill>
            <a:srgbClr val="CED7E6">
              <a:alpha val="31044"/>
            </a:srgbClr>
          </a:solidFill>
          <a:ln>
            <a:noFill/>
          </a:ln>
        </p:spPr>
      </p:sp>
      <p:sp>
        <p:nvSpPr>
          <p:cNvPr id="79" name="wm.whiteboard.144.72"/>
          <p:cNvSpPr/>
          <p:nvPr/>
        </p:nvSpPr>
        <p:spPr>
          <a:xfrm>
            <a:off x="2552700" y="1143000"/>
            <a:ext cx="38100" cy="38100"/>
          </a:xfrm>
          <a:prstGeom prst="rect">
            <a:avLst/>
          </a:prstGeom>
          <a:solidFill>
            <a:srgbClr val="CED7E6">
              <a:alpha val="23083"/>
            </a:srgbClr>
          </a:solidFill>
          <a:ln>
            <a:noFill/>
          </a:ln>
        </p:spPr>
      </p:sp>
      <p:sp>
        <p:nvSpPr>
          <p:cNvPr id="80" name="wm.whiteboard.144.90"/>
          <p:cNvSpPr/>
          <p:nvPr/>
        </p:nvSpPr>
        <p:spPr>
          <a:xfrm>
            <a:off x="2552700" y="1371600"/>
            <a:ext cx="38100" cy="38100"/>
          </a:xfrm>
          <a:prstGeom prst="rect">
            <a:avLst/>
          </a:prstGeom>
          <a:solidFill>
            <a:srgbClr val="CED7E6">
              <a:alpha val="13557"/>
            </a:srgbClr>
          </a:solidFill>
          <a:ln>
            <a:noFill/>
          </a:ln>
        </p:spPr>
      </p:sp>
      <p:sp>
        <p:nvSpPr>
          <p:cNvPr id="81" name="wm.whiteboard.144.108"/>
          <p:cNvSpPr/>
          <p:nvPr/>
        </p:nvSpPr>
        <p:spPr>
          <a:xfrm>
            <a:off x="2552700" y="1600200"/>
            <a:ext cx="38100" cy="38100"/>
          </a:xfrm>
          <a:prstGeom prst="rect">
            <a:avLst/>
          </a:prstGeom>
          <a:solidFill>
            <a:srgbClr val="CED7E6">
              <a:alpha val="2762"/>
            </a:srgbClr>
          </a:solidFill>
          <a:ln>
            <a:noFill/>
          </a:ln>
        </p:spPr>
      </p:sp>
      <p:sp>
        <p:nvSpPr>
          <p:cNvPr id="82" name="wm.whiteboard.162.0"/>
          <p:cNvSpPr/>
          <p:nvPr/>
        </p:nvSpPr>
        <p:spPr>
          <a:xfrm>
            <a:off x="2781300" y="228600"/>
            <a:ext cx="38100" cy="38100"/>
          </a:xfrm>
          <a:prstGeom prst="rect">
            <a:avLst/>
          </a:prstGeom>
          <a:solidFill>
            <a:srgbClr val="CED7E6">
              <a:alpha val="28695"/>
            </a:srgbClr>
          </a:solidFill>
          <a:ln>
            <a:noFill/>
          </a:ln>
        </p:spPr>
      </p:sp>
      <p:sp>
        <p:nvSpPr>
          <p:cNvPr id="83" name="wm.whiteboard.162.18"/>
          <p:cNvSpPr/>
          <p:nvPr/>
        </p:nvSpPr>
        <p:spPr>
          <a:xfrm>
            <a:off x="2781300" y="457200"/>
            <a:ext cx="38100" cy="38100"/>
          </a:xfrm>
          <a:prstGeom prst="rect">
            <a:avLst/>
          </a:prstGeom>
          <a:solidFill>
            <a:srgbClr val="CED7E6">
              <a:alpha val="27389"/>
            </a:srgbClr>
          </a:solidFill>
          <a:ln>
            <a:noFill/>
          </a:ln>
        </p:spPr>
      </p:sp>
      <p:sp>
        <p:nvSpPr>
          <p:cNvPr id="84" name="wm.whiteboard.162.36"/>
          <p:cNvSpPr/>
          <p:nvPr/>
        </p:nvSpPr>
        <p:spPr>
          <a:xfrm>
            <a:off x="2781300" y="685800"/>
            <a:ext cx="38100" cy="38100"/>
          </a:xfrm>
          <a:prstGeom prst="rect">
            <a:avLst/>
          </a:prstGeom>
          <a:solidFill>
            <a:srgbClr val="CED7E6">
              <a:alpha val="23910"/>
            </a:srgbClr>
          </a:solidFill>
          <a:ln>
            <a:noFill/>
          </a:ln>
        </p:spPr>
      </p:sp>
      <p:sp>
        <p:nvSpPr>
          <p:cNvPr id="85" name="wm.whiteboard.162.54"/>
          <p:cNvSpPr/>
          <p:nvPr/>
        </p:nvSpPr>
        <p:spPr>
          <a:xfrm>
            <a:off x="2781300" y="914400"/>
            <a:ext cx="38100" cy="38100"/>
          </a:xfrm>
          <a:prstGeom prst="rect">
            <a:avLst/>
          </a:prstGeom>
          <a:solidFill>
            <a:srgbClr val="CED7E6">
              <a:alpha val="18425"/>
            </a:srgbClr>
          </a:solidFill>
          <a:ln>
            <a:noFill/>
          </a:ln>
        </p:spPr>
      </p:sp>
      <p:sp>
        <p:nvSpPr>
          <p:cNvPr id="86" name="wm.whiteboard.162.72"/>
          <p:cNvSpPr/>
          <p:nvPr/>
        </p:nvSpPr>
        <p:spPr>
          <a:xfrm>
            <a:off x="2781300" y="1143000"/>
            <a:ext cx="38100" cy="38100"/>
          </a:xfrm>
          <a:prstGeom prst="rect">
            <a:avLst/>
          </a:prstGeom>
          <a:solidFill>
            <a:srgbClr val="CED7E6">
              <a:alpha val="11167"/>
            </a:srgbClr>
          </a:solidFill>
          <a:ln>
            <a:noFill/>
          </a:ln>
        </p:spPr>
      </p:sp>
      <p:sp>
        <p:nvSpPr>
          <p:cNvPr id="87" name="wm.whiteboard.162.90"/>
          <p:cNvSpPr/>
          <p:nvPr/>
        </p:nvSpPr>
        <p:spPr>
          <a:xfrm>
            <a:off x="2781300" y="1371600"/>
            <a:ext cx="38100" cy="38100"/>
          </a:xfrm>
          <a:prstGeom prst="rect">
            <a:avLst/>
          </a:prstGeom>
          <a:solidFill>
            <a:srgbClr val="CED7E6">
              <a:alpha val="2388"/>
            </a:srgbClr>
          </a:solidFill>
          <a:ln>
            <a:noFill/>
          </a:ln>
        </p:spPr>
      </p:sp>
      <p:sp>
        <p:nvSpPr>
          <p:cNvPr id="88" name="wm.whiteboard.180.0"/>
          <p:cNvSpPr/>
          <p:nvPr/>
        </p:nvSpPr>
        <p:spPr>
          <a:xfrm>
            <a:off x="3009900" y="228600"/>
            <a:ext cx="38100" cy="38100"/>
          </a:xfrm>
          <a:prstGeom prst="rect">
            <a:avLst/>
          </a:prstGeom>
          <a:solidFill>
            <a:srgbClr val="CED7E6">
              <a:alpha val="14918"/>
            </a:srgbClr>
          </a:solidFill>
          <a:ln>
            <a:noFill/>
          </a:ln>
        </p:spPr>
      </p:sp>
      <p:sp>
        <p:nvSpPr>
          <p:cNvPr id="89" name="wm.whiteboard.180.18"/>
          <p:cNvSpPr/>
          <p:nvPr/>
        </p:nvSpPr>
        <p:spPr>
          <a:xfrm>
            <a:off x="3009900" y="457200"/>
            <a:ext cx="38100" cy="38100"/>
          </a:xfrm>
          <a:prstGeom prst="rect">
            <a:avLst/>
          </a:prstGeom>
          <a:solidFill>
            <a:srgbClr val="CED7E6">
              <a:alpha val="13741"/>
            </a:srgbClr>
          </a:solidFill>
          <a:ln>
            <a:noFill/>
          </a:ln>
        </p:spPr>
      </p:sp>
      <p:sp>
        <p:nvSpPr>
          <p:cNvPr id="90" name="wm.whiteboard.180.36"/>
          <p:cNvSpPr/>
          <p:nvPr/>
        </p:nvSpPr>
        <p:spPr>
          <a:xfrm>
            <a:off x="3009900" y="685800"/>
            <a:ext cx="38100" cy="38100"/>
          </a:xfrm>
          <a:prstGeom prst="rect">
            <a:avLst/>
          </a:prstGeom>
          <a:solidFill>
            <a:srgbClr val="CED7E6">
              <a:alpha val="10593"/>
            </a:srgbClr>
          </a:solidFill>
          <a:ln>
            <a:noFill/>
          </a:ln>
        </p:spPr>
      </p:sp>
      <p:sp>
        <p:nvSpPr>
          <p:cNvPr id="91" name="wm.whiteboard.180.54"/>
          <p:cNvSpPr/>
          <p:nvPr/>
        </p:nvSpPr>
        <p:spPr>
          <a:xfrm>
            <a:off x="3009900" y="914400"/>
            <a:ext cx="38100" cy="38100"/>
          </a:xfrm>
          <a:prstGeom prst="rect">
            <a:avLst/>
          </a:prstGeom>
          <a:solidFill>
            <a:srgbClr val="CED7E6">
              <a:alpha val="5600"/>
            </a:srgbClr>
          </a:solidFill>
          <a:ln>
            <a:noFill/>
          </a:ln>
        </p:spPr>
      </p:sp>
      <p:sp>
        <p:nvSpPr>
          <p:cNvPr id="92" name="wm.whiteboard.198.0"/>
          <p:cNvSpPr/>
          <p:nvPr/>
        </p:nvSpPr>
        <p:spPr>
          <a:xfrm>
            <a:off x="3238500" y="228600"/>
            <a:ext cx="38100" cy="38100"/>
          </a:xfrm>
          <a:prstGeom prst="rect">
            <a:avLst/>
          </a:prstGeom>
          <a:solidFill>
            <a:srgbClr val="CED7E6">
              <a:alpha val="1142"/>
            </a:srgbClr>
          </a:solidFill>
          <a:ln>
            <a:noFill/>
          </a:ln>
        </p:spPr>
      </p:sp>
      <p:sp>
        <p:nvSpPr>
          <p:cNvPr id="93" name="wm.whiteboard.198.18"/>
          <p:cNvSpPr/>
          <p:nvPr/>
        </p:nvSpPr>
        <p:spPr>
          <a:xfrm>
            <a:off x="3238500" y="457200"/>
            <a:ext cx="38100" cy="38100"/>
          </a:xfrm>
          <a:prstGeom prst="rect">
            <a:avLst/>
          </a:prstGeom>
          <a:solidFill>
            <a:srgbClr val="CED7E6">
              <a:alpha val="69"/>
            </a:srgbClr>
          </a:solidFill>
          <a:ln>
            <a:noFill/>
          </a:ln>
        </p:spPr>
      </p:sp>
      <p:sp>
        <p:nvSpPr>
          <p:cNvPr id="94" name="wm.header.rule"/>
          <p:cNvSpPr/>
          <p:nvPr/>
        </p:nvSpPr>
        <p:spPr>
          <a:xfrm>
            <a:off x="723900" y="13716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pic>
        <p:nvPicPr>
          <p:cNvPr id="95" name="wm.logo" descr="West Monro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6400800"/>
            <a:ext cx="729403" cy="152400"/>
          </a:xfrm>
          <a:prstGeom prst="rect">
            <a:avLst/>
          </a:prstGeom>
        </p:spPr>
      </p:pic>
      <p:sp>
        <p:nvSpPr>
          <p:cNvPr id="96" name="wm.legal"/>
          <p:cNvSpPr/>
          <p:nvPr/>
        </p:nvSpPr>
        <p:spPr>
          <a:xfrm>
            <a:off x="2171700" y="6419850"/>
            <a:ext cx="89154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spc="0" kern="0" b="0" i="0" dirty="0">
                <a:solidFill>
                  <a:srgbClr val="50658E"/>
                </a:solidFill>
                <a:latin typeface="IBM Plex Mono"/>
                <a:ea typeface="IBM Plex Mono"/>
                <a:cs typeface="IBM Plex Mono"/>
              </a:rPr>
              <a:t>© 2026 West Monroe Partners | Reproduction and/or distribution without West Monroe Partners’ prior consent is prohibited.</a:t>
            </a:r>
            <a:endParaRPr lang="en-US" sz="700" spc="0" kern="0" b="0" i="0" dirty="0">
              <a:solidFill>
                <a:srgbClr val="50658E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mds.frame.565fa27430157ff1bff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footer.rule"/>
          <p:cNvSpPr/>
          <p:nvPr/>
        </p:nvSpPr>
        <p:spPr>
          <a:xfrm>
            <a:off x="723900" y="60579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" name="wm.whiteboard.0.0"/>
          <p:cNvSpPr/>
          <p:nvPr/>
        </p:nvSpPr>
        <p:spPr>
          <a:xfrm>
            <a:off x="2667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whiteboard.0.18"/>
          <p:cNvSpPr/>
          <p:nvPr/>
        </p:nvSpPr>
        <p:spPr>
          <a:xfrm>
            <a:off x="2667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whiteboard.0.36"/>
          <p:cNvSpPr/>
          <p:nvPr/>
        </p:nvSpPr>
        <p:spPr>
          <a:xfrm>
            <a:off x="2667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whiteboard.0.54"/>
          <p:cNvSpPr/>
          <p:nvPr/>
        </p:nvSpPr>
        <p:spPr>
          <a:xfrm>
            <a:off x="2667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whiteboard.0.72"/>
          <p:cNvSpPr/>
          <p:nvPr/>
        </p:nvSpPr>
        <p:spPr>
          <a:xfrm>
            <a:off x="266700" y="1143000"/>
            <a:ext cx="38100" cy="38100"/>
          </a:xfrm>
          <a:prstGeom prst="rect">
            <a:avLst/>
          </a:prstGeom>
          <a:solidFill>
            <a:srgbClr val="CED7E6">
              <a:alpha val="85305"/>
            </a:srgbClr>
          </a:solidFill>
          <a:ln>
            <a:noFill/>
          </a:ln>
        </p:spPr>
      </p:sp>
      <p:sp>
        <p:nvSpPr>
          <p:cNvPr id="8" name="wm.whiteboard.0.90"/>
          <p:cNvSpPr/>
          <p:nvPr/>
        </p:nvSpPr>
        <p:spPr>
          <a:xfrm>
            <a:off x="266700" y="1371600"/>
            <a:ext cx="38100" cy="38100"/>
          </a:xfrm>
          <a:prstGeom prst="rect">
            <a:avLst/>
          </a:prstGeom>
          <a:solidFill>
            <a:srgbClr val="CED7E6">
              <a:alpha val="68524"/>
            </a:srgbClr>
          </a:solidFill>
          <a:ln>
            <a:noFill/>
          </a:ln>
        </p:spPr>
      </p:sp>
      <p:sp>
        <p:nvSpPr>
          <p:cNvPr id="9" name="wm.whiteboard.0.108"/>
          <p:cNvSpPr/>
          <p:nvPr/>
        </p:nvSpPr>
        <p:spPr>
          <a:xfrm>
            <a:off x="266700" y="1600200"/>
            <a:ext cx="38100" cy="38100"/>
          </a:xfrm>
          <a:prstGeom prst="rect">
            <a:avLst/>
          </a:prstGeom>
          <a:solidFill>
            <a:srgbClr val="CED7E6">
              <a:alpha val="51742"/>
            </a:srgbClr>
          </a:solidFill>
          <a:ln>
            <a:noFill/>
          </a:ln>
        </p:spPr>
      </p:sp>
      <p:sp>
        <p:nvSpPr>
          <p:cNvPr id="10" name="wm.whiteboard.0.126"/>
          <p:cNvSpPr/>
          <p:nvPr/>
        </p:nvSpPr>
        <p:spPr>
          <a:xfrm>
            <a:off x="266700" y="1828800"/>
            <a:ext cx="38100" cy="38100"/>
          </a:xfrm>
          <a:prstGeom prst="rect">
            <a:avLst/>
          </a:prstGeom>
          <a:solidFill>
            <a:srgbClr val="CED7E6">
              <a:alpha val="34959"/>
            </a:srgbClr>
          </a:solidFill>
          <a:ln>
            <a:noFill/>
          </a:ln>
        </p:spPr>
      </p:sp>
      <p:sp>
        <p:nvSpPr>
          <p:cNvPr id="11" name="wm.whiteboard.0.144"/>
          <p:cNvSpPr/>
          <p:nvPr/>
        </p:nvSpPr>
        <p:spPr>
          <a:xfrm>
            <a:off x="266700" y="2057400"/>
            <a:ext cx="38100" cy="38100"/>
          </a:xfrm>
          <a:prstGeom prst="rect">
            <a:avLst/>
          </a:prstGeom>
          <a:solidFill>
            <a:srgbClr val="CED7E6">
              <a:alpha val="18177"/>
            </a:srgbClr>
          </a:solidFill>
          <a:ln>
            <a:noFill/>
          </a:ln>
        </p:spPr>
      </p:sp>
      <p:sp>
        <p:nvSpPr>
          <p:cNvPr id="12" name="wm.whiteboard.0.162"/>
          <p:cNvSpPr/>
          <p:nvPr/>
        </p:nvSpPr>
        <p:spPr>
          <a:xfrm>
            <a:off x="266700" y="2286000"/>
            <a:ext cx="38100" cy="38100"/>
          </a:xfrm>
          <a:prstGeom prst="rect">
            <a:avLst/>
          </a:prstGeom>
          <a:solidFill>
            <a:srgbClr val="CED7E6">
              <a:alpha val="1394"/>
            </a:srgbClr>
          </a:solidFill>
          <a:ln>
            <a:noFill/>
          </a:ln>
        </p:spPr>
      </p:sp>
      <p:sp>
        <p:nvSpPr>
          <p:cNvPr id="13" name="wm.whiteboard.18.0"/>
          <p:cNvSpPr/>
          <p:nvPr/>
        </p:nvSpPr>
        <p:spPr>
          <a:xfrm>
            <a:off x="4953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" name="wm.whiteboard.18.18"/>
          <p:cNvSpPr/>
          <p:nvPr/>
        </p:nvSpPr>
        <p:spPr>
          <a:xfrm>
            <a:off x="4953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" name="wm.whiteboard.18.36"/>
          <p:cNvSpPr/>
          <p:nvPr/>
        </p:nvSpPr>
        <p:spPr>
          <a:xfrm>
            <a:off x="4953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" name="wm.whiteboard.18.54"/>
          <p:cNvSpPr/>
          <p:nvPr/>
        </p:nvSpPr>
        <p:spPr>
          <a:xfrm>
            <a:off x="495300" y="914400"/>
            <a:ext cx="38100" cy="38100"/>
          </a:xfrm>
          <a:prstGeom prst="rect">
            <a:avLst/>
          </a:prstGeom>
          <a:solidFill>
            <a:srgbClr val="CED7E6">
              <a:alpha val="99988"/>
            </a:srgbClr>
          </a:solidFill>
          <a:ln>
            <a:noFill/>
          </a:ln>
        </p:spPr>
      </p:sp>
      <p:sp>
        <p:nvSpPr>
          <p:cNvPr id="17" name="wm.whiteboard.18.72"/>
          <p:cNvSpPr/>
          <p:nvPr/>
        </p:nvSpPr>
        <p:spPr>
          <a:xfrm>
            <a:off x="495300" y="1143000"/>
            <a:ext cx="38100" cy="38100"/>
          </a:xfrm>
          <a:prstGeom prst="rect">
            <a:avLst/>
          </a:prstGeom>
          <a:solidFill>
            <a:srgbClr val="CED7E6">
              <a:alpha val="83708"/>
            </a:srgbClr>
          </a:solidFill>
          <a:ln>
            <a:noFill/>
          </a:ln>
        </p:spPr>
      </p:sp>
      <p:sp>
        <p:nvSpPr>
          <p:cNvPr id="18" name="wm.whiteboard.18.90"/>
          <p:cNvSpPr/>
          <p:nvPr/>
        </p:nvSpPr>
        <p:spPr>
          <a:xfrm>
            <a:off x="495300" y="1371600"/>
            <a:ext cx="38100" cy="38100"/>
          </a:xfrm>
          <a:prstGeom prst="rect">
            <a:avLst/>
          </a:prstGeom>
          <a:solidFill>
            <a:srgbClr val="CED7E6">
              <a:alpha val="67236"/>
            </a:srgbClr>
          </a:solidFill>
          <a:ln>
            <a:noFill/>
          </a:ln>
        </p:spPr>
      </p:sp>
      <p:sp>
        <p:nvSpPr>
          <p:cNvPr id="19" name="wm.whiteboard.18.108"/>
          <p:cNvSpPr/>
          <p:nvPr/>
        </p:nvSpPr>
        <p:spPr>
          <a:xfrm>
            <a:off x="495300" y="1600200"/>
            <a:ext cx="38100" cy="38100"/>
          </a:xfrm>
          <a:prstGeom prst="rect">
            <a:avLst/>
          </a:prstGeom>
          <a:solidFill>
            <a:srgbClr val="CED7E6">
              <a:alpha val="50663"/>
            </a:srgbClr>
          </a:solidFill>
          <a:ln>
            <a:noFill/>
          </a:ln>
        </p:spPr>
      </p:sp>
      <p:sp>
        <p:nvSpPr>
          <p:cNvPr id="20" name="wm.whiteboard.18.126"/>
          <p:cNvSpPr/>
          <p:nvPr/>
        </p:nvSpPr>
        <p:spPr>
          <a:xfrm>
            <a:off x="495300" y="1828800"/>
            <a:ext cx="38100" cy="38100"/>
          </a:xfrm>
          <a:prstGeom prst="rect">
            <a:avLst/>
          </a:prstGeom>
          <a:solidFill>
            <a:srgbClr val="CED7E6">
              <a:alpha val="34032"/>
            </a:srgbClr>
          </a:solidFill>
          <a:ln>
            <a:noFill/>
          </a:ln>
        </p:spPr>
      </p:sp>
      <p:sp>
        <p:nvSpPr>
          <p:cNvPr id="21" name="wm.whiteboard.18.144"/>
          <p:cNvSpPr/>
          <p:nvPr/>
        </p:nvSpPr>
        <p:spPr>
          <a:xfrm>
            <a:off x="495300" y="2057400"/>
            <a:ext cx="38100" cy="38100"/>
          </a:xfrm>
          <a:prstGeom prst="rect">
            <a:avLst/>
          </a:prstGeom>
          <a:solidFill>
            <a:srgbClr val="CED7E6">
              <a:alpha val="17363"/>
            </a:srgbClr>
          </a:solidFill>
          <a:ln>
            <a:noFill/>
          </a:ln>
        </p:spPr>
      </p:sp>
      <p:sp>
        <p:nvSpPr>
          <p:cNvPr id="22" name="wm.whiteboard.18.162"/>
          <p:cNvSpPr/>
          <p:nvPr/>
        </p:nvSpPr>
        <p:spPr>
          <a:xfrm>
            <a:off x="495300" y="2286000"/>
            <a:ext cx="38100" cy="38100"/>
          </a:xfrm>
          <a:prstGeom prst="rect">
            <a:avLst/>
          </a:prstGeom>
          <a:solidFill>
            <a:srgbClr val="CED7E6">
              <a:alpha val="670"/>
            </a:srgbClr>
          </a:solidFill>
          <a:ln>
            <a:noFill/>
          </a:ln>
        </p:spPr>
      </p:sp>
      <p:sp>
        <p:nvSpPr>
          <p:cNvPr id="23" name="wm.whiteboard.36.0"/>
          <p:cNvSpPr/>
          <p:nvPr/>
        </p:nvSpPr>
        <p:spPr>
          <a:xfrm>
            <a:off x="7239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" name="wm.whiteboard.36.18"/>
          <p:cNvSpPr/>
          <p:nvPr/>
        </p:nvSpPr>
        <p:spPr>
          <a:xfrm>
            <a:off x="7239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" name="wm.whiteboard.36.36"/>
          <p:cNvSpPr/>
          <p:nvPr/>
        </p:nvSpPr>
        <p:spPr>
          <a:xfrm>
            <a:off x="723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" name="wm.whiteboard.36.54"/>
          <p:cNvSpPr/>
          <p:nvPr/>
        </p:nvSpPr>
        <p:spPr>
          <a:xfrm>
            <a:off x="723900" y="914400"/>
            <a:ext cx="38100" cy="38100"/>
          </a:xfrm>
          <a:prstGeom prst="rect">
            <a:avLst/>
          </a:prstGeom>
          <a:solidFill>
            <a:srgbClr val="CED7E6">
              <a:alpha val="94671"/>
            </a:srgbClr>
          </a:solidFill>
          <a:ln>
            <a:noFill/>
          </a:ln>
        </p:spPr>
      </p:sp>
      <p:sp>
        <p:nvSpPr>
          <p:cNvPr id="27" name="wm.whiteboard.36.72"/>
          <p:cNvSpPr/>
          <p:nvPr/>
        </p:nvSpPr>
        <p:spPr>
          <a:xfrm>
            <a:off x="723900" y="1143000"/>
            <a:ext cx="38100" cy="38100"/>
          </a:xfrm>
          <a:prstGeom prst="rect">
            <a:avLst/>
          </a:prstGeom>
          <a:solidFill>
            <a:srgbClr val="CED7E6">
              <a:alpha val="79547"/>
            </a:srgbClr>
          </a:solidFill>
          <a:ln>
            <a:noFill/>
          </a:ln>
        </p:spPr>
      </p:sp>
      <p:sp>
        <p:nvSpPr>
          <p:cNvPr id="28" name="wm.whiteboard.36.90"/>
          <p:cNvSpPr/>
          <p:nvPr/>
        </p:nvSpPr>
        <p:spPr>
          <a:xfrm>
            <a:off x="723900" y="1371600"/>
            <a:ext cx="38100" cy="38100"/>
          </a:xfrm>
          <a:prstGeom prst="rect">
            <a:avLst/>
          </a:prstGeom>
          <a:solidFill>
            <a:srgbClr val="CED7E6">
              <a:alpha val="63833"/>
            </a:srgbClr>
          </a:solidFill>
          <a:ln>
            <a:noFill/>
          </a:ln>
        </p:spPr>
      </p:sp>
      <p:sp>
        <p:nvSpPr>
          <p:cNvPr id="29" name="wm.whiteboard.36.108"/>
          <p:cNvSpPr/>
          <p:nvPr/>
        </p:nvSpPr>
        <p:spPr>
          <a:xfrm>
            <a:off x="723900" y="1600200"/>
            <a:ext cx="38100" cy="38100"/>
          </a:xfrm>
          <a:prstGeom prst="rect">
            <a:avLst/>
          </a:prstGeom>
          <a:solidFill>
            <a:srgbClr val="CED7E6">
              <a:alpha val="47790"/>
            </a:srgbClr>
          </a:solidFill>
          <a:ln>
            <a:noFill/>
          </a:ln>
        </p:spPr>
      </p:sp>
      <p:sp>
        <p:nvSpPr>
          <p:cNvPr id="30" name="wm.whiteboard.36.126"/>
          <p:cNvSpPr/>
          <p:nvPr/>
        </p:nvSpPr>
        <p:spPr>
          <a:xfrm>
            <a:off x="723900" y="1828800"/>
            <a:ext cx="38100" cy="38100"/>
          </a:xfrm>
          <a:prstGeom prst="rect">
            <a:avLst/>
          </a:prstGeom>
          <a:solidFill>
            <a:srgbClr val="CED7E6">
              <a:alpha val="31549"/>
            </a:srgbClr>
          </a:solidFill>
          <a:ln>
            <a:noFill/>
          </a:ln>
        </p:spPr>
      </p:sp>
      <p:sp>
        <p:nvSpPr>
          <p:cNvPr id="31" name="wm.whiteboard.36.144"/>
          <p:cNvSpPr/>
          <p:nvPr/>
        </p:nvSpPr>
        <p:spPr>
          <a:xfrm>
            <a:off x="723900" y="2057400"/>
            <a:ext cx="38100" cy="38100"/>
          </a:xfrm>
          <a:prstGeom prst="rect">
            <a:avLst/>
          </a:prstGeom>
          <a:solidFill>
            <a:srgbClr val="CED7E6">
              <a:alpha val="15179"/>
            </a:srgbClr>
          </a:solidFill>
          <a:ln>
            <a:noFill/>
          </a:ln>
        </p:spPr>
      </p:sp>
      <p:sp>
        <p:nvSpPr>
          <p:cNvPr id="32" name="wm.whiteboard.54.0"/>
          <p:cNvSpPr/>
          <p:nvPr/>
        </p:nvSpPr>
        <p:spPr>
          <a:xfrm>
            <a:off x="9525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" name="wm.whiteboard.54.18"/>
          <p:cNvSpPr/>
          <p:nvPr/>
        </p:nvSpPr>
        <p:spPr>
          <a:xfrm>
            <a:off x="9525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" name="wm.whiteboard.54.36"/>
          <p:cNvSpPr/>
          <p:nvPr/>
        </p:nvSpPr>
        <p:spPr>
          <a:xfrm>
            <a:off x="952500" y="685800"/>
            <a:ext cx="38100" cy="38100"/>
          </a:xfrm>
          <a:prstGeom prst="rect">
            <a:avLst/>
          </a:prstGeom>
          <a:solidFill>
            <a:srgbClr val="CED7E6">
              <a:alpha val="98827"/>
            </a:srgbClr>
          </a:solidFill>
          <a:ln>
            <a:noFill/>
          </a:ln>
        </p:spPr>
      </p:sp>
      <p:sp>
        <p:nvSpPr>
          <p:cNvPr id="35" name="wm.whiteboard.54.54"/>
          <p:cNvSpPr/>
          <p:nvPr/>
        </p:nvSpPr>
        <p:spPr>
          <a:xfrm>
            <a:off x="952500" y="914400"/>
            <a:ext cx="38100" cy="38100"/>
          </a:xfrm>
          <a:prstGeom prst="rect">
            <a:avLst/>
          </a:prstGeom>
          <a:solidFill>
            <a:srgbClr val="CED7E6">
              <a:alpha val="86895"/>
            </a:srgbClr>
          </a:solidFill>
          <a:ln>
            <a:noFill/>
          </a:ln>
        </p:spPr>
      </p:sp>
      <p:sp>
        <p:nvSpPr>
          <p:cNvPr id="36" name="wm.whiteboard.54.72"/>
          <p:cNvSpPr/>
          <p:nvPr/>
        </p:nvSpPr>
        <p:spPr>
          <a:xfrm>
            <a:off x="952500" y="1143000"/>
            <a:ext cx="38100" cy="38100"/>
          </a:xfrm>
          <a:prstGeom prst="rect">
            <a:avLst/>
          </a:prstGeom>
          <a:solidFill>
            <a:srgbClr val="CED7E6">
              <a:alpha val="73217"/>
            </a:srgbClr>
          </a:solidFill>
          <a:ln>
            <a:noFill/>
          </a:ln>
        </p:spPr>
      </p:sp>
      <p:sp>
        <p:nvSpPr>
          <p:cNvPr id="37" name="wm.whiteboard.54.90"/>
          <p:cNvSpPr/>
          <p:nvPr/>
        </p:nvSpPr>
        <p:spPr>
          <a:xfrm>
            <a:off x="952500" y="1371600"/>
            <a:ext cx="38100" cy="38100"/>
          </a:xfrm>
          <a:prstGeom prst="rect">
            <a:avLst/>
          </a:prstGeom>
          <a:solidFill>
            <a:srgbClr val="CED7E6">
              <a:alpha val="58541"/>
            </a:srgbClr>
          </a:solidFill>
          <a:ln>
            <a:noFill/>
          </a:ln>
        </p:spPr>
      </p:sp>
      <p:sp>
        <p:nvSpPr>
          <p:cNvPr id="38" name="wm.whiteboard.54.108"/>
          <p:cNvSpPr/>
          <p:nvPr/>
        </p:nvSpPr>
        <p:spPr>
          <a:xfrm>
            <a:off x="952500" y="1600200"/>
            <a:ext cx="38100" cy="38100"/>
          </a:xfrm>
          <a:prstGeom prst="rect">
            <a:avLst/>
          </a:prstGeom>
          <a:solidFill>
            <a:srgbClr val="CED7E6">
              <a:alpha val="43263"/>
            </a:srgbClr>
          </a:solidFill>
          <a:ln>
            <a:noFill/>
          </a:ln>
        </p:spPr>
      </p:sp>
      <p:sp>
        <p:nvSpPr>
          <p:cNvPr id="39" name="wm.whiteboard.54.126"/>
          <p:cNvSpPr/>
          <p:nvPr/>
        </p:nvSpPr>
        <p:spPr>
          <a:xfrm>
            <a:off x="952500" y="1828800"/>
            <a:ext cx="38100" cy="38100"/>
          </a:xfrm>
          <a:prstGeom prst="rect">
            <a:avLst/>
          </a:prstGeom>
          <a:solidFill>
            <a:srgbClr val="CED7E6">
              <a:alpha val="27603"/>
            </a:srgbClr>
          </a:solidFill>
          <a:ln>
            <a:noFill/>
          </a:ln>
        </p:spPr>
      </p:sp>
      <p:sp>
        <p:nvSpPr>
          <p:cNvPr id="40" name="wm.whiteboard.54.144"/>
          <p:cNvSpPr/>
          <p:nvPr/>
        </p:nvSpPr>
        <p:spPr>
          <a:xfrm>
            <a:off x="952500" y="2057400"/>
            <a:ext cx="38100" cy="38100"/>
          </a:xfrm>
          <a:prstGeom prst="rect">
            <a:avLst/>
          </a:prstGeom>
          <a:solidFill>
            <a:srgbClr val="CED7E6">
              <a:alpha val="11687"/>
            </a:srgbClr>
          </a:solidFill>
          <a:ln>
            <a:noFill/>
          </a:ln>
        </p:spPr>
      </p:sp>
      <p:sp>
        <p:nvSpPr>
          <p:cNvPr id="41" name="wm.whiteboard.72.0"/>
          <p:cNvSpPr/>
          <p:nvPr/>
        </p:nvSpPr>
        <p:spPr>
          <a:xfrm>
            <a:off x="1181100" y="228600"/>
            <a:ext cx="38100" cy="38100"/>
          </a:xfrm>
          <a:prstGeom prst="rect">
            <a:avLst/>
          </a:prstGeom>
          <a:solidFill>
            <a:srgbClr val="CED7E6">
              <a:alpha val="97572"/>
            </a:srgbClr>
          </a:solidFill>
          <a:ln>
            <a:noFill/>
          </a:ln>
        </p:spPr>
      </p:sp>
      <p:sp>
        <p:nvSpPr>
          <p:cNvPr id="42" name="wm.whiteboard.72.18"/>
          <p:cNvSpPr/>
          <p:nvPr/>
        </p:nvSpPr>
        <p:spPr>
          <a:xfrm>
            <a:off x="1181100" y="457200"/>
            <a:ext cx="38100" cy="38100"/>
          </a:xfrm>
          <a:prstGeom prst="rect">
            <a:avLst/>
          </a:prstGeom>
          <a:solidFill>
            <a:srgbClr val="CED7E6">
              <a:alpha val="94724"/>
            </a:srgbClr>
          </a:solidFill>
          <a:ln>
            <a:noFill/>
          </a:ln>
        </p:spPr>
      </p:sp>
      <p:sp>
        <p:nvSpPr>
          <p:cNvPr id="43" name="wm.whiteboard.72.36"/>
          <p:cNvSpPr/>
          <p:nvPr/>
        </p:nvSpPr>
        <p:spPr>
          <a:xfrm>
            <a:off x="1181100" y="685800"/>
            <a:ext cx="38100" cy="38100"/>
          </a:xfrm>
          <a:prstGeom prst="rect">
            <a:avLst/>
          </a:prstGeom>
          <a:solidFill>
            <a:srgbClr val="CED7E6">
              <a:alpha val="87609"/>
            </a:srgbClr>
          </a:solidFill>
          <a:ln>
            <a:noFill/>
          </a:ln>
        </p:spPr>
      </p:sp>
      <p:sp>
        <p:nvSpPr>
          <p:cNvPr id="44" name="wm.whiteboard.72.54"/>
          <p:cNvSpPr/>
          <p:nvPr/>
        </p:nvSpPr>
        <p:spPr>
          <a:xfrm>
            <a:off x="1181100" y="914400"/>
            <a:ext cx="38100" cy="38100"/>
          </a:xfrm>
          <a:prstGeom prst="rect">
            <a:avLst/>
          </a:prstGeom>
          <a:solidFill>
            <a:srgbClr val="CED7E6">
              <a:alpha val="77408"/>
            </a:srgbClr>
          </a:solidFill>
          <a:ln>
            <a:noFill/>
          </a:ln>
        </p:spPr>
      </p:sp>
      <p:sp>
        <p:nvSpPr>
          <p:cNvPr id="45" name="wm.whiteboard.72.72"/>
          <p:cNvSpPr/>
          <p:nvPr/>
        </p:nvSpPr>
        <p:spPr>
          <a:xfrm>
            <a:off x="1181100" y="1143000"/>
            <a:ext cx="38100" cy="38100"/>
          </a:xfrm>
          <a:prstGeom prst="rect">
            <a:avLst/>
          </a:prstGeom>
          <a:solidFill>
            <a:srgbClr val="CED7E6">
              <a:alpha val="65181"/>
            </a:srgbClr>
          </a:solidFill>
          <a:ln>
            <a:noFill/>
          </a:ln>
        </p:spPr>
      </p:sp>
      <p:sp>
        <p:nvSpPr>
          <p:cNvPr id="46" name="wm.whiteboard.72.90"/>
          <p:cNvSpPr/>
          <p:nvPr/>
        </p:nvSpPr>
        <p:spPr>
          <a:xfrm>
            <a:off x="1181100" y="1371600"/>
            <a:ext cx="38100" cy="38100"/>
          </a:xfrm>
          <a:prstGeom prst="rect">
            <a:avLst/>
          </a:prstGeom>
          <a:solidFill>
            <a:srgbClr val="CED7E6">
              <a:alpha val="51653"/>
            </a:srgbClr>
          </a:solidFill>
          <a:ln>
            <a:noFill/>
          </a:ln>
        </p:spPr>
      </p:sp>
      <p:sp>
        <p:nvSpPr>
          <p:cNvPr id="47" name="wm.whiteboard.72.108"/>
          <p:cNvSpPr/>
          <p:nvPr/>
        </p:nvSpPr>
        <p:spPr>
          <a:xfrm>
            <a:off x="1181100" y="1600200"/>
            <a:ext cx="38100" cy="38100"/>
          </a:xfrm>
          <a:prstGeom prst="rect">
            <a:avLst/>
          </a:prstGeom>
          <a:solidFill>
            <a:srgbClr val="CED7E6">
              <a:alpha val="37275"/>
            </a:srgbClr>
          </a:solidFill>
          <a:ln>
            <a:noFill/>
          </a:ln>
        </p:spPr>
      </p:sp>
      <p:sp>
        <p:nvSpPr>
          <p:cNvPr id="48" name="wm.whiteboard.72.126"/>
          <p:cNvSpPr/>
          <p:nvPr/>
        </p:nvSpPr>
        <p:spPr>
          <a:xfrm>
            <a:off x="1181100" y="1828800"/>
            <a:ext cx="38100" cy="38100"/>
          </a:xfrm>
          <a:prstGeom prst="rect">
            <a:avLst/>
          </a:prstGeom>
          <a:solidFill>
            <a:srgbClr val="CED7E6">
              <a:alpha val="22326"/>
            </a:srgbClr>
          </a:solidFill>
          <a:ln>
            <a:noFill/>
          </a:ln>
        </p:spPr>
      </p:sp>
      <p:sp>
        <p:nvSpPr>
          <p:cNvPr id="49" name="wm.whiteboard.72.144"/>
          <p:cNvSpPr/>
          <p:nvPr/>
        </p:nvSpPr>
        <p:spPr>
          <a:xfrm>
            <a:off x="1181100" y="2057400"/>
            <a:ext cx="38100" cy="38100"/>
          </a:xfrm>
          <a:prstGeom prst="rect">
            <a:avLst/>
          </a:prstGeom>
          <a:solidFill>
            <a:srgbClr val="CED7E6">
              <a:alpha val="6980"/>
            </a:srgbClr>
          </a:solidFill>
          <a:ln>
            <a:noFill/>
          </a:ln>
        </p:spPr>
      </p:sp>
      <p:sp>
        <p:nvSpPr>
          <p:cNvPr id="50" name="wm.whiteboard.90.0"/>
          <p:cNvSpPr/>
          <p:nvPr/>
        </p:nvSpPr>
        <p:spPr>
          <a:xfrm>
            <a:off x="1409700" y="228600"/>
            <a:ext cx="38100" cy="38100"/>
          </a:xfrm>
          <a:prstGeom prst="rect">
            <a:avLst/>
          </a:prstGeom>
          <a:solidFill>
            <a:srgbClr val="CED7E6">
              <a:alpha val="83798"/>
            </a:srgbClr>
          </a:solidFill>
          <a:ln>
            <a:noFill/>
          </a:ln>
        </p:spPr>
      </p:sp>
      <p:sp>
        <p:nvSpPr>
          <p:cNvPr id="51" name="wm.whiteboard.90.18"/>
          <p:cNvSpPr/>
          <p:nvPr/>
        </p:nvSpPr>
        <p:spPr>
          <a:xfrm>
            <a:off x="1409700" y="457200"/>
            <a:ext cx="38100" cy="38100"/>
          </a:xfrm>
          <a:prstGeom prst="rect">
            <a:avLst/>
          </a:prstGeom>
          <a:solidFill>
            <a:srgbClr val="CED7E6">
              <a:alpha val="81490"/>
            </a:srgbClr>
          </a:solidFill>
          <a:ln>
            <a:noFill/>
          </a:ln>
        </p:spPr>
      </p:sp>
      <p:sp>
        <p:nvSpPr>
          <p:cNvPr id="52" name="wm.whiteboard.90.36"/>
          <p:cNvSpPr/>
          <p:nvPr/>
        </p:nvSpPr>
        <p:spPr>
          <a:xfrm>
            <a:off x="1409700" y="685800"/>
            <a:ext cx="38100" cy="38100"/>
          </a:xfrm>
          <a:prstGeom prst="rect">
            <a:avLst/>
          </a:prstGeom>
          <a:solidFill>
            <a:srgbClr val="CED7E6">
              <a:alpha val="75569"/>
            </a:srgbClr>
          </a:solidFill>
          <a:ln>
            <a:noFill/>
          </a:ln>
        </p:spPr>
      </p:sp>
      <p:sp>
        <p:nvSpPr>
          <p:cNvPr id="53" name="wm.whiteboard.90.54"/>
          <p:cNvSpPr/>
          <p:nvPr/>
        </p:nvSpPr>
        <p:spPr>
          <a:xfrm>
            <a:off x="1409700" y="914400"/>
            <a:ext cx="38100" cy="38100"/>
          </a:xfrm>
          <a:prstGeom prst="rect">
            <a:avLst/>
          </a:prstGeom>
          <a:solidFill>
            <a:srgbClr val="CED7E6">
              <a:alpha val="66767"/>
            </a:srgbClr>
          </a:solidFill>
          <a:ln>
            <a:noFill/>
          </a:ln>
        </p:spPr>
      </p:sp>
      <p:sp>
        <p:nvSpPr>
          <p:cNvPr id="54" name="wm.whiteboard.90.72"/>
          <p:cNvSpPr/>
          <p:nvPr/>
        </p:nvSpPr>
        <p:spPr>
          <a:xfrm>
            <a:off x="1409700" y="1143000"/>
            <a:ext cx="38100" cy="38100"/>
          </a:xfrm>
          <a:prstGeom prst="rect">
            <a:avLst/>
          </a:prstGeom>
          <a:solidFill>
            <a:srgbClr val="CED7E6">
              <a:alpha val="55859"/>
            </a:srgbClr>
          </a:solidFill>
          <a:ln>
            <a:noFill/>
          </a:ln>
        </p:spPr>
      </p:sp>
      <p:sp>
        <p:nvSpPr>
          <p:cNvPr id="55" name="wm.whiteboard.90.90"/>
          <p:cNvSpPr/>
          <p:nvPr/>
        </p:nvSpPr>
        <p:spPr>
          <a:xfrm>
            <a:off x="1409700" y="1371600"/>
            <a:ext cx="38100" cy="38100"/>
          </a:xfrm>
          <a:prstGeom prst="rect">
            <a:avLst/>
          </a:prstGeom>
          <a:solidFill>
            <a:srgbClr val="CED7E6">
              <a:alpha val="43468"/>
            </a:srgbClr>
          </a:solidFill>
          <a:ln>
            <a:noFill/>
          </a:ln>
        </p:spPr>
      </p:sp>
      <p:sp>
        <p:nvSpPr>
          <p:cNvPr id="56" name="wm.whiteboard.90.108"/>
          <p:cNvSpPr/>
          <p:nvPr/>
        </p:nvSpPr>
        <p:spPr>
          <a:xfrm>
            <a:off x="1409700" y="1600200"/>
            <a:ext cx="38100" cy="38100"/>
          </a:xfrm>
          <a:prstGeom prst="rect">
            <a:avLst/>
          </a:prstGeom>
          <a:solidFill>
            <a:srgbClr val="CED7E6">
              <a:alpha val="30037"/>
            </a:srgbClr>
          </a:solidFill>
          <a:ln>
            <a:noFill/>
          </a:ln>
        </p:spPr>
      </p:sp>
      <p:sp>
        <p:nvSpPr>
          <p:cNvPr id="57" name="wm.whiteboard.90.126"/>
          <p:cNvSpPr/>
          <p:nvPr/>
        </p:nvSpPr>
        <p:spPr>
          <a:xfrm>
            <a:off x="1409700" y="1828800"/>
            <a:ext cx="38100" cy="38100"/>
          </a:xfrm>
          <a:prstGeom prst="rect">
            <a:avLst/>
          </a:prstGeom>
          <a:solidFill>
            <a:srgbClr val="CED7E6">
              <a:alpha val="15870"/>
            </a:srgbClr>
          </a:solidFill>
          <a:ln>
            <a:noFill/>
          </a:ln>
        </p:spPr>
      </p:sp>
      <p:sp>
        <p:nvSpPr>
          <p:cNvPr id="58" name="wm.whiteboard.90.144"/>
          <p:cNvSpPr/>
          <p:nvPr/>
        </p:nvSpPr>
        <p:spPr>
          <a:xfrm>
            <a:off x="1409700" y="2057400"/>
            <a:ext cx="38100" cy="38100"/>
          </a:xfrm>
          <a:prstGeom prst="rect">
            <a:avLst/>
          </a:prstGeom>
          <a:solidFill>
            <a:srgbClr val="CED7E6">
              <a:alpha val="1171"/>
            </a:srgbClr>
          </a:solidFill>
          <a:ln>
            <a:noFill/>
          </a:ln>
        </p:spPr>
      </p:sp>
      <p:sp>
        <p:nvSpPr>
          <p:cNvPr id="59" name="wm.whiteboard.108.0"/>
          <p:cNvSpPr/>
          <p:nvPr/>
        </p:nvSpPr>
        <p:spPr>
          <a:xfrm>
            <a:off x="1638300" y="228600"/>
            <a:ext cx="38100" cy="38100"/>
          </a:xfrm>
          <a:prstGeom prst="rect">
            <a:avLst/>
          </a:prstGeom>
          <a:solidFill>
            <a:srgbClr val="CED7E6">
              <a:alpha val="70023"/>
            </a:srgbClr>
          </a:solidFill>
          <a:ln>
            <a:noFill/>
          </a:ln>
        </p:spPr>
      </p:sp>
      <p:sp>
        <p:nvSpPr>
          <p:cNvPr id="60" name="wm.whiteboard.108.18"/>
          <p:cNvSpPr/>
          <p:nvPr/>
        </p:nvSpPr>
        <p:spPr>
          <a:xfrm>
            <a:off x="1638300" y="457200"/>
            <a:ext cx="38100" cy="38100"/>
          </a:xfrm>
          <a:prstGeom prst="rect">
            <a:avLst/>
          </a:prstGeom>
          <a:solidFill>
            <a:srgbClr val="CED7E6">
              <a:alpha val="68085"/>
            </a:srgbClr>
          </a:solidFill>
          <a:ln>
            <a:noFill/>
          </a:ln>
        </p:spPr>
      </p:sp>
      <p:sp>
        <p:nvSpPr>
          <p:cNvPr id="61" name="wm.whiteboard.108.36"/>
          <p:cNvSpPr/>
          <p:nvPr/>
        </p:nvSpPr>
        <p:spPr>
          <a:xfrm>
            <a:off x="1638300" y="685800"/>
            <a:ext cx="38100" cy="38100"/>
          </a:xfrm>
          <a:prstGeom prst="rect">
            <a:avLst/>
          </a:prstGeom>
          <a:solidFill>
            <a:srgbClr val="CED7E6">
              <a:alpha val="63033"/>
            </a:srgbClr>
          </a:solidFill>
          <a:ln>
            <a:noFill/>
          </a:ln>
        </p:spPr>
      </p:sp>
      <p:sp>
        <p:nvSpPr>
          <p:cNvPr id="62" name="wm.whiteboard.108.54"/>
          <p:cNvSpPr/>
          <p:nvPr/>
        </p:nvSpPr>
        <p:spPr>
          <a:xfrm>
            <a:off x="1638300" y="914400"/>
            <a:ext cx="38100" cy="38100"/>
          </a:xfrm>
          <a:prstGeom prst="rect">
            <a:avLst/>
          </a:prstGeom>
          <a:solidFill>
            <a:srgbClr val="CED7E6">
              <a:alpha val="55346"/>
            </a:srgbClr>
          </a:solidFill>
          <a:ln>
            <a:noFill/>
          </a:ln>
        </p:spPr>
      </p:sp>
      <p:sp>
        <p:nvSpPr>
          <p:cNvPr id="63" name="wm.whiteboard.108.72"/>
          <p:cNvSpPr/>
          <p:nvPr/>
        </p:nvSpPr>
        <p:spPr>
          <a:xfrm>
            <a:off x="1638300" y="1143000"/>
            <a:ext cx="38100" cy="38100"/>
          </a:xfrm>
          <a:prstGeom prst="rect">
            <a:avLst/>
          </a:prstGeom>
          <a:solidFill>
            <a:srgbClr val="CED7E6">
              <a:alpha val="45583"/>
            </a:srgbClr>
          </a:solidFill>
          <a:ln>
            <a:noFill/>
          </a:ln>
        </p:spPr>
      </p:sp>
      <p:sp>
        <p:nvSpPr>
          <p:cNvPr id="64" name="wm.whiteboard.108.90"/>
          <p:cNvSpPr/>
          <p:nvPr/>
        </p:nvSpPr>
        <p:spPr>
          <a:xfrm>
            <a:off x="1638300" y="1371600"/>
            <a:ext cx="38100" cy="38100"/>
          </a:xfrm>
          <a:prstGeom prst="rect">
            <a:avLst/>
          </a:prstGeom>
          <a:solidFill>
            <a:srgbClr val="CED7E6">
              <a:alpha val="34251"/>
            </a:srgbClr>
          </a:solidFill>
          <a:ln>
            <a:noFill/>
          </a:ln>
        </p:spPr>
      </p:sp>
      <p:sp>
        <p:nvSpPr>
          <p:cNvPr id="65" name="wm.whiteboard.108.108"/>
          <p:cNvSpPr/>
          <p:nvPr/>
        </p:nvSpPr>
        <p:spPr>
          <a:xfrm>
            <a:off x="1638300" y="1600200"/>
            <a:ext cx="38100" cy="38100"/>
          </a:xfrm>
          <a:prstGeom prst="rect">
            <a:avLst/>
          </a:prstGeom>
          <a:solidFill>
            <a:srgbClr val="CED7E6">
              <a:alpha val="21754"/>
            </a:srgbClr>
          </a:solidFill>
          <a:ln>
            <a:noFill/>
          </a:ln>
        </p:spPr>
      </p:sp>
      <p:sp>
        <p:nvSpPr>
          <p:cNvPr id="66" name="wm.whiteboard.108.126"/>
          <p:cNvSpPr/>
          <p:nvPr/>
        </p:nvSpPr>
        <p:spPr>
          <a:xfrm>
            <a:off x="1638300" y="1828800"/>
            <a:ext cx="38100" cy="38100"/>
          </a:xfrm>
          <a:prstGeom prst="rect">
            <a:avLst/>
          </a:prstGeom>
          <a:solidFill>
            <a:srgbClr val="CED7E6">
              <a:alpha val="8391"/>
            </a:srgbClr>
          </a:solidFill>
          <a:ln>
            <a:noFill/>
          </a:ln>
        </p:spPr>
      </p:sp>
      <p:sp>
        <p:nvSpPr>
          <p:cNvPr id="67" name="wm.whiteboard.126.0"/>
          <p:cNvSpPr/>
          <p:nvPr/>
        </p:nvSpPr>
        <p:spPr>
          <a:xfrm>
            <a:off x="1866900" y="228600"/>
            <a:ext cx="38100" cy="38100"/>
          </a:xfrm>
          <a:prstGeom prst="rect">
            <a:avLst/>
          </a:prstGeom>
          <a:solidFill>
            <a:srgbClr val="CED7E6">
              <a:alpha val="56247"/>
            </a:srgbClr>
          </a:solidFill>
          <a:ln>
            <a:noFill/>
          </a:ln>
        </p:spPr>
      </p:sp>
      <p:sp>
        <p:nvSpPr>
          <p:cNvPr id="68" name="wm.whiteboard.126.18"/>
          <p:cNvSpPr/>
          <p:nvPr/>
        </p:nvSpPr>
        <p:spPr>
          <a:xfrm>
            <a:off x="1866900" y="457200"/>
            <a:ext cx="38100" cy="38100"/>
          </a:xfrm>
          <a:prstGeom prst="rect">
            <a:avLst/>
          </a:prstGeom>
          <a:solidFill>
            <a:srgbClr val="CED7E6">
              <a:alpha val="54578"/>
            </a:srgbClr>
          </a:solidFill>
          <a:ln>
            <a:noFill/>
          </a:ln>
        </p:spPr>
      </p:sp>
      <p:sp>
        <p:nvSpPr>
          <p:cNvPr id="69" name="wm.whiteboard.126.36"/>
          <p:cNvSpPr/>
          <p:nvPr/>
        </p:nvSpPr>
        <p:spPr>
          <a:xfrm>
            <a:off x="1866900" y="685800"/>
            <a:ext cx="38100" cy="38100"/>
          </a:xfrm>
          <a:prstGeom prst="rect">
            <a:avLst/>
          </a:prstGeom>
          <a:solidFill>
            <a:srgbClr val="CED7E6">
              <a:alpha val="50182"/>
            </a:srgbClr>
          </a:solidFill>
          <a:ln>
            <a:noFill/>
          </a:ln>
        </p:spPr>
      </p:sp>
      <p:sp>
        <p:nvSpPr>
          <p:cNvPr id="70" name="wm.whiteboard.126.54"/>
          <p:cNvSpPr/>
          <p:nvPr/>
        </p:nvSpPr>
        <p:spPr>
          <a:xfrm>
            <a:off x="1866900" y="914400"/>
            <a:ext cx="38100" cy="38100"/>
          </a:xfrm>
          <a:prstGeom prst="rect">
            <a:avLst/>
          </a:prstGeom>
          <a:solidFill>
            <a:srgbClr val="CED7E6">
              <a:alpha val="43386"/>
            </a:srgbClr>
          </a:solidFill>
          <a:ln>
            <a:noFill/>
          </a:ln>
        </p:spPr>
      </p:sp>
      <p:sp>
        <p:nvSpPr>
          <p:cNvPr id="71" name="wm.whiteboard.126.72"/>
          <p:cNvSpPr/>
          <p:nvPr/>
        </p:nvSpPr>
        <p:spPr>
          <a:xfrm>
            <a:off x="1866900" y="1143000"/>
            <a:ext cx="38100" cy="38100"/>
          </a:xfrm>
          <a:prstGeom prst="rect">
            <a:avLst/>
          </a:prstGeom>
          <a:solidFill>
            <a:srgbClr val="CED7E6">
              <a:alpha val="34598"/>
            </a:srgbClr>
          </a:solidFill>
          <a:ln>
            <a:noFill/>
          </a:ln>
        </p:spPr>
      </p:sp>
      <p:sp>
        <p:nvSpPr>
          <p:cNvPr id="72" name="wm.whiteboard.126.90"/>
          <p:cNvSpPr/>
          <p:nvPr/>
        </p:nvSpPr>
        <p:spPr>
          <a:xfrm>
            <a:off x="1866900" y="1371600"/>
            <a:ext cx="38100" cy="38100"/>
          </a:xfrm>
          <a:prstGeom prst="rect">
            <a:avLst/>
          </a:prstGeom>
          <a:solidFill>
            <a:srgbClr val="CED7E6">
              <a:alpha val="24223"/>
            </a:srgbClr>
          </a:solidFill>
          <a:ln>
            <a:noFill/>
          </a:ln>
        </p:spPr>
      </p:sp>
      <p:sp>
        <p:nvSpPr>
          <p:cNvPr id="73" name="wm.whiteboard.126.108"/>
          <p:cNvSpPr/>
          <p:nvPr/>
        </p:nvSpPr>
        <p:spPr>
          <a:xfrm>
            <a:off x="1866900" y="1600200"/>
            <a:ext cx="38100" cy="38100"/>
          </a:xfrm>
          <a:prstGeom prst="rect">
            <a:avLst/>
          </a:prstGeom>
          <a:solidFill>
            <a:srgbClr val="CED7E6">
              <a:alpha val="12610"/>
            </a:srgbClr>
          </a:solidFill>
          <a:ln>
            <a:noFill/>
          </a:ln>
        </p:spPr>
      </p:sp>
      <p:sp>
        <p:nvSpPr>
          <p:cNvPr id="74" name="wm.whiteboard.126.126"/>
          <p:cNvSpPr/>
          <p:nvPr/>
        </p:nvSpPr>
        <p:spPr>
          <a:xfrm>
            <a:off x="1866900" y="1828800"/>
            <a:ext cx="38100" cy="38100"/>
          </a:xfrm>
          <a:prstGeom prst="rect">
            <a:avLst/>
          </a:prstGeom>
          <a:solidFill>
            <a:srgbClr val="CED7E6">
              <a:alpha val="40"/>
            </a:srgbClr>
          </a:solidFill>
          <a:ln>
            <a:noFill/>
          </a:ln>
        </p:spPr>
      </p:sp>
      <p:sp>
        <p:nvSpPr>
          <p:cNvPr id="75" name="wm.whiteboard.144.0"/>
          <p:cNvSpPr/>
          <p:nvPr/>
        </p:nvSpPr>
        <p:spPr>
          <a:xfrm>
            <a:off x="2095500" y="228600"/>
            <a:ext cx="38100" cy="38100"/>
          </a:xfrm>
          <a:prstGeom prst="rect">
            <a:avLst/>
          </a:prstGeom>
          <a:solidFill>
            <a:srgbClr val="CED7E6">
              <a:alpha val="42471"/>
            </a:srgbClr>
          </a:solidFill>
          <a:ln>
            <a:noFill/>
          </a:ln>
        </p:spPr>
      </p:sp>
      <p:sp>
        <p:nvSpPr>
          <p:cNvPr id="76" name="wm.whiteboard.144.18"/>
          <p:cNvSpPr/>
          <p:nvPr/>
        </p:nvSpPr>
        <p:spPr>
          <a:xfrm>
            <a:off x="2095500" y="457200"/>
            <a:ext cx="38100" cy="38100"/>
          </a:xfrm>
          <a:prstGeom prst="rect">
            <a:avLst/>
          </a:prstGeom>
          <a:solidFill>
            <a:srgbClr val="CED7E6">
              <a:alpha val="41005"/>
            </a:srgbClr>
          </a:solidFill>
          <a:ln>
            <a:noFill/>
          </a:ln>
        </p:spPr>
      </p:sp>
      <p:sp>
        <p:nvSpPr>
          <p:cNvPr id="77" name="wm.whiteboard.144.36"/>
          <p:cNvSpPr/>
          <p:nvPr/>
        </p:nvSpPr>
        <p:spPr>
          <a:xfrm>
            <a:off x="2095500" y="685800"/>
            <a:ext cx="38100" cy="38100"/>
          </a:xfrm>
          <a:prstGeom prst="rect">
            <a:avLst/>
          </a:prstGeom>
          <a:solidFill>
            <a:srgbClr val="CED7E6">
              <a:alpha val="37120"/>
            </a:srgbClr>
          </a:solidFill>
          <a:ln>
            <a:noFill/>
          </a:ln>
        </p:spPr>
      </p:sp>
      <p:sp>
        <p:nvSpPr>
          <p:cNvPr id="78" name="wm.whiteboard.144.54"/>
          <p:cNvSpPr/>
          <p:nvPr/>
        </p:nvSpPr>
        <p:spPr>
          <a:xfrm>
            <a:off x="2095500" y="914400"/>
            <a:ext cx="38100" cy="38100"/>
          </a:xfrm>
          <a:prstGeom prst="rect">
            <a:avLst/>
          </a:prstGeom>
          <a:solidFill>
            <a:srgbClr val="CED7E6">
              <a:alpha val="31044"/>
            </a:srgbClr>
          </a:solidFill>
          <a:ln>
            <a:noFill/>
          </a:ln>
        </p:spPr>
      </p:sp>
      <p:sp>
        <p:nvSpPr>
          <p:cNvPr id="79" name="wm.whiteboard.144.72"/>
          <p:cNvSpPr/>
          <p:nvPr/>
        </p:nvSpPr>
        <p:spPr>
          <a:xfrm>
            <a:off x="2095500" y="1143000"/>
            <a:ext cx="38100" cy="38100"/>
          </a:xfrm>
          <a:prstGeom prst="rect">
            <a:avLst/>
          </a:prstGeom>
          <a:solidFill>
            <a:srgbClr val="CED7E6">
              <a:alpha val="23083"/>
            </a:srgbClr>
          </a:solidFill>
          <a:ln>
            <a:noFill/>
          </a:ln>
        </p:spPr>
      </p:sp>
      <p:sp>
        <p:nvSpPr>
          <p:cNvPr id="80" name="wm.whiteboard.144.90"/>
          <p:cNvSpPr/>
          <p:nvPr/>
        </p:nvSpPr>
        <p:spPr>
          <a:xfrm>
            <a:off x="2095500" y="1371600"/>
            <a:ext cx="38100" cy="38100"/>
          </a:xfrm>
          <a:prstGeom prst="rect">
            <a:avLst/>
          </a:prstGeom>
          <a:solidFill>
            <a:srgbClr val="CED7E6">
              <a:alpha val="13557"/>
            </a:srgbClr>
          </a:solidFill>
          <a:ln>
            <a:noFill/>
          </a:ln>
        </p:spPr>
      </p:sp>
      <p:sp>
        <p:nvSpPr>
          <p:cNvPr id="81" name="wm.whiteboard.144.108"/>
          <p:cNvSpPr/>
          <p:nvPr/>
        </p:nvSpPr>
        <p:spPr>
          <a:xfrm>
            <a:off x="2095500" y="1600200"/>
            <a:ext cx="38100" cy="38100"/>
          </a:xfrm>
          <a:prstGeom prst="rect">
            <a:avLst/>
          </a:prstGeom>
          <a:solidFill>
            <a:srgbClr val="CED7E6">
              <a:alpha val="2762"/>
            </a:srgbClr>
          </a:solidFill>
          <a:ln>
            <a:noFill/>
          </a:ln>
        </p:spPr>
      </p:sp>
      <p:sp>
        <p:nvSpPr>
          <p:cNvPr id="82" name="wm.whiteboard.162.0"/>
          <p:cNvSpPr/>
          <p:nvPr/>
        </p:nvSpPr>
        <p:spPr>
          <a:xfrm>
            <a:off x="2324100" y="228600"/>
            <a:ext cx="38100" cy="38100"/>
          </a:xfrm>
          <a:prstGeom prst="rect">
            <a:avLst/>
          </a:prstGeom>
          <a:solidFill>
            <a:srgbClr val="CED7E6">
              <a:alpha val="28695"/>
            </a:srgbClr>
          </a:solidFill>
          <a:ln>
            <a:noFill/>
          </a:ln>
        </p:spPr>
      </p:sp>
      <p:sp>
        <p:nvSpPr>
          <p:cNvPr id="83" name="wm.whiteboard.162.18"/>
          <p:cNvSpPr/>
          <p:nvPr/>
        </p:nvSpPr>
        <p:spPr>
          <a:xfrm>
            <a:off x="2324100" y="457200"/>
            <a:ext cx="38100" cy="38100"/>
          </a:xfrm>
          <a:prstGeom prst="rect">
            <a:avLst/>
          </a:prstGeom>
          <a:solidFill>
            <a:srgbClr val="CED7E6">
              <a:alpha val="27389"/>
            </a:srgbClr>
          </a:solidFill>
          <a:ln>
            <a:noFill/>
          </a:ln>
        </p:spPr>
      </p:sp>
      <p:sp>
        <p:nvSpPr>
          <p:cNvPr id="84" name="wm.whiteboard.162.36"/>
          <p:cNvSpPr/>
          <p:nvPr/>
        </p:nvSpPr>
        <p:spPr>
          <a:xfrm>
            <a:off x="2324100" y="685800"/>
            <a:ext cx="38100" cy="38100"/>
          </a:xfrm>
          <a:prstGeom prst="rect">
            <a:avLst/>
          </a:prstGeom>
          <a:solidFill>
            <a:srgbClr val="CED7E6">
              <a:alpha val="23910"/>
            </a:srgbClr>
          </a:solidFill>
          <a:ln>
            <a:noFill/>
          </a:ln>
        </p:spPr>
      </p:sp>
      <p:sp>
        <p:nvSpPr>
          <p:cNvPr id="85" name="wm.whiteboard.162.54"/>
          <p:cNvSpPr/>
          <p:nvPr/>
        </p:nvSpPr>
        <p:spPr>
          <a:xfrm>
            <a:off x="2324100" y="914400"/>
            <a:ext cx="38100" cy="38100"/>
          </a:xfrm>
          <a:prstGeom prst="rect">
            <a:avLst/>
          </a:prstGeom>
          <a:solidFill>
            <a:srgbClr val="CED7E6">
              <a:alpha val="18425"/>
            </a:srgbClr>
          </a:solidFill>
          <a:ln>
            <a:noFill/>
          </a:ln>
        </p:spPr>
      </p:sp>
      <p:sp>
        <p:nvSpPr>
          <p:cNvPr id="86" name="wm.whiteboard.162.72"/>
          <p:cNvSpPr/>
          <p:nvPr/>
        </p:nvSpPr>
        <p:spPr>
          <a:xfrm>
            <a:off x="2324100" y="1143000"/>
            <a:ext cx="38100" cy="38100"/>
          </a:xfrm>
          <a:prstGeom prst="rect">
            <a:avLst/>
          </a:prstGeom>
          <a:solidFill>
            <a:srgbClr val="CED7E6">
              <a:alpha val="11167"/>
            </a:srgbClr>
          </a:solidFill>
          <a:ln>
            <a:noFill/>
          </a:ln>
        </p:spPr>
      </p:sp>
      <p:sp>
        <p:nvSpPr>
          <p:cNvPr id="87" name="wm.whiteboard.162.90"/>
          <p:cNvSpPr/>
          <p:nvPr/>
        </p:nvSpPr>
        <p:spPr>
          <a:xfrm>
            <a:off x="2324100" y="1371600"/>
            <a:ext cx="38100" cy="38100"/>
          </a:xfrm>
          <a:prstGeom prst="rect">
            <a:avLst/>
          </a:prstGeom>
          <a:solidFill>
            <a:srgbClr val="CED7E6">
              <a:alpha val="2388"/>
            </a:srgbClr>
          </a:solidFill>
          <a:ln>
            <a:noFill/>
          </a:ln>
        </p:spPr>
      </p:sp>
      <p:sp>
        <p:nvSpPr>
          <p:cNvPr id="88" name="wm.whiteboard.180.0"/>
          <p:cNvSpPr/>
          <p:nvPr/>
        </p:nvSpPr>
        <p:spPr>
          <a:xfrm>
            <a:off x="2552700" y="228600"/>
            <a:ext cx="38100" cy="38100"/>
          </a:xfrm>
          <a:prstGeom prst="rect">
            <a:avLst/>
          </a:prstGeom>
          <a:solidFill>
            <a:srgbClr val="CED7E6">
              <a:alpha val="14918"/>
            </a:srgbClr>
          </a:solidFill>
          <a:ln>
            <a:noFill/>
          </a:ln>
        </p:spPr>
      </p:sp>
      <p:sp>
        <p:nvSpPr>
          <p:cNvPr id="89" name="wm.whiteboard.180.18"/>
          <p:cNvSpPr/>
          <p:nvPr/>
        </p:nvSpPr>
        <p:spPr>
          <a:xfrm>
            <a:off x="2552700" y="457200"/>
            <a:ext cx="38100" cy="38100"/>
          </a:xfrm>
          <a:prstGeom prst="rect">
            <a:avLst/>
          </a:prstGeom>
          <a:solidFill>
            <a:srgbClr val="CED7E6">
              <a:alpha val="13741"/>
            </a:srgbClr>
          </a:solidFill>
          <a:ln>
            <a:noFill/>
          </a:ln>
        </p:spPr>
      </p:sp>
      <p:sp>
        <p:nvSpPr>
          <p:cNvPr id="90" name="wm.whiteboard.180.36"/>
          <p:cNvSpPr/>
          <p:nvPr/>
        </p:nvSpPr>
        <p:spPr>
          <a:xfrm>
            <a:off x="2552700" y="685800"/>
            <a:ext cx="38100" cy="38100"/>
          </a:xfrm>
          <a:prstGeom prst="rect">
            <a:avLst/>
          </a:prstGeom>
          <a:solidFill>
            <a:srgbClr val="CED7E6">
              <a:alpha val="10593"/>
            </a:srgbClr>
          </a:solidFill>
          <a:ln>
            <a:noFill/>
          </a:ln>
        </p:spPr>
      </p:sp>
      <p:sp>
        <p:nvSpPr>
          <p:cNvPr id="91" name="wm.whiteboard.180.54"/>
          <p:cNvSpPr/>
          <p:nvPr/>
        </p:nvSpPr>
        <p:spPr>
          <a:xfrm>
            <a:off x="2552700" y="914400"/>
            <a:ext cx="38100" cy="38100"/>
          </a:xfrm>
          <a:prstGeom prst="rect">
            <a:avLst/>
          </a:prstGeom>
          <a:solidFill>
            <a:srgbClr val="CED7E6">
              <a:alpha val="5600"/>
            </a:srgbClr>
          </a:solidFill>
          <a:ln>
            <a:noFill/>
          </a:ln>
        </p:spPr>
      </p:sp>
      <p:sp>
        <p:nvSpPr>
          <p:cNvPr id="92" name="wm.whiteboard.198.0"/>
          <p:cNvSpPr/>
          <p:nvPr/>
        </p:nvSpPr>
        <p:spPr>
          <a:xfrm>
            <a:off x="2781300" y="228600"/>
            <a:ext cx="38100" cy="38100"/>
          </a:xfrm>
          <a:prstGeom prst="rect">
            <a:avLst/>
          </a:prstGeom>
          <a:solidFill>
            <a:srgbClr val="CED7E6">
              <a:alpha val="1142"/>
            </a:srgbClr>
          </a:solidFill>
          <a:ln>
            <a:noFill/>
          </a:ln>
        </p:spPr>
      </p:sp>
      <p:sp>
        <p:nvSpPr>
          <p:cNvPr id="93" name="wm.whiteboard.198.18"/>
          <p:cNvSpPr/>
          <p:nvPr/>
        </p:nvSpPr>
        <p:spPr>
          <a:xfrm>
            <a:off x="2781300" y="457200"/>
            <a:ext cx="38100" cy="38100"/>
          </a:xfrm>
          <a:prstGeom prst="rect">
            <a:avLst/>
          </a:prstGeom>
          <a:solidFill>
            <a:srgbClr val="CED7E6">
              <a:alpha val="69"/>
            </a:srgbClr>
          </a:solidFill>
          <a:ln>
            <a:noFill/>
          </a:ln>
        </p:spPr>
      </p:sp>
      <p:sp>
        <p:nvSpPr>
          <p:cNvPr id="94" name="wm.header.rule"/>
          <p:cNvSpPr/>
          <p:nvPr/>
        </p:nvSpPr>
        <p:spPr>
          <a:xfrm>
            <a:off x="723900" y="13716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pic>
        <p:nvPicPr>
          <p:cNvPr id="95" name="wm.logo" descr="West Monro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6210300"/>
            <a:ext cx="729403" cy="152400"/>
          </a:xfrm>
          <a:prstGeom prst="rect">
            <a:avLst/>
          </a:prstGeom>
        </p:spPr>
      </p:pic>
      <p:sp>
        <p:nvSpPr>
          <p:cNvPr id="96" name="wm.legal"/>
          <p:cNvSpPr/>
          <p:nvPr/>
        </p:nvSpPr>
        <p:spPr>
          <a:xfrm>
            <a:off x="2171700" y="6172200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spc="0" kern="0" b="0" i="0" dirty="0">
                <a:solidFill>
                  <a:srgbClr val="50658E"/>
                </a:solidFill>
                <a:latin typeface="IBM Plex Mono"/>
                <a:ea typeface="IBM Plex Mono"/>
                <a:cs typeface="IBM Plex Mono"/>
              </a:rPr>
              <a:t>© 2026 West Monroe Partners | Reproduction and/or distribution without West Monroe Partners’ prior consent is prohibited.</a:t>
            </a:r>
            <a:endParaRPr lang="en-US" sz="700" spc="0" kern="0" b="0" i="0" dirty="0">
              <a:solidFill>
                <a:srgbClr val="50658E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mds.frame.4f047a8330c1be2128bc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footer.rule"/>
          <p:cNvSpPr/>
          <p:nvPr/>
        </p:nvSpPr>
        <p:spPr>
          <a:xfrm>
            <a:off x="723900" y="60579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" name="wm.whiteboard.0.0"/>
          <p:cNvSpPr/>
          <p:nvPr/>
        </p:nvSpPr>
        <p:spPr>
          <a:xfrm>
            <a:off x="2667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whiteboard.0.18"/>
          <p:cNvSpPr/>
          <p:nvPr/>
        </p:nvSpPr>
        <p:spPr>
          <a:xfrm>
            <a:off x="2667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whiteboard.0.36"/>
          <p:cNvSpPr/>
          <p:nvPr/>
        </p:nvSpPr>
        <p:spPr>
          <a:xfrm>
            <a:off x="2667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whiteboard.0.54"/>
          <p:cNvSpPr/>
          <p:nvPr/>
        </p:nvSpPr>
        <p:spPr>
          <a:xfrm>
            <a:off x="2667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whiteboard.0.72"/>
          <p:cNvSpPr/>
          <p:nvPr/>
        </p:nvSpPr>
        <p:spPr>
          <a:xfrm>
            <a:off x="266700" y="1143000"/>
            <a:ext cx="38100" cy="38100"/>
          </a:xfrm>
          <a:prstGeom prst="rect">
            <a:avLst/>
          </a:prstGeom>
          <a:solidFill>
            <a:srgbClr val="CED7E6">
              <a:alpha val="85305"/>
            </a:srgbClr>
          </a:solidFill>
          <a:ln>
            <a:noFill/>
          </a:ln>
        </p:spPr>
      </p:sp>
      <p:sp>
        <p:nvSpPr>
          <p:cNvPr id="8" name="wm.whiteboard.0.90"/>
          <p:cNvSpPr/>
          <p:nvPr/>
        </p:nvSpPr>
        <p:spPr>
          <a:xfrm>
            <a:off x="266700" y="1371600"/>
            <a:ext cx="38100" cy="38100"/>
          </a:xfrm>
          <a:prstGeom prst="rect">
            <a:avLst/>
          </a:prstGeom>
          <a:solidFill>
            <a:srgbClr val="CED7E6">
              <a:alpha val="68524"/>
            </a:srgbClr>
          </a:solidFill>
          <a:ln>
            <a:noFill/>
          </a:ln>
        </p:spPr>
      </p:sp>
      <p:sp>
        <p:nvSpPr>
          <p:cNvPr id="9" name="wm.whiteboard.0.108"/>
          <p:cNvSpPr/>
          <p:nvPr/>
        </p:nvSpPr>
        <p:spPr>
          <a:xfrm>
            <a:off x="266700" y="1600200"/>
            <a:ext cx="38100" cy="38100"/>
          </a:xfrm>
          <a:prstGeom prst="rect">
            <a:avLst/>
          </a:prstGeom>
          <a:solidFill>
            <a:srgbClr val="CED7E6">
              <a:alpha val="51742"/>
            </a:srgbClr>
          </a:solidFill>
          <a:ln>
            <a:noFill/>
          </a:ln>
        </p:spPr>
      </p:sp>
      <p:sp>
        <p:nvSpPr>
          <p:cNvPr id="10" name="wm.whiteboard.0.126"/>
          <p:cNvSpPr/>
          <p:nvPr/>
        </p:nvSpPr>
        <p:spPr>
          <a:xfrm>
            <a:off x="266700" y="1828800"/>
            <a:ext cx="38100" cy="38100"/>
          </a:xfrm>
          <a:prstGeom prst="rect">
            <a:avLst/>
          </a:prstGeom>
          <a:solidFill>
            <a:srgbClr val="CED7E6">
              <a:alpha val="34959"/>
            </a:srgbClr>
          </a:solidFill>
          <a:ln>
            <a:noFill/>
          </a:ln>
        </p:spPr>
      </p:sp>
      <p:sp>
        <p:nvSpPr>
          <p:cNvPr id="11" name="wm.whiteboard.0.144"/>
          <p:cNvSpPr/>
          <p:nvPr/>
        </p:nvSpPr>
        <p:spPr>
          <a:xfrm>
            <a:off x="266700" y="2057400"/>
            <a:ext cx="38100" cy="38100"/>
          </a:xfrm>
          <a:prstGeom prst="rect">
            <a:avLst/>
          </a:prstGeom>
          <a:solidFill>
            <a:srgbClr val="CED7E6">
              <a:alpha val="18177"/>
            </a:srgbClr>
          </a:solidFill>
          <a:ln>
            <a:noFill/>
          </a:ln>
        </p:spPr>
      </p:sp>
      <p:sp>
        <p:nvSpPr>
          <p:cNvPr id="12" name="wm.whiteboard.0.162"/>
          <p:cNvSpPr/>
          <p:nvPr/>
        </p:nvSpPr>
        <p:spPr>
          <a:xfrm>
            <a:off x="266700" y="2286000"/>
            <a:ext cx="38100" cy="38100"/>
          </a:xfrm>
          <a:prstGeom prst="rect">
            <a:avLst/>
          </a:prstGeom>
          <a:solidFill>
            <a:srgbClr val="CED7E6">
              <a:alpha val="1394"/>
            </a:srgbClr>
          </a:solidFill>
          <a:ln>
            <a:noFill/>
          </a:ln>
        </p:spPr>
      </p:sp>
      <p:sp>
        <p:nvSpPr>
          <p:cNvPr id="13" name="wm.whiteboard.18.0"/>
          <p:cNvSpPr/>
          <p:nvPr/>
        </p:nvSpPr>
        <p:spPr>
          <a:xfrm>
            <a:off x="4953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" name="wm.whiteboard.18.18"/>
          <p:cNvSpPr/>
          <p:nvPr/>
        </p:nvSpPr>
        <p:spPr>
          <a:xfrm>
            <a:off x="4953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" name="wm.whiteboard.18.36"/>
          <p:cNvSpPr/>
          <p:nvPr/>
        </p:nvSpPr>
        <p:spPr>
          <a:xfrm>
            <a:off x="4953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" name="wm.whiteboard.18.54"/>
          <p:cNvSpPr/>
          <p:nvPr/>
        </p:nvSpPr>
        <p:spPr>
          <a:xfrm>
            <a:off x="495300" y="914400"/>
            <a:ext cx="38100" cy="38100"/>
          </a:xfrm>
          <a:prstGeom prst="rect">
            <a:avLst/>
          </a:prstGeom>
          <a:solidFill>
            <a:srgbClr val="CED7E6">
              <a:alpha val="99988"/>
            </a:srgbClr>
          </a:solidFill>
          <a:ln>
            <a:noFill/>
          </a:ln>
        </p:spPr>
      </p:sp>
      <p:sp>
        <p:nvSpPr>
          <p:cNvPr id="17" name="wm.whiteboard.18.72"/>
          <p:cNvSpPr/>
          <p:nvPr/>
        </p:nvSpPr>
        <p:spPr>
          <a:xfrm>
            <a:off x="495300" y="1143000"/>
            <a:ext cx="38100" cy="38100"/>
          </a:xfrm>
          <a:prstGeom prst="rect">
            <a:avLst/>
          </a:prstGeom>
          <a:solidFill>
            <a:srgbClr val="CED7E6">
              <a:alpha val="83708"/>
            </a:srgbClr>
          </a:solidFill>
          <a:ln>
            <a:noFill/>
          </a:ln>
        </p:spPr>
      </p:sp>
      <p:sp>
        <p:nvSpPr>
          <p:cNvPr id="18" name="wm.whiteboard.18.90"/>
          <p:cNvSpPr/>
          <p:nvPr/>
        </p:nvSpPr>
        <p:spPr>
          <a:xfrm>
            <a:off x="495300" y="1371600"/>
            <a:ext cx="38100" cy="38100"/>
          </a:xfrm>
          <a:prstGeom prst="rect">
            <a:avLst/>
          </a:prstGeom>
          <a:solidFill>
            <a:srgbClr val="CED7E6">
              <a:alpha val="67236"/>
            </a:srgbClr>
          </a:solidFill>
          <a:ln>
            <a:noFill/>
          </a:ln>
        </p:spPr>
      </p:sp>
      <p:sp>
        <p:nvSpPr>
          <p:cNvPr id="19" name="wm.whiteboard.18.108"/>
          <p:cNvSpPr/>
          <p:nvPr/>
        </p:nvSpPr>
        <p:spPr>
          <a:xfrm>
            <a:off x="495300" y="1600200"/>
            <a:ext cx="38100" cy="38100"/>
          </a:xfrm>
          <a:prstGeom prst="rect">
            <a:avLst/>
          </a:prstGeom>
          <a:solidFill>
            <a:srgbClr val="CED7E6">
              <a:alpha val="50663"/>
            </a:srgbClr>
          </a:solidFill>
          <a:ln>
            <a:noFill/>
          </a:ln>
        </p:spPr>
      </p:sp>
      <p:sp>
        <p:nvSpPr>
          <p:cNvPr id="20" name="wm.whiteboard.18.126"/>
          <p:cNvSpPr/>
          <p:nvPr/>
        </p:nvSpPr>
        <p:spPr>
          <a:xfrm>
            <a:off x="495300" y="1828800"/>
            <a:ext cx="38100" cy="38100"/>
          </a:xfrm>
          <a:prstGeom prst="rect">
            <a:avLst/>
          </a:prstGeom>
          <a:solidFill>
            <a:srgbClr val="CED7E6">
              <a:alpha val="34032"/>
            </a:srgbClr>
          </a:solidFill>
          <a:ln>
            <a:noFill/>
          </a:ln>
        </p:spPr>
      </p:sp>
      <p:sp>
        <p:nvSpPr>
          <p:cNvPr id="21" name="wm.whiteboard.18.144"/>
          <p:cNvSpPr/>
          <p:nvPr/>
        </p:nvSpPr>
        <p:spPr>
          <a:xfrm>
            <a:off x="495300" y="2057400"/>
            <a:ext cx="38100" cy="38100"/>
          </a:xfrm>
          <a:prstGeom prst="rect">
            <a:avLst/>
          </a:prstGeom>
          <a:solidFill>
            <a:srgbClr val="CED7E6">
              <a:alpha val="17363"/>
            </a:srgbClr>
          </a:solidFill>
          <a:ln>
            <a:noFill/>
          </a:ln>
        </p:spPr>
      </p:sp>
      <p:sp>
        <p:nvSpPr>
          <p:cNvPr id="22" name="wm.whiteboard.18.162"/>
          <p:cNvSpPr/>
          <p:nvPr/>
        </p:nvSpPr>
        <p:spPr>
          <a:xfrm>
            <a:off x="495300" y="2286000"/>
            <a:ext cx="38100" cy="38100"/>
          </a:xfrm>
          <a:prstGeom prst="rect">
            <a:avLst/>
          </a:prstGeom>
          <a:solidFill>
            <a:srgbClr val="CED7E6">
              <a:alpha val="670"/>
            </a:srgbClr>
          </a:solidFill>
          <a:ln>
            <a:noFill/>
          </a:ln>
        </p:spPr>
      </p:sp>
      <p:sp>
        <p:nvSpPr>
          <p:cNvPr id="23" name="wm.whiteboard.36.0"/>
          <p:cNvSpPr/>
          <p:nvPr/>
        </p:nvSpPr>
        <p:spPr>
          <a:xfrm>
            <a:off x="7239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" name="wm.whiteboard.36.18"/>
          <p:cNvSpPr/>
          <p:nvPr/>
        </p:nvSpPr>
        <p:spPr>
          <a:xfrm>
            <a:off x="7239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" name="wm.whiteboard.36.36"/>
          <p:cNvSpPr/>
          <p:nvPr/>
        </p:nvSpPr>
        <p:spPr>
          <a:xfrm>
            <a:off x="723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" name="wm.whiteboard.36.54"/>
          <p:cNvSpPr/>
          <p:nvPr/>
        </p:nvSpPr>
        <p:spPr>
          <a:xfrm>
            <a:off x="723900" y="914400"/>
            <a:ext cx="38100" cy="38100"/>
          </a:xfrm>
          <a:prstGeom prst="rect">
            <a:avLst/>
          </a:prstGeom>
          <a:solidFill>
            <a:srgbClr val="CED7E6">
              <a:alpha val="94671"/>
            </a:srgbClr>
          </a:solidFill>
          <a:ln>
            <a:noFill/>
          </a:ln>
        </p:spPr>
      </p:sp>
      <p:sp>
        <p:nvSpPr>
          <p:cNvPr id="27" name="wm.whiteboard.36.72"/>
          <p:cNvSpPr/>
          <p:nvPr/>
        </p:nvSpPr>
        <p:spPr>
          <a:xfrm>
            <a:off x="723900" y="1143000"/>
            <a:ext cx="38100" cy="38100"/>
          </a:xfrm>
          <a:prstGeom prst="rect">
            <a:avLst/>
          </a:prstGeom>
          <a:solidFill>
            <a:srgbClr val="CED7E6">
              <a:alpha val="79547"/>
            </a:srgbClr>
          </a:solidFill>
          <a:ln>
            <a:noFill/>
          </a:ln>
        </p:spPr>
      </p:sp>
      <p:sp>
        <p:nvSpPr>
          <p:cNvPr id="28" name="wm.whiteboard.36.90"/>
          <p:cNvSpPr/>
          <p:nvPr/>
        </p:nvSpPr>
        <p:spPr>
          <a:xfrm>
            <a:off x="723900" y="1371600"/>
            <a:ext cx="38100" cy="38100"/>
          </a:xfrm>
          <a:prstGeom prst="rect">
            <a:avLst/>
          </a:prstGeom>
          <a:solidFill>
            <a:srgbClr val="CED7E6">
              <a:alpha val="63833"/>
            </a:srgbClr>
          </a:solidFill>
          <a:ln>
            <a:noFill/>
          </a:ln>
        </p:spPr>
      </p:sp>
      <p:sp>
        <p:nvSpPr>
          <p:cNvPr id="29" name="wm.whiteboard.36.108"/>
          <p:cNvSpPr/>
          <p:nvPr/>
        </p:nvSpPr>
        <p:spPr>
          <a:xfrm>
            <a:off x="723900" y="1600200"/>
            <a:ext cx="38100" cy="38100"/>
          </a:xfrm>
          <a:prstGeom prst="rect">
            <a:avLst/>
          </a:prstGeom>
          <a:solidFill>
            <a:srgbClr val="CED7E6">
              <a:alpha val="47790"/>
            </a:srgbClr>
          </a:solidFill>
          <a:ln>
            <a:noFill/>
          </a:ln>
        </p:spPr>
      </p:sp>
      <p:sp>
        <p:nvSpPr>
          <p:cNvPr id="30" name="wm.whiteboard.36.126"/>
          <p:cNvSpPr/>
          <p:nvPr/>
        </p:nvSpPr>
        <p:spPr>
          <a:xfrm>
            <a:off x="723900" y="1828800"/>
            <a:ext cx="38100" cy="38100"/>
          </a:xfrm>
          <a:prstGeom prst="rect">
            <a:avLst/>
          </a:prstGeom>
          <a:solidFill>
            <a:srgbClr val="CED7E6">
              <a:alpha val="31549"/>
            </a:srgbClr>
          </a:solidFill>
          <a:ln>
            <a:noFill/>
          </a:ln>
        </p:spPr>
      </p:sp>
      <p:sp>
        <p:nvSpPr>
          <p:cNvPr id="31" name="wm.whiteboard.36.144"/>
          <p:cNvSpPr/>
          <p:nvPr/>
        </p:nvSpPr>
        <p:spPr>
          <a:xfrm>
            <a:off x="723900" y="2057400"/>
            <a:ext cx="38100" cy="38100"/>
          </a:xfrm>
          <a:prstGeom prst="rect">
            <a:avLst/>
          </a:prstGeom>
          <a:solidFill>
            <a:srgbClr val="CED7E6">
              <a:alpha val="15179"/>
            </a:srgbClr>
          </a:solidFill>
          <a:ln>
            <a:noFill/>
          </a:ln>
        </p:spPr>
      </p:sp>
      <p:sp>
        <p:nvSpPr>
          <p:cNvPr id="32" name="wm.whiteboard.54.0"/>
          <p:cNvSpPr/>
          <p:nvPr/>
        </p:nvSpPr>
        <p:spPr>
          <a:xfrm>
            <a:off x="9525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" name="wm.whiteboard.54.18"/>
          <p:cNvSpPr/>
          <p:nvPr/>
        </p:nvSpPr>
        <p:spPr>
          <a:xfrm>
            <a:off x="9525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" name="wm.whiteboard.54.36"/>
          <p:cNvSpPr/>
          <p:nvPr/>
        </p:nvSpPr>
        <p:spPr>
          <a:xfrm>
            <a:off x="952500" y="685800"/>
            <a:ext cx="38100" cy="38100"/>
          </a:xfrm>
          <a:prstGeom prst="rect">
            <a:avLst/>
          </a:prstGeom>
          <a:solidFill>
            <a:srgbClr val="CED7E6">
              <a:alpha val="98827"/>
            </a:srgbClr>
          </a:solidFill>
          <a:ln>
            <a:noFill/>
          </a:ln>
        </p:spPr>
      </p:sp>
      <p:sp>
        <p:nvSpPr>
          <p:cNvPr id="35" name="wm.whiteboard.54.54"/>
          <p:cNvSpPr/>
          <p:nvPr/>
        </p:nvSpPr>
        <p:spPr>
          <a:xfrm>
            <a:off x="952500" y="914400"/>
            <a:ext cx="38100" cy="38100"/>
          </a:xfrm>
          <a:prstGeom prst="rect">
            <a:avLst/>
          </a:prstGeom>
          <a:solidFill>
            <a:srgbClr val="CED7E6">
              <a:alpha val="86895"/>
            </a:srgbClr>
          </a:solidFill>
          <a:ln>
            <a:noFill/>
          </a:ln>
        </p:spPr>
      </p:sp>
      <p:sp>
        <p:nvSpPr>
          <p:cNvPr id="36" name="wm.whiteboard.54.72"/>
          <p:cNvSpPr/>
          <p:nvPr/>
        </p:nvSpPr>
        <p:spPr>
          <a:xfrm>
            <a:off x="952500" y="1143000"/>
            <a:ext cx="38100" cy="38100"/>
          </a:xfrm>
          <a:prstGeom prst="rect">
            <a:avLst/>
          </a:prstGeom>
          <a:solidFill>
            <a:srgbClr val="CED7E6">
              <a:alpha val="73217"/>
            </a:srgbClr>
          </a:solidFill>
          <a:ln>
            <a:noFill/>
          </a:ln>
        </p:spPr>
      </p:sp>
      <p:sp>
        <p:nvSpPr>
          <p:cNvPr id="37" name="wm.whiteboard.54.90"/>
          <p:cNvSpPr/>
          <p:nvPr/>
        </p:nvSpPr>
        <p:spPr>
          <a:xfrm>
            <a:off x="952500" y="1371600"/>
            <a:ext cx="38100" cy="38100"/>
          </a:xfrm>
          <a:prstGeom prst="rect">
            <a:avLst/>
          </a:prstGeom>
          <a:solidFill>
            <a:srgbClr val="CED7E6">
              <a:alpha val="58541"/>
            </a:srgbClr>
          </a:solidFill>
          <a:ln>
            <a:noFill/>
          </a:ln>
        </p:spPr>
      </p:sp>
      <p:sp>
        <p:nvSpPr>
          <p:cNvPr id="38" name="wm.whiteboard.54.108"/>
          <p:cNvSpPr/>
          <p:nvPr/>
        </p:nvSpPr>
        <p:spPr>
          <a:xfrm>
            <a:off x="952500" y="1600200"/>
            <a:ext cx="38100" cy="38100"/>
          </a:xfrm>
          <a:prstGeom prst="rect">
            <a:avLst/>
          </a:prstGeom>
          <a:solidFill>
            <a:srgbClr val="CED7E6">
              <a:alpha val="43263"/>
            </a:srgbClr>
          </a:solidFill>
          <a:ln>
            <a:noFill/>
          </a:ln>
        </p:spPr>
      </p:sp>
      <p:sp>
        <p:nvSpPr>
          <p:cNvPr id="39" name="wm.whiteboard.54.126"/>
          <p:cNvSpPr/>
          <p:nvPr/>
        </p:nvSpPr>
        <p:spPr>
          <a:xfrm>
            <a:off x="952500" y="1828800"/>
            <a:ext cx="38100" cy="38100"/>
          </a:xfrm>
          <a:prstGeom prst="rect">
            <a:avLst/>
          </a:prstGeom>
          <a:solidFill>
            <a:srgbClr val="CED7E6">
              <a:alpha val="27603"/>
            </a:srgbClr>
          </a:solidFill>
          <a:ln>
            <a:noFill/>
          </a:ln>
        </p:spPr>
      </p:sp>
      <p:sp>
        <p:nvSpPr>
          <p:cNvPr id="40" name="wm.whiteboard.54.144"/>
          <p:cNvSpPr/>
          <p:nvPr/>
        </p:nvSpPr>
        <p:spPr>
          <a:xfrm>
            <a:off x="952500" y="2057400"/>
            <a:ext cx="38100" cy="38100"/>
          </a:xfrm>
          <a:prstGeom prst="rect">
            <a:avLst/>
          </a:prstGeom>
          <a:solidFill>
            <a:srgbClr val="CED7E6">
              <a:alpha val="11687"/>
            </a:srgbClr>
          </a:solidFill>
          <a:ln>
            <a:noFill/>
          </a:ln>
        </p:spPr>
      </p:sp>
      <p:sp>
        <p:nvSpPr>
          <p:cNvPr id="41" name="wm.whiteboard.72.0"/>
          <p:cNvSpPr/>
          <p:nvPr/>
        </p:nvSpPr>
        <p:spPr>
          <a:xfrm>
            <a:off x="1181100" y="228600"/>
            <a:ext cx="38100" cy="38100"/>
          </a:xfrm>
          <a:prstGeom prst="rect">
            <a:avLst/>
          </a:prstGeom>
          <a:solidFill>
            <a:srgbClr val="CED7E6">
              <a:alpha val="97572"/>
            </a:srgbClr>
          </a:solidFill>
          <a:ln>
            <a:noFill/>
          </a:ln>
        </p:spPr>
      </p:sp>
      <p:sp>
        <p:nvSpPr>
          <p:cNvPr id="42" name="wm.whiteboard.72.18"/>
          <p:cNvSpPr/>
          <p:nvPr/>
        </p:nvSpPr>
        <p:spPr>
          <a:xfrm>
            <a:off x="1181100" y="457200"/>
            <a:ext cx="38100" cy="38100"/>
          </a:xfrm>
          <a:prstGeom prst="rect">
            <a:avLst/>
          </a:prstGeom>
          <a:solidFill>
            <a:srgbClr val="CED7E6">
              <a:alpha val="94724"/>
            </a:srgbClr>
          </a:solidFill>
          <a:ln>
            <a:noFill/>
          </a:ln>
        </p:spPr>
      </p:sp>
      <p:sp>
        <p:nvSpPr>
          <p:cNvPr id="43" name="wm.whiteboard.72.36"/>
          <p:cNvSpPr/>
          <p:nvPr/>
        </p:nvSpPr>
        <p:spPr>
          <a:xfrm>
            <a:off x="1181100" y="685800"/>
            <a:ext cx="38100" cy="38100"/>
          </a:xfrm>
          <a:prstGeom prst="rect">
            <a:avLst/>
          </a:prstGeom>
          <a:solidFill>
            <a:srgbClr val="CED7E6">
              <a:alpha val="87609"/>
            </a:srgbClr>
          </a:solidFill>
          <a:ln>
            <a:noFill/>
          </a:ln>
        </p:spPr>
      </p:sp>
      <p:sp>
        <p:nvSpPr>
          <p:cNvPr id="44" name="wm.whiteboard.72.54"/>
          <p:cNvSpPr/>
          <p:nvPr/>
        </p:nvSpPr>
        <p:spPr>
          <a:xfrm>
            <a:off x="1181100" y="914400"/>
            <a:ext cx="38100" cy="38100"/>
          </a:xfrm>
          <a:prstGeom prst="rect">
            <a:avLst/>
          </a:prstGeom>
          <a:solidFill>
            <a:srgbClr val="CED7E6">
              <a:alpha val="77408"/>
            </a:srgbClr>
          </a:solidFill>
          <a:ln>
            <a:noFill/>
          </a:ln>
        </p:spPr>
      </p:sp>
      <p:sp>
        <p:nvSpPr>
          <p:cNvPr id="45" name="wm.whiteboard.72.72"/>
          <p:cNvSpPr/>
          <p:nvPr/>
        </p:nvSpPr>
        <p:spPr>
          <a:xfrm>
            <a:off x="1181100" y="1143000"/>
            <a:ext cx="38100" cy="38100"/>
          </a:xfrm>
          <a:prstGeom prst="rect">
            <a:avLst/>
          </a:prstGeom>
          <a:solidFill>
            <a:srgbClr val="CED7E6">
              <a:alpha val="65181"/>
            </a:srgbClr>
          </a:solidFill>
          <a:ln>
            <a:noFill/>
          </a:ln>
        </p:spPr>
      </p:sp>
      <p:sp>
        <p:nvSpPr>
          <p:cNvPr id="46" name="wm.whiteboard.72.90"/>
          <p:cNvSpPr/>
          <p:nvPr/>
        </p:nvSpPr>
        <p:spPr>
          <a:xfrm>
            <a:off x="1181100" y="1371600"/>
            <a:ext cx="38100" cy="38100"/>
          </a:xfrm>
          <a:prstGeom prst="rect">
            <a:avLst/>
          </a:prstGeom>
          <a:solidFill>
            <a:srgbClr val="CED7E6">
              <a:alpha val="51653"/>
            </a:srgbClr>
          </a:solidFill>
          <a:ln>
            <a:noFill/>
          </a:ln>
        </p:spPr>
      </p:sp>
      <p:sp>
        <p:nvSpPr>
          <p:cNvPr id="47" name="wm.whiteboard.72.108"/>
          <p:cNvSpPr/>
          <p:nvPr/>
        </p:nvSpPr>
        <p:spPr>
          <a:xfrm>
            <a:off x="1181100" y="1600200"/>
            <a:ext cx="38100" cy="38100"/>
          </a:xfrm>
          <a:prstGeom prst="rect">
            <a:avLst/>
          </a:prstGeom>
          <a:solidFill>
            <a:srgbClr val="CED7E6">
              <a:alpha val="37275"/>
            </a:srgbClr>
          </a:solidFill>
          <a:ln>
            <a:noFill/>
          </a:ln>
        </p:spPr>
      </p:sp>
      <p:sp>
        <p:nvSpPr>
          <p:cNvPr id="48" name="wm.whiteboard.72.126"/>
          <p:cNvSpPr/>
          <p:nvPr/>
        </p:nvSpPr>
        <p:spPr>
          <a:xfrm>
            <a:off x="1181100" y="1828800"/>
            <a:ext cx="38100" cy="38100"/>
          </a:xfrm>
          <a:prstGeom prst="rect">
            <a:avLst/>
          </a:prstGeom>
          <a:solidFill>
            <a:srgbClr val="CED7E6">
              <a:alpha val="22326"/>
            </a:srgbClr>
          </a:solidFill>
          <a:ln>
            <a:noFill/>
          </a:ln>
        </p:spPr>
      </p:sp>
      <p:sp>
        <p:nvSpPr>
          <p:cNvPr id="49" name="wm.whiteboard.72.144"/>
          <p:cNvSpPr/>
          <p:nvPr/>
        </p:nvSpPr>
        <p:spPr>
          <a:xfrm>
            <a:off x="1181100" y="2057400"/>
            <a:ext cx="38100" cy="38100"/>
          </a:xfrm>
          <a:prstGeom prst="rect">
            <a:avLst/>
          </a:prstGeom>
          <a:solidFill>
            <a:srgbClr val="CED7E6">
              <a:alpha val="6980"/>
            </a:srgbClr>
          </a:solidFill>
          <a:ln>
            <a:noFill/>
          </a:ln>
        </p:spPr>
      </p:sp>
      <p:sp>
        <p:nvSpPr>
          <p:cNvPr id="50" name="wm.whiteboard.90.0"/>
          <p:cNvSpPr/>
          <p:nvPr/>
        </p:nvSpPr>
        <p:spPr>
          <a:xfrm>
            <a:off x="1409700" y="228600"/>
            <a:ext cx="38100" cy="38100"/>
          </a:xfrm>
          <a:prstGeom prst="rect">
            <a:avLst/>
          </a:prstGeom>
          <a:solidFill>
            <a:srgbClr val="CED7E6">
              <a:alpha val="83798"/>
            </a:srgbClr>
          </a:solidFill>
          <a:ln>
            <a:noFill/>
          </a:ln>
        </p:spPr>
      </p:sp>
      <p:sp>
        <p:nvSpPr>
          <p:cNvPr id="51" name="wm.whiteboard.90.18"/>
          <p:cNvSpPr/>
          <p:nvPr/>
        </p:nvSpPr>
        <p:spPr>
          <a:xfrm>
            <a:off x="1409700" y="457200"/>
            <a:ext cx="38100" cy="38100"/>
          </a:xfrm>
          <a:prstGeom prst="rect">
            <a:avLst/>
          </a:prstGeom>
          <a:solidFill>
            <a:srgbClr val="CED7E6">
              <a:alpha val="81490"/>
            </a:srgbClr>
          </a:solidFill>
          <a:ln>
            <a:noFill/>
          </a:ln>
        </p:spPr>
      </p:sp>
      <p:sp>
        <p:nvSpPr>
          <p:cNvPr id="52" name="wm.whiteboard.90.36"/>
          <p:cNvSpPr/>
          <p:nvPr/>
        </p:nvSpPr>
        <p:spPr>
          <a:xfrm>
            <a:off x="1409700" y="685800"/>
            <a:ext cx="38100" cy="38100"/>
          </a:xfrm>
          <a:prstGeom prst="rect">
            <a:avLst/>
          </a:prstGeom>
          <a:solidFill>
            <a:srgbClr val="CED7E6">
              <a:alpha val="75569"/>
            </a:srgbClr>
          </a:solidFill>
          <a:ln>
            <a:noFill/>
          </a:ln>
        </p:spPr>
      </p:sp>
      <p:sp>
        <p:nvSpPr>
          <p:cNvPr id="53" name="wm.whiteboard.90.54"/>
          <p:cNvSpPr/>
          <p:nvPr/>
        </p:nvSpPr>
        <p:spPr>
          <a:xfrm>
            <a:off x="1409700" y="914400"/>
            <a:ext cx="38100" cy="38100"/>
          </a:xfrm>
          <a:prstGeom prst="rect">
            <a:avLst/>
          </a:prstGeom>
          <a:solidFill>
            <a:srgbClr val="CED7E6">
              <a:alpha val="66767"/>
            </a:srgbClr>
          </a:solidFill>
          <a:ln>
            <a:noFill/>
          </a:ln>
        </p:spPr>
      </p:sp>
      <p:sp>
        <p:nvSpPr>
          <p:cNvPr id="54" name="wm.whiteboard.90.72"/>
          <p:cNvSpPr/>
          <p:nvPr/>
        </p:nvSpPr>
        <p:spPr>
          <a:xfrm>
            <a:off x="1409700" y="1143000"/>
            <a:ext cx="38100" cy="38100"/>
          </a:xfrm>
          <a:prstGeom prst="rect">
            <a:avLst/>
          </a:prstGeom>
          <a:solidFill>
            <a:srgbClr val="CED7E6">
              <a:alpha val="55859"/>
            </a:srgbClr>
          </a:solidFill>
          <a:ln>
            <a:noFill/>
          </a:ln>
        </p:spPr>
      </p:sp>
      <p:sp>
        <p:nvSpPr>
          <p:cNvPr id="55" name="wm.whiteboard.90.90"/>
          <p:cNvSpPr/>
          <p:nvPr/>
        </p:nvSpPr>
        <p:spPr>
          <a:xfrm>
            <a:off x="1409700" y="1371600"/>
            <a:ext cx="38100" cy="38100"/>
          </a:xfrm>
          <a:prstGeom prst="rect">
            <a:avLst/>
          </a:prstGeom>
          <a:solidFill>
            <a:srgbClr val="CED7E6">
              <a:alpha val="43468"/>
            </a:srgbClr>
          </a:solidFill>
          <a:ln>
            <a:noFill/>
          </a:ln>
        </p:spPr>
      </p:sp>
      <p:sp>
        <p:nvSpPr>
          <p:cNvPr id="56" name="wm.whiteboard.90.108"/>
          <p:cNvSpPr/>
          <p:nvPr/>
        </p:nvSpPr>
        <p:spPr>
          <a:xfrm>
            <a:off x="1409700" y="1600200"/>
            <a:ext cx="38100" cy="38100"/>
          </a:xfrm>
          <a:prstGeom prst="rect">
            <a:avLst/>
          </a:prstGeom>
          <a:solidFill>
            <a:srgbClr val="CED7E6">
              <a:alpha val="30037"/>
            </a:srgbClr>
          </a:solidFill>
          <a:ln>
            <a:noFill/>
          </a:ln>
        </p:spPr>
      </p:sp>
      <p:sp>
        <p:nvSpPr>
          <p:cNvPr id="57" name="wm.whiteboard.90.126"/>
          <p:cNvSpPr/>
          <p:nvPr/>
        </p:nvSpPr>
        <p:spPr>
          <a:xfrm>
            <a:off x="1409700" y="1828800"/>
            <a:ext cx="38100" cy="38100"/>
          </a:xfrm>
          <a:prstGeom prst="rect">
            <a:avLst/>
          </a:prstGeom>
          <a:solidFill>
            <a:srgbClr val="CED7E6">
              <a:alpha val="15870"/>
            </a:srgbClr>
          </a:solidFill>
          <a:ln>
            <a:noFill/>
          </a:ln>
        </p:spPr>
      </p:sp>
      <p:sp>
        <p:nvSpPr>
          <p:cNvPr id="58" name="wm.whiteboard.90.144"/>
          <p:cNvSpPr/>
          <p:nvPr/>
        </p:nvSpPr>
        <p:spPr>
          <a:xfrm>
            <a:off x="1409700" y="2057400"/>
            <a:ext cx="38100" cy="38100"/>
          </a:xfrm>
          <a:prstGeom prst="rect">
            <a:avLst/>
          </a:prstGeom>
          <a:solidFill>
            <a:srgbClr val="CED7E6">
              <a:alpha val="1171"/>
            </a:srgbClr>
          </a:solidFill>
          <a:ln>
            <a:noFill/>
          </a:ln>
        </p:spPr>
      </p:sp>
      <p:sp>
        <p:nvSpPr>
          <p:cNvPr id="59" name="wm.whiteboard.108.0"/>
          <p:cNvSpPr/>
          <p:nvPr/>
        </p:nvSpPr>
        <p:spPr>
          <a:xfrm>
            <a:off x="1638300" y="228600"/>
            <a:ext cx="38100" cy="38100"/>
          </a:xfrm>
          <a:prstGeom prst="rect">
            <a:avLst/>
          </a:prstGeom>
          <a:solidFill>
            <a:srgbClr val="CED7E6">
              <a:alpha val="70023"/>
            </a:srgbClr>
          </a:solidFill>
          <a:ln>
            <a:noFill/>
          </a:ln>
        </p:spPr>
      </p:sp>
      <p:sp>
        <p:nvSpPr>
          <p:cNvPr id="60" name="wm.whiteboard.108.18"/>
          <p:cNvSpPr/>
          <p:nvPr/>
        </p:nvSpPr>
        <p:spPr>
          <a:xfrm>
            <a:off x="1638300" y="457200"/>
            <a:ext cx="38100" cy="38100"/>
          </a:xfrm>
          <a:prstGeom prst="rect">
            <a:avLst/>
          </a:prstGeom>
          <a:solidFill>
            <a:srgbClr val="CED7E6">
              <a:alpha val="68085"/>
            </a:srgbClr>
          </a:solidFill>
          <a:ln>
            <a:noFill/>
          </a:ln>
        </p:spPr>
      </p:sp>
      <p:sp>
        <p:nvSpPr>
          <p:cNvPr id="61" name="wm.whiteboard.108.36"/>
          <p:cNvSpPr/>
          <p:nvPr/>
        </p:nvSpPr>
        <p:spPr>
          <a:xfrm>
            <a:off x="1638300" y="685800"/>
            <a:ext cx="38100" cy="38100"/>
          </a:xfrm>
          <a:prstGeom prst="rect">
            <a:avLst/>
          </a:prstGeom>
          <a:solidFill>
            <a:srgbClr val="CED7E6">
              <a:alpha val="63033"/>
            </a:srgbClr>
          </a:solidFill>
          <a:ln>
            <a:noFill/>
          </a:ln>
        </p:spPr>
      </p:sp>
      <p:sp>
        <p:nvSpPr>
          <p:cNvPr id="62" name="wm.whiteboard.108.54"/>
          <p:cNvSpPr/>
          <p:nvPr/>
        </p:nvSpPr>
        <p:spPr>
          <a:xfrm>
            <a:off x="1638300" y="914400"/>
            <a:ext cx="38100" cy="38100"/>
          </a:xfrm>
          <a:prstGeom prst="rect">
            <a:avLst/>
          </a:prstGeom>
          <a:solidFill>
            <a:srgbClr val="CED7E6">
              <a:alpha val="55346"/>
            </a:srgbClr>
          </a:solidFill>
          <a:ln>
            <a:noFill/>
          </a:ln>
        </p:spPr>
      </p:sp>
      <p:sp>
        <p:nvSpPr>
          <p:cNvPr id="63" name="wm.whiteboard.108.72"/>
          <p:cNvSpPr/>
          <p:nvPr/>
        </p:nvSpPr>
        <p:spPr>
          <a:xfrm>
            <a:off x="1638300" y="1143000"/>
            <a:ext cx="38100" cy="38100"/>
          </a:xfrm>
          <a:prstGeom prst="rect">
            <a:avLst/>
          </a:prstGeom>
          <a:solidFill>
            <a:srgbClr val="CED7E6">
              <a:alpha val="45583"/>
            </a:srgbClr>
          </a:solidFill>
          <a:ln>
            <a:noFill/>
          </a:ln>
        </p:spPr>
      </p:sp>
      <p:sp>
        <p:nvSpPr>
          <p:cNvPr id="64" name="wm.whiteboard.108.90"/>
          <p:cNvSpPr/>
          <p:nvPr/>
        </p:nvSpPr>
        <p:spPr>
          <a:xfrm>
            <a:off x="1638300" y="1371600"/>
            <a:ext cx="38100" cy="38100"/>
          </a:xfrm>
          <a:prstGeom prst="rect">
            <a:avLst/>
          </a:prstGeom>
          <a:solidFill>
            <a:srgbClr val="CED7E6">
              <a:alpha val="34251"/>
            </a:srgbClr>
          </a:solidFill>
          <a:ln>
            <a:noFill/>
          </a:ln>
        </p:spPr>
      </p:sp>
      <p:sp>
        <p:nvSpPr>
          <p:cNvPr id="65" name="wm.whiteboard.108.108"/>
          <p:cNvSpPr/>
          <p:nvPr/>
        </p:nvSpPr>
        <p:spPr>
          <a:xfrm>
            <a:off x="1638300" y="1600200"/>
            <a:ext cx="38100" cy="38100"/>
          </a:xfrm>
          <a:prstGeom prst="rect">
            <a:avLst/>
          </a:prstGeom>
          <a:solidFill>
            <a:srgbClr val="CED7E6">
              <a:alpha val="21754"/>
            </a:srgbClr>
          </a:solidFill>
          <a:ln>
            <a:noFill/>
          </a:ln>
        </p:spPr>
      </p:sp>
      <p:sp>
        <p:nvSpPr>
          <p:cNvPr id="66" name="wm.whiteboard.108.126"/>
          <p:cNvSpPr/>
          <p:nvPr/>
        </p:nvSpPr>
        <p:spPr>
          <a:xfrm>
            <a:off x="1638300" y="1828800"/>
            <a:ext cx="38100" cy="38100"/>
          </a:xfrm>
          <a:prstGeom prst="rect">
            <a:avLst/>
          </a:prstGeom>
          <a:solidFill>
            <a:srgbClr val="CED7E6">
              <a:alpha val="8391"/>
            </a:srgbClr>
          </a:solidFill>
          <a:ln>
            <a:noFill/>
          </a:ln>
        </p:spPr>
      </p:sp>
      <p:sp>
        <p:nvSpPr>
          <p:cNvPr id="67" name="wm.whiteboard.126.0"/>
          <p:cNvSpPr/>
          <p:nvPr/>
        </p:nvSpPr>
        <p:spPr>
          <a:xfrm>
            <a:off x="1866900" y="228600"/>
            <a:ext cx="38100" cy="38100"/>
          </a:xfrm>
          <a:prstGeom prst="rect">
            <a:avLst/>
          </a:prstGeom>
          <a:solidFill>
            <a:srgbClr val="CED7E6">
              <a:alpha val="56247"/>
            </a:srgbClr>
          </a:solidFill>
          <a:ln>
            <a:noFill/>
          </a:ln>
        </p:spPr>
      </p:sp>
      <p:sp>
        <p:nvSpPr>
          <p:cNvPr id="68" name="wm.whiteboard.126.18"/>
          <p:cNvSpPr/>
          <p:nvPr/>
        </p:nvSpPr>
        <p:spPr>
          <a:xfrm>
            <a:off x="1866900" y="457200"/>
            <a:ext cx="38100" cy="38100"/>
          </a:xfrm>
          <a:prstGeom prst="rect">
            <a:avLst/>
          </a:prstGeom>
          <a:solidFill>
            <a:srgbClr val="CED7E6">
              <a:alpha val="54578"/>
            </a:srgbClr>
          </a:solidFill>
          <a:ln>
            <a:noFill/>
          </a:ln>
        </p:spPr>
      </p:sp>
      <p:sp>
        <p:nvSpPr>
          <p:cNvPr id="69" name="wm.whiteboard.126.36"/>
          <p:cNvSpPr/>
          <p:nvPr/>
        </p:nvSpPr>
        <p:spPr>
          <a:xfrm>
            <a:off x="1866900" y="685800"/>
            <a:ext cx="38100" cy="38100"/>
          </a:xfrm>
          <a:prstGeom prst="rect">
            <a:avLst/>
          </a:prstGeom>
          <a:solidFill>
            <a:srgbClr val="CED7E6">
              <a:alpha val="50182"/>
            </a:srgbClr>
          </a:solidFill>
          <a:ln>
            <a:noFill/>
          </a:ln>
        </p:spPr>
      </p:sp>
      <p:sp>
        <p:nvSpPr>
          <p:cNvPr id="70" name="wm.whiteboard.126.54"/>
          <p:cNvSpPr/>
          <p:nvPr/>
        </p:nvSpPr>
        <p:spPr>
          <a:xfrm>
            <a:off x="1866900" y="914400"/>
            <a:ext cx="38100" cy="38100"/>
          </a:xfrm>
          <a:prstGeom prst="rect">
            <a:avLst/>
          </a:prstGeom>
          <a:solidFill>
            <a:srgbClr val="CED7E6">
              <a:alpha val="43386"/>
            </a:srgbClr>
          </a:solidFill>
          <a:ln>
            <a:noFill/>
          </a:ln>
        </p:spPr>
      </p:sp>
      <p:sp>
        <p:nvSpPr>
          <p:cNvPr id="71" name="wm.whiteboard.126.72"/>
          <p:cNvSpPr/>
          <p:nvPr/>
        </p:nvSpPr>
        <p:spPr>
          <a:xfrm>
            <a:off x="1866900" y="1143000"/>
            <a:ext cx="38100" cy="38100"/>
          </a:xfrm>
          <a:prstGeom prst="rect">
            <a:avLst/>
          </a:prstGeom>
          <a:solidFill>
            <a:srgbClr val="CED7E6">
              <a:alpha val="34598"/>
            </a:srgbClr>
          </a:solidFill>
          <a:ln>
            <a:noFill/>
          </a:ln>
        </p:spPr>
      </p:sp>
      <p:sp>
        <p:nvSpPr>
          <p:cNvPr id="72" name="wm.whiteboard.126.90"/>
          <p:cNvSpPr/>
          <p:nvPr/>
        </p:nvSpPr>
        <p:spPr>
          <a:xfrm>
            <a:off x="1866900" y="1371600"/>
            <a:ext cx="38100" cy="38100"/>
          </a:xfrm>
          <a:prstGeom prst="rect">
            <a:avLst/>
          </a:prstGeom>
          <a:solidFill>
            <a:srgbClr val="CED7E6">
              <a:alpha val="24223"/>
            </a:srgbClr>
          </a:solidFill>
          <a:ln>
            <a:noFill/>
          </a:ln>
        </p:spPr>
      </p:sp>
      <p:sp>
        <p:nvSpPr>
          <p:cNvPr id="73" name="wm.whiteboard.126.108"/>
          <p:cNvSpPr/>
          <p:nvPr/>
        </p:nvSpPr>
        <p:spPr>
          <a:xfrm>
            <a:off x="1866900" y="1600200"/>
            <a:ext cx="38100" cy="38100"/>
          </a:xfrm>
          <a:prstGeom prst="rect">
            <a:avLst/>
          </a:prstGeom>
          <a:solidFill>
            <a:srgbClr val="CED7E6">
              <a:alpha val="12610"/>
            </a:srgbClr>
          </a:solidFill>
          <a:ln>
            <a:noFill/>
          </a:ln>
        </p:spPr>
      </p:sp>
      <p:sp>
        <p:nvSpPr>
          <p:cNvPr id="74" name="wm.whiteboard.126.126"/>
          <p:cNvSpPr/>
          <p:nvPr/>
        </p:nvSpPr>
        <p:spPr>
          <a:xfrm>
            <a:off x="1866900" y="1828800"/>
            <a:ext cx="38100" cy="38100"/>
          </a:xfrm>
          <a:prstGeom prst="rect">
            <a:avLst/>
          </a:prstGeom>
          <a:solidFill>
            <a:srgbClr val="CED7E6">
              <a:alpha val="40"/>
            </a:srgbClr>
          </a:solidFill>
          <a:ln>
            <a:noFill/>
          </a:ln>
        </p:spPr>
      </p:sp>
      <p:sp>
        <p:nvSpPr>
          <p:cNvPr id="75" name="wm.whiteboard.144.0"/>
          <p:cNvSpPr/>
          <p:nvPr/>
        </p:nvSpPr>
        <p:spPr>
          <a:xfrm>
            <a:off x="2095500" y="228600"/>
            <a:ext cx="38100" cy="38100"/>
          </a:xfrm>
          <a:prstGeom prst="rect">
            <a:avLst/>
          </a:prstGeom>
          <a:solidFill>
            <a:srgbClr val="CED7E6">
              <a:alpha val="42471"/>
            </a:srgbClr>
          </a:solidFill>
          <a:ln>
            <a:noFill/>
          </a:ln>
        </p:spPr>
      </p:sp>
      <p:sp>
        <p:nvSpPr>
          <p:cNvPr id="76" name="wm.whiteboard.144.18"/>
          <p:cNvSpPr/>
          <p:nvPr/>
        </p:nvSpPr>
        <p:spPr>
          <a:xfrm>
            <a:off x="2095500" y="457200"/>
            <a:ext cx="38100" cy="38100"/>
          </a:xfrm>
          <a:prstGeom prst="rect">
            <a:avLst/>
          </a:prstGeom>
          <a:solidFill>
            <a:srgbClr val="CED7E6">
              <a:alpha val="41005"/>
            </a:srgbClr>
          </a:solidFill>
          <a:ln>
            <a:noFill/>
          </a:ln>
        </p:spPr>
      </p:sp>
      <p:sp>
        <p:nvSpPr>
          <p:cNvPr id="77" name="wm.whiteboard.144.36"/>
          <p:cNvSpPr/>
          <p:nvPr/>
        </p:nvSpPr>
        <p:spPr>
          <a:xfrm>
            <a:off x="2095500" y="685800"/>
            <a:ext cx="38100" cy="38100"/>
          </a:xfrm>
          <a:prstGeom prst="rect">
            <a:avLst/>
          </a:prstGeom>
          <a:solidFill>
            <a:srgbClr val="CED7E6">
              <a:alpha val="37120"/>
            </a:srgbClr>
          </a:solidFill>
          <a:ln>
            <a:noFill/>
          </a:ln>
        </p:spPr>
      </p:sp>
      <p:sp>
        <p:nvSpPr>
          <p:cNvPr id="78" name="wm.whiteboard.144.54"/>
          <p:cNvSpPr/>
          <p:nvPr/>
        </p:nvSpPr>
        <p:spPr>
          <a:xfrm>
            <a:off x="2095500" y="914400"/>
            <a:ext cx="38100" cy="38100"/>
          </a:xfrm>
          <a:prstGeom prst="rect">
            <a:avLst/>
          </a:prstGeom>
          <a:solidFill>
            <a:srgbClr val="CED7E6">
              <a:alpha val="31044"/>
            </a:srgbClr>
          </a:solidFill>
          <a:ln>
            <a:noFill/>
          </a:ln>
        </p:spPr>
      </p:sp>
      <p:sp>
        <p:nvSpPr>
          <p:cNvPr id="79" name="wm.whiteboard.144.72"/>
          <p:cNvSpPr/>
          <p:nvPr/>
        </p:nvSpPr>
        <p:spPr>
          <a:xfrm>
            <a:off x="2095500" y="1143000"/>
            <a:ext cx="38100" cy="38100"/>
          </a:xfrm>
          <a:prstGeom prst="rect">
            <a:avLst/>
          </a:prstGeom>
          <a:solidFill>
            <a:srgbClr val="CED7E6">
              <a:alpha val="23083"/>
            </a:srgbClr>
          </a:solidFill>
          <a:ln>
            <a:noFill/>
          </a:ln>
        </p:spPr>
      </p:sp>
      <p:sp>
        <p:nvSpPr>
          <p:cNvPr id="80" name="wm.whiteboard.144.90"/>
          <p:cNvSpPr/>
          <p:nvPr/>
        </p:nvSpPr>
        <p:spPr>
          <a:xfrm>
            <a:off x="2095500" y="1371600"/>
            <a:ext cx="38100" cy="38100"/>
          </a:xfrm>
          <a:prstGeom prst="rect">
            <a:avLst/>
          </a:prstGeom>
          <a:solidFill>
            <a:srgbClr val="CED7E6">
              <a:alpha val="13557"/>
            </a:srgbClr>
          </a:solidFill>
          <a:ln>
            <a:noFill/>
          </a:ln>
        </p:spPr>
      </p:sp>
      <p:sp>
        <p:nvSpPr>
          <p:cNvPr id="81" name="wm.whiteboard.144.108"/>
          <p:cNvSpPr/>
          <p:nvPr/>
        </p:nvSpPr>
        <p:spPr>
          <a:xfrm>
            <a:off x="2095500" y="1600200"/>
            <a:ext cx="38100" cy="38100"/>
          </a:xfrm>
          <a:prstGeom prst="rect">
            <a:avLst/>
          </a:prstGeom>
          <a:solidFill>
            <a:srgbClr val="CED7E6">
              <a:alpha val="2762"/>
            </a:srgbClr>
          </a:solidFill>
          <a:ln>
            <a:noFill/>
          </a:ln>
        </p:spPr>
      </p:sp>
      <p:sp>
        <p:nvSpPr>
          <p:cNvPr id="82" name="wm.whiteboard.162.0"/>
          <p:cNvSpPr/>
          <p:nvPr/>
        </p:nvSpPr>
        <p:spPr>
          <a:xfrm>
            <a:off x="2324100" y="228600"/>
            <a:ext cx="38100" cy="38100"/>
          </a:xfrm>
          <a:prstGeom prst="rect">
            <a:avLst/>
          </a:prstGeom>
          <a:solidFill>
            <a:srgbClr val="CED7E6">
              <a:alpha val="28695"/>
            </a:srgbClr>
          </a:solidFill>
          <a:ln>
            <a:noFill/>
          </a:ln>
        </p:spPr>
      </p:sp>
      <p:sp>
        <p:nvSpPr>
          <p:cNvPr id="83" name="wm.whiteboard.162.18"/>
          <p:cNvSpPr/>
          <p:nvPr/>
        </p:nvSpPr>
        <p:spPr>
          <a:xfrm>
            <a:off x="2324100" y="457200"/>
            <a:ext cx="38100" cy="38100"/>
          </a:xfrm>
          <a:prstGeom prst="rect">
            <a:avLst/>
          </a:prstGeom>
          <a:solidFill>
            <a:srgbClr val="CED7E6">
              <a:alpha val="27389"/>
            </a:srgbClr>
          </a:solidFill>
          <a:ln>
            <a:noFill/>
          </a:ln>
        </p:spPr>
      </p:sp>
      <p:sp>
        <p:nvSpPr>
          <p:cNvPr id="84" name="wm.whiteboard.162.36"/>
          <p:cNvSpPr/>
          <p:nvPr/>
        </p:nvSpPr>
        <p:spPr>
          <a:xfrm>
            <a:off x="2324100" y="685800"/>
            <a:ext cx="38100" cy="38100"/>
          </a:xfrm>
          <a:prstGeom prst="rect">
            <a:avLst/>
          </a:prstGeom>
          <a:solidFill>
            <a:srgbClr val="CED7E6">
              <a:alpha val="23910"/>
            </a:srgbClr>
          </a:solidFill>
          <a:ln>
            <a:noFill/>
          </a:ln>
        </p:spPr>
      </p:sp>
      <p:sp>
        <p:nvSpPr>
          <p:cNvPr id="85" name="wm.whiteboard.162.54"/>
          <p:cNvSpPr/>
          <p:nvPr/>
        </p:nvSpPr>
        <p:spPr>
          <a:xfrm>
            <a:off x="2324100" y="914400"/>
            <a:ext cx="38100" cy="38100"/>
          </a:xfrm>
          <a:prstGeom prst="rect">
            <a:avLst/>
          </a:prstGeom>
          <a:solidFill>
            <a:srgbClr val="CED7E6">
              <a:alpha val="18425"/>
            </a:srgbClr>
          </a:solidFill>
          <a:ln>
            <a:noFill/>
          </a:ln>
        </p:spPr>
      </p:sp>
      <p:sp>
        <p:nvSpPr>
          <p:cNvPr id="86" name="wm.whiteboard.162.72"/>
          <p:cNvSpPr/>
          <p:nvPr/>
        </p:nvSpPr>
        <p:spPr>
          <a:xfrm>
            <a:off x="2324100" y="1143000"/>
            <a:ext cx="38100" cy="38100"/>
          </a:xfrm>
          <a:prstGeom prst="rect">
            <a:avLst/>
          </a:prstGeom>
          <a:solidFill>
            <a:srgbClr val="CED7E6">
              <a:alpha val="11167"/>
            </a:srgbClr>
          </a:solidFill>
          <a:ln>
            <a:noFill/>
          </a:ln>
        </p:spPr>
      </p:sp>
      <p:sp>
        <p:nvSpPr>
          <p:cNvPr id="87" name="wm.whiteboard.162.90"/>
          <p:cNvSpPr/>
          <p:nvPr/>
        </p:nvSpPr>
        <p:spPr>
          <a:xfrm>
            <a:off x="2324100" y="1371600"/>
            <a:ext cx="38100" cy="38100"/>
          </a:xfrm>
          <a:prstGeom prst="rect">
            <a:avLst/>
          </a:prstGeom>
          <a:solidFill>
            <a:srgbClr val="CED7E6">
              <a:alpha val="2388"/>
            </a:srgbClr>
          </a:solidFill>
          <a:ln>
            <a:noFill/>
          </a:ln>
        </p:spPr>
      </p:sp>
      <p:sp>
        <p:nvSpPr>
          <p:cNvPr id="88" name="wm.whiteboard.180.0"/>
          <p:cNvSpPr/>
          <p:nvPr/>
        </p:nvSpPr>
        <p:spPr>
          <a:xfrm>
            <a:off x="2552700" y="228600"/>
            <a:ext cx="38100" cy="38100"/>
          </a:xfrm>
          <a:prstGeom prst="rect">
            <a:avLst/>
          </a:prstGeom>
          <a:solidFill>
            <a:srgbClr val="CED7E6">
              <a:alpha val="14918"/>
            </a:srgbClr>
          </a:solidFill>
          <a:ln>
            <a:noFill/>
          </a:ln>
        </p:spPr>
      </p:sp>
      <p:sp>
        <p:nvSpPr>
          <p:cNvPr id="89" name="wm.whiteboard.180.18"/>
          <p:cNvSpPr/>
          <p:nvPr/>
        </p:nvSpPr>
        <p:spPr>
          <a:xfrm>
            <a:off x="2552700" y="457200"/>
            <a:ext cx="38100" cy="38100"/>
          </a:xfrm>
          <a:prstGeom prst="rect">
            <a:avLst/>
          </a:prstGeom>
          <a:solidFill>
            <a:srgbClr val="CED7E6">
              <a:alpha val="13741"/>
            </a:srgbClr>
          </a:solidFill>
          <a:ln>
            <a:noFill/>
          </a:ln>
        </p:spPr>
      </p:sp>
      <p:sp>
        <p:nvSpPr>
          <p:cNvPr id="90" name="wm.whiteboard.180.36"/>
          <p:cNvSpPr/>
          <p:nvPr/>
        </p:nvSpPr>
        <p:spPr>
          <a:xfrm>
            <a:off x="2552700" y="685800"/>
            <a:ext cx="38100" cy="38100"/>
          </a:xfrm>
          <a:prstGeom prst="rect">
            <a:avLst/>
          </a:prstGeom>
          <a:solidFill>
            <a:srgbClr val="CED7E6">
              <a:alpha val="10593"/>
            </a:srgbClr>
          </a:solidFill>
          <a:ln>
            <a:noFill/>
          </a:ln>
        </p:spPr>
      </p:sp>
      <p:sp>
        <p:nvSpPr>
          <p:cNvPr id="91" name="wm.whiteboard.180.54"/>
          <p:cNvSpPr/>
          <p:nvPr/>
        </p:nvSpPr>
        <p:spPr>
          <a:xfrm>
            <a:off x="2552700" y="914400"/>
            <a:ext cx="38100" cy="38100"/>
          </a:xfrm>
          <a:prstGeom prst="rect">
            <a:avLst/>
          </a:prstGeom>
          <a:solidFill>
            <a:srgbClr val="CED7E6">
              <a:alpha val="5600"/>
            </a:srgbClr>
          </a:solidFill>
          <a:ln>
            <a:noFill/>
          </a:ln>
        </p:spPr>
      </p:sp>
      <p:sp>
        <p:nvSpPr>
          <p:cNvPr id="92" name="wm.whiteboard.198.0"/>
          <p:cNvSpPr/>
          <p:nvPr/>
        </p:nvSpPr>
        <p:spPr>
          <a:xfrm>
            <a:off x="2781300" y="228600"/>
            <a:ext cx="38100" cy="38100"/>
          </a:xfrm>
          <a:prstGeom prst="rect">
            <a:avLst/>
          </a:prstGeom>
          <a:solidFill>
            <a:srgbClr val="CED7E6">
              <a:alpha val="1142"/>
            </a:srgbClr>
          </a:solidFill>
          <a:ln>
            <a:noFill/>
          </a:ln>
        </p:spPr>
      </p:sp>
      <p:sp>
        <p:nvSpPr>
          <p:cNvPr id="93" name="wm.whiteboard.198.18"/>
          <p:cNvSpPr/>
          <p:nvPr/>
        </p:nvSpPr>
        <p:spPr>
          <a:xfrm>
            <a:off x="2781300" y="457200"/>
            <a:ext cx="38100" cy="38100"/>
          </a:xfrm>
          <a:prstGeom prst="rect">
            <a:avLst/>
          </a:prstGeom>
          <a:solidFill>
            <a:srgbClr val="CED7E6">
              <a:alpha val="69"/>
            </a:srgbClr>
          </a:solidFill>
          <a:ln>
            <a:noFill/>
          </a:ln>
        </p:spPr>
      </p:sp>
      <p:sp>
        <p:nvSpPr>
          <p:cNvPr id="94" name="wm.header.rule"/>
          <p:cNvSpPr/>
          <p:nvPr/>
        </p:nvSpPr>
        <p:spPr>
          <a:xfrm>
            <a:off x="723900" y="20574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pic>
        <p:nvPicPr>
          <p:cNvPr id="95" name="wm.logo" descr="West Monro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6210300"/>
            <a:ext cx="729403" cy="152400"/>
          </a:xfrm>
          <a:prstGeom prst="rect">
            <a:avLst/>
          </a:prstGeom>
        </p:spPr>
      </p:pic>
      <p:sp>
        <p:nvSpPr>
          <p:cNvPr id="96" name="wm.legal"/>
          <p:cNvSpPr/>
          <p:nvPr/>
        </p:nvSpPr>
        <p:spPr>
          <a:xfrm>
            <a:off x="2171700" y="6172200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spc="0" kern="0" b="0" i="0" dirty="0">
                <a:solidFill>
                  <a:srgbClr val="50658E"/>
                </a:solidFill>
                <a:latin typeface="IBM Plex Mono"/>
                <a:ea typeface="IBM Plex Mono"/>
                <a:cs typeface="IBM Plex Mono"/>
              </a:rPr>
              <a:t>© 2026 West Monroe Partners | Reproduction and/or distribution without West Monroe Partners’ prior consent is prohibited.</a:t>
            </a:r>
            <a:endParaRPr lang="en-US" sz="700" spc="0" kern="0" b="0" i="0" dirty="0">
              <a:solidFill>
                <a:srgbClr val="50658E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mds.frame.7882cf158b4c90ffe0f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footer.rule"/>
          <p:cNvSpPr/>
          <p:nvPr/>
        </p:nvSpPr>
        <p:spPr>
          <a:xfrm>
            <a:off x="723900" y="60579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" name="wm.whiteboard.0.0"/>
          <p:cNvSpPr/>
          <p:nvPr/>
        </p:nvSpPr>
        <p:spPr>
          <a:xfrm>
            <a:off x="7239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whiteboard.0.18"/>
          <p:cNvSpPr/>
          <p:nvPr/>
        </p:nvSpPr>
        <p:spPr>
          <a:xfrm>
            <a:off x="7239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whiteboard.0.36"/>
          <p:cNvSpPr/>
          <p:nvPr/>
        </p:nvSpPr>
        <p:spPr>
          <a:xfrm>
            <a:off x="723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whiteboard.0.54"/>
          <p:cNvSpPr/>
          <p:nvPr/>
        </p:nvSpPr>
        <p:spPr>
          <a:xfrm>
            <a:off x="7239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whiteboard.0.72"/>
          <p:cNvSpPr/>
          <p:nvPr/>
        </p:nvSpPr>
        <p:spPr>
          <a:xfrm>
            <a:off x="723900" y="1143000"/>
            <a:ext cx="38100" cy="38100"/>
          </a:xfrm>
          <a:prstGeom prst="rect">
            <a:avLst/>
          </a:prstGeom>
          <a:solidFill>
            <a:srgbClr val="CED7E6">
              <a:alpha val="85305"/>
            </a:srgbClr>
          </a:solidFill>
          <a:ln>
            <a:noFill/>
          </a:ln>
        </p:spPr>
      </p:sp>
      <p:sp>
        <p:nvSpPr>
          <p:cNvPr id="8" name="wm.whiteboard.0.90"/>
          <p:cNvSpPr/>
          <p:nvPr/>
        </p:nvSpPr>
        <p:spPr>
          <a:xfrm>
            <a:off x="723900" y="1371600"/>
            <a:ext cx="38100" cy="38100"/>
          </a:xfrm>
          <a:prstGeom prst="rect">
            <a:avLst/>
          </a:prstGeom>
          <a:solidFill>
            <a:srgbClr val="CED7E6">
              <a:alpha val="68524"/>
            </a:srgbClr>
          </a:solidFill>
          <a:ln>
            <a:noFill/>
          </a:ln>
        </p:spPr>
      </p:sp>
      <p:sp>
        <p:nvSpPr>
          <p:cNvPr id="9" name="wm.whiteboard.0.108"/>
          <p:cNvSpPr/>
          <p:nvPr/>
        </p:nvSpPr>
        <p:spPr>
          <a:xfrm>
            <a:off x="723900" y="1600200"/>
            <a:ext cx="38100" cy="38100"/>
          </a:xfrm>
          <a:prstGeom prst="rect">
            <a:avLst/>
          </a:prstGeom>
          <a:solidFill>
            <a:srgbClr val="CED7E6">
              <a:alpha val="51742"/>
            </a:srgbClr>
          </a:solidFill>
          <a:ln>
            <a:noFill/>
          </a:ln>
        </p:spPr>
      </p:sp>
      <p:sp>
        <p:nvSpPr>
          <p:cNvPr id="10" name="wm.whiteboard.0.126"/>
          <p:cNvSpPr/>
          <p:nvPr/>
        </p:nvSpPr>
        <p:spPr>
          <a:xfrm>
            <a:off x="723900" y="1828800"/>
            <a:ext cx="38100" cy="38100"/>
          </a:xfrm>
          <a:prstGeom prst="rect">
            <a:avLst/>
          </a:prstGeom>
          <a:solidFill>
            <a:srgbClr val="CED7E6">
              <a:alpha val="34959"/>
            </a:srgbClr>
          </a:solidFill>
          <a:ln>
            <a:noFill/>
          </a:ln>
        </p:spPr>
      </p:sp>
      <p:sp>
        <p:nvSpPr>
          <p:cNvPr id="11" name="wm.whiteboard.0.144"/>
          <p:cNvSpPr/>
          <p:nvPr/>
        </p:nvSpPr>
        <p:spPr>
          <a:xfrm>
            <a:off x="723900" y="2057400"/>
            <a:ext cx="38100" cy="38100"/>
          </a:xfrm>
          <a:prstGeom prst="rect">
            <a:avLst/>
          </a:prstGeom>
          <a:solidFill>
            <a:srgbClr val="CED7E6">
              <a:alpha val="18177"/>
            </a:srgbClr>
          </a:solidFill>
          <a:ln>
            <a:noFill/>
          </a:ln>
        </p:spPr>
      </p:sp>
      <p:sp>
        <p:nvSpPr>
          <p:cNvPr id="12" name="wm.whiteboard.0.162"/>
          <p:cNvSpPr/>
          <p:nvPr/>
        </p:nvSpPr>
        <p:spPr>
          <a:xfrm>
            <a:off x="723900" y="2286000"/>
            <a:ext cx="38100" cy="38100"/>
          </a:xfrm>
          <a:prstGeom prst="rect">
            <a:avLst/>
          </a:prstGeom>
          <a:solidFill>
            <a:srgbClr val="CED7E6">
              <a:alpha val="1394"/>
            </a:srgbClr>
          </a:solidFill>
          <a:ln>
            <a:noFill/>
          </a:ln>
        </p:spPr>
      </p:sp>
      <p:sp>
        <p:nvSpPr>
          <p:cNvPr id="13" name="wm.whiteboard.18.0"/>
          <p:cNvSpPr/>
          <p:nvPr/>
        </p:nvSpPr>
        <p:spPr>
          <a:xfrm>
            <a:off x="9525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" name="wm.whiteboard.18.18"/>
          <p:cNvSpPr/>
          <p:nvPr/>
        </p:nvSpPr>
        <p:spPr>
          <a:xfrm>
            <a:off x="9525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" name="wm.whiteboard.18.36"/>
          <p:cNvSpPr/>
          <p:nvPr/>
        </p:nvSpPr>
        <p:spPr>
          <a:xfrm>
            <a:off x="9525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" name="wm.whiteboard.18.54"/>
          <p:cNvSpPr/>
          <p:nvPr/>
        </p:nvSpPr>
        <p:spPr>
          <a:xfrm>
            <a:off x="952500" y="914400"/>
            <a:ext cx="38100" cy="38100"/>
          </a:xfrm>
          <a:prstGeom prst="rect">
            <a:avLst/>
          </a:prstGeom>
          <a:solidFill>
            <a:srgbClr val="CED7E6">
              <a:alpha val="99988"/>
            </a:srgbClr>
          </a:solidFill>
          <a:ln>
            <a:noFill/>
          </a:ln>
        </p:spPr>
      </p:sp>
      <p:sp>
        <p:nvSpPr>
          <p:cNvPr id="17" name="wm.whiteboard.18.72"/>
          <p:cNvSpPr/>
          <p:nvPr/>
        </p:nvSpPr>
        <p:spPr>
          <a:xfrm>
            <a:off x="952500" y="1143000"/>
            <a:ext cx="38100" cy="38100"/>
          </a:xfrm>
          <a:prstGeom prst="rect">
            <a:avLst/>
          </a:prstGeom>
          <a:solidFill>
            <a:srgbClr val="CED7E6">
              <a:alpha val="83708"/>
            </a:srgbClr>
          </a:solidFill>
          <a:ln>
            <a:noFill/>
          </a:ln>
        </p:spPr>
      </p:sp>
      <p:sp>
        <p:nvSpPr>
          <p:cNvPr id="18" name="wm.whiteboard.18.90"/>
          <p:cNvSpPr/>
          <p:nvPr/>
        </p:nvSpPr>
        <p:spPr>
          <a:xfrm>
            <a:off x="952500" y="1371600"/>
            <a:ext cx="38100" cy="38100"/>
          </a:xfrm>
          <a:prstGeom prst="rect">
            <a:avLst/>
          </a:prstGeom>
          <a:solidFill>
            <a:srgbClr val="CED7E6">
              <a:alpha val="67236"/>
            </a:srgbClr>
          </a:solidFill>
          <a:ln>
            <a:noFill/>
          </a:ln>
        </p:spPr>
      </p:sp>
      <p:sp>
        <p:nvSpPr>
          <p:cNvPr id="19" name="wm.whiteboard.18.108"/>
          <p:cNvSpPr/>
          <p:nvPr/>
        </p:nvSpPr>
        <p:spPr>
          <a:xfrm>
            <a:off x="952500" y="1600200"/>
            <a:ext cx="38100" cy="38100"/>
          </a:xfrm>
          <a:prstGeom prst="rect">
            <a:avLst/>
          </a:prstGeom>
          <a:solidFill>
            <a:srgbClr val="CED7E6">
              <a:alpha val="50663"/>
            </a:srgbClr>
          </a:solidFill>
          <a:ln>
            <a:noFill/>
          </a:ln>
        </p:spPr>
      </p:sp>
      <p:sp>
        <p:nvSpPr>
          <p:cNvPr id="20" name="wm.whiteboard.18.126"/>
          <p:cNvSpPr/>
          <p:nvPr/>
        </p:nvSpPr>
        <p:spPr>
          <a:xfrm>
            <a:off x="952500" y="1828800"/>
            <a:ext cx="38100" cy="38100"/>
          </a:xfrm>
          <a:prstGeom prst="rect">
            <a:avLst/>
          </a:prstGeom>
          <a:solidFill>
            <a:srgbClr val="CED7E6">
              <a:alpha val="34032"/>
            </a:srgbClr>
          </a:solidFill>
          <a:ln>
            <a:noFill/>
          </a:ln>
        </p:spPr>
      </p:sp>
      <p:sp>
        <p:nvSpPr>
          <p:cNvPr id="21" name="wm.whiteboard.18.144"/>
          <p:cNvSpPr/>
          <p:nvPr/>
        </p:nvSpPr>
        <p:spPr>
          <a:xfrm>
            <a:off x="952500" y="2057400"/>
            <a:ext cx="38100" cy="38100"/>
          </a:xfrm>
          <a:prstGeom prst="rect">
            <a:avLst/>
          </a:prstGeom>
          <a:solidFill>
            <a:srgbClr val="CED7E6">
              <a:alpha val="17363"/>
            </a:srgbClr>
          </a:solidFill>
          <a:ln>
            <a:noFill/>
          </a:ln>
        </p:spPr>
      </p:sp>
      <p:sp>
        <p:nvSpPr>
          <p:cNvPr id="22" name="wm.whiteboard.18.162"/>
          <p:cNvSpPr/>
          <p:nvPr/>
        </p:nvSpPr>
        <p:spPr>
          <a:xfrm>
            <a:off x="952500" y="2286000"/>
            <a:ext cx="38100" cy="38100"/>
          </a:xfrm>
          <a:prstGeom prst="rect">
            <a:avLst/>
          </a:prstGeom>
          <a:solidFill>
            <a:srgbClr val="CED7E6">
              <a:alpha val="670"/>
            </a:srgbClr>
          </a:solidFill>
          <a:ln>
            <a:noFill/>
          </a:ln>
        </p:spPr>
      </p:sp>
      <p:sp>
        <p:nvSpPr>
          <p:cNvPr id="23" name="wm.whiteboard.36.0"/>
          <p:cNvSpPr/>
          <p:nvPr/>
        </p:nvSpPr>
        <p:spPr>
          <a:xfrm>
            <a:off x="11811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" name="wm.whiteboard.36.18"/>
          <p:cNvSpPr/>
          <p:nvPr/>
        </p:nvSpPr>
        <p:spPr>
          <a:xfrm>
            <a:off x="11811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" name="wm.whiteboard.36.36"/>
          <p:cNvSpPr/>
          <p:nvPr/>
        </p:nvSpPr>
        <p:spPr>
          <a:xfrm>
            <a:off x="11811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" name="wm.whiteboard.36.54"/>
          <p:cNvSpPr/>
          <p:nvPr/>
        </p:nvSpPr>
        <p:spPr>
          <a:xfrm>
            <a:off x="1181100" y="914400"/>
            <a:ext cx="38100" cy="38100"/>
          </a:xfrm>
          <a:prstGeom prst="rect">
            <a:avLst/>
          </a:prstGeom>
          <a:solidFill>
            <a:srgbClr val="CED7E6">
              <a:alpha val="94671"/>
            </a:srgbClr>
          </a:solidFill>
          <a:ln>
            <a:noFill/>
          </a:ln>
        </p:spPr>
      </p:sp>
      <p:sp>
        <p:nvSpPr>
          <p:cNvPr id="27" name="wm.whiteboard.36.72"/>
          <p:cNvSpPr/>
          <p:nvPr/>
        </p:nvSpPr>
        <p:spPr>
          <a:xfrm>
            <a:off x="1181100" y="1143000"/>
            <a:ext cx="38100" cy="38100"/>
          </a:xfrm>
          <a:prstGeom prst="rect">
            <a:avLst/>
          </a:prstGeom>
          <a:solidFill>
            <a:srgbClr val="CED7E6">
              <a:alpha val="79547"/>
            </a:srgbClr>
          </a:solidFill>
          <a:ln>
            <a:noFill/>
          </a:ln>
        </p:spPr>
      </p:sp>
      <p:sp>
        <p:nvSpPr>
          <p:cNvPr id="28" name="wm.whiteboard.36.90"/>
          <p:cNvSpPr/>
          <p:nvPr/>
        </p:nvSpPr>
        <p:spPr>
          <a:xfrm>
            <a:off x="1181100" y="1371600"/>
            <a:ext cx="38100" cy="38100"/>
          </a:xfrm>
          <a:prstGeom prst="rect">
            <a:avLst/>
          </a:prstGeom>
          <a:solidFill>
            <a:srgbClr val="CED7E6">
              <a:alpha val="63833"/>
            </a:srgbClr>
          </a:solidFill>
          <a:ln>
            <a:noFill/>
          </a:ln>
        </p:spPr>
      </p:sp>
      <p:sp>
        <p:nvSpPr>
          <p:cNvPr id="29" name="wm.whiteboard.36.108"/>
          <p:cNvSpPr/>
          <p:nvPr/>
        </p:nvSpPr>
        <p:spPr>
          <a:xfrm>
            <a:off x="1181100" y="1600200"/>
            <a:ext cx="38100" cy="38100"/>
          </a:xfrm>
          <a:prstGeom prst="rect">
            <a:avLst/>
          </a:prstGeom>
          <a:solidFill>
            <a:srgbClr val="CED7E6">
              <a:alpha val="47790"/>
            </a:srgbClr>
          </a:solidFill>
          <a:ln>
            <a:noFill/>
          </a:ln>
        </p:spPr>
      </p:sp>
      <p:sp>
        <p:nvSpPr>
          <p:cNvPr id="30" name="wm.whiteboard.36.126"/>
          <p:cNvSpPr/>
          <p:nvPr/>
        </p:nvSpPr>
        <p:spPr>
          <a:xfrm>
            <a:off x="1181100" y="1828800"/>
            <a:ext cx="38100" cy="38100"/>
          </a:xfrm>
          <a:prstGeom prst="rect">
            <a:avLst/>
          </a:prstGeom>
          <a:solidFill>
            <a:srgbClr val="CED7E6">
              <a:alpha val="31549"/>
            </a:srgbClr>
          </a:solidFill>
          <a:ln>
            <a:noFill/>
          </a:ln>
        </p:spPr>
      </p:sp>
      <p:sp>
        <p:nvSpPr>
          <p:cNvPr id="31" name="wm.whiteboard.36.144"/>
          <p:cNvSpPr/>
          <p:nvPr/>
        </p:nvSpPr>
        <p:spPr>
          <a:xfrm>
            <a:off x="1181100" y="2057400"/>
            <a:ext cx="38100" cy="38100"/>
          </a:xfrm>
          <a:prstGeom prst="rect">
            <a:avLst/>
          </a:prstGeom>
          <a:solidFill>
            <a:srgbClr val="CED7E6">
              <a:alpha val="15179"/>
            </a:srgbClr>
          </a:solidFill>
          <a:ln>
            <a:noFill/>
          </a:ln>
        </p:spPr>
      </p:sp>
      <p:sp>
        <p:nvSpPr>
          <p:cNvPr id="32" name="wm.whiteboard.54.0"/>
          <p:cNvSpPr/>
          <p:nvPr/>
        </p:nvSpPr>
        <p:spPr>
          <a:xfrm>
            <a:off x="14097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" name="wm.whiteboard.54.18"/>
          <p:cNvSpPr/>
          <p:nvPr/>
        </p:nvSpPr>
        <p:spPr>
          <a:xfrm>
            <a:off x="14097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" name="wm.whiteboard.54.36"/>
          <p:cNvSpPr/>
          <p:nvPr/>
        </p:nvSpPr>
        <p:spPr>
          <a:xfrm>
            <a:off x="1409700" y="685800"/>
            <a:ext cx="38100" cy="38100"/>
          </a:xfrm>
          <a:prstGeom prst="rect">
            <a:avLst/>
          </a:prstGeom>
          <a:solidFill>
            <a:srgbClr val="CED7E6">
              <a:alpha val="98827"/>
            </a:srgbClr>
          </a:solidFill>
          <a:ln>
            <a:noFill/>
          </a:ln>
        </p:spPr>
      </p:sp>
      <p:sp>
        <p:nvSpPr>
          <p:cNvPr id="35" name="wm.whiteboard.54.54"/>
          <p:cNvSpPr/>
          <p:nvPr/>
        </p:nvSpPr>
        <p:spPr>
          <a:xfrm>
            <a:off x="1409700" y="914400"/>
            <a:ext cx="38100" cy="38100"/>
          </a:xfrm>
          <a:prstGeom prst="rect">
            <a:avLst/>
          </a:prstGeom>
          <a:solidFill>
            <a:srgbClr val="CED7E6">
              <a:alpha val="86895"/>
            </a:srgbClr>
          </a:solidFill>
          <a:ln>
            <a:noFill/>
          </a:ln>
        </p:spPr>
      </p:sp>
      <p:sp>
        <p:nvSpPr>
          <p:cNvPr id="36" name="wm.whiteboard.54.72"/>
          <p:cNvSpPr/>
          <p:nvPr/>
        </p:nvSpPr>
        <p:spPr>
          <a:xfrm>
            <a:off x="1409700" y="1143000"/>
            <a:ext cx="38100" cy="38100"/>
          </a:xfrm>
          <a:prstGeom prst="rect">
            <a:avLst/>
          </a:prstGeom>
          <a:solidFill>
            <a:srgbClr val="CED7E6">
              <a:alpha val="73217"/>
            </a:srgbClr>
          </a:solidFill>
          <a:ln>
            <a:noFill/>
          </a:ln>
        </p:spPr>
      </p:sp>
      <p:sp>
        <p:nvSpPr>
          <p:cNvPr id="37" name="wm.whiteboard.54.90"/>
          <p:cNvSpPr/>
          <p:nvPr/>
        </p:nvSpPr>
        <p:spPr>
          <a:xfrm>
            <a:off x="1409700" y="1371600"/>
            <a:ext cx="38100" cy="38100"/>
          </a:xfrm>
          <a:prstGeom prst="rect">
            <a:avLst/>
          </a:prstGeom>
          <a:solidFill>
            <a:srgbClr val="CED7E6">
              <a:alpha val="58541"/>
            </a:srgbClr>
          </a:solidFill>
          <a:ln>
            <a:noFill/>
          </a:ln>
        </p:spPr>
      </p:sp>
      <p:sp>
        <p:nvSpPr>
          <p:cNvPr id="38" name="wm.whiteboard.54.108"/>
          <p:cNvSpPr/>
          <p:nvPr/>
        </p:nvSpPr>
        <p:spPr>
          <a:xfrm>
            <a:off x="1409700" y="1600200"/>
            <a:ext cx="38100" cy="38100"/>
          </a:xfrm>
          <a:prstGeom prst="rect">
            <a:avLst/>
          </a:prstGeom>
          <a:solidFill>
            <a:srgbClr val="CED7E6">
              <a:alpha val="43263"/>
            </a:srgbClr>
          </a:solidFill>
          <a:ln>
            <a:noFill/>
          </a:ln>
        </p:spPr>
      </p:sp>
      <p:sp>
        <p:nvSpPr>
          <p:cNvPr id="39" name="wm.whiteboard.54.126"/>
          <p:cNvSpPr/>
          <p:nvPr/>
        </p:nvSpPr>
        <p:spPr>
          <a:xfrm>
            <a:off x="1409700" y="1828800"/>
            <a:ext cx="38100" cy="38100"/>
          </a:xfrm>
          <a:prstGeom prst="rect">
            <a:avLst/>
          </a:prstGeom>
          <a:solidFill>
            <a:srgbClr val="CED7E6">
              <a:alpha val="27603"/>
            </a:srgbClr>
          </a:solidFill>
          <a:ln>
            <a:noFill/>
          </a:ln>
        </p:spPr>
      </p:sp>
      <p:sp>
        <p:nvSpPr>
          <p:cNvPr id="40" name="wm.whiteboard.54.144"/>
          <p:cNvSpPr/>
          <p:nvPr/>
        </p:nvSpPr>
        <p:spPr>
          <a:xfrm>
            <a:off x="1409700" y="2057400"/>
            <a:ext cx="38100" cy="38100"/>
          </a:xfrm>
          <a:prstGeom prst="rect">
            <a:avLst/>
          </a:prstGeom>
          <a:solidFill>
            <a:srgbClr val="CED7E6">
              <a:alpha val="11687"/>
            </a:srgbClr>
          </a:solidFill>
          <a:ln>
            <a:noFill/>
          </a:ln>
        </p:spPr>
      </p:sp>
      <p:sp>
        <p:nvSpPr>
          <p:cNvPr id="41" name="wm.whiteboard.72.0"/>
          <p:cNvSpPr/>
          <p:nvPr/>
        </p:nvSpPr>
        <p:spPr>
          <a:xfrm>
            <a:off x="1638300" y="228600"/>
            <a:ext cx="38100" cy="38100"/>
          </a:xfrm>
          <a:prstGeom prst="rect">
            <a:avLst/>
          </a:prstGeom>
          <a:solidFill>
            <a:srgbClr val="CED7E6">
              <a:alpha val="97572"/>
            </a:srgbClr>
          </a:solidFill>
          <a:ln>
            <a:noFill/>
          </a:ln>
        </p:spPr>
      </p:sp>
      <p:sp>
        <p:nvSpPr>
          <p:cNvPr id="42" name="wm.whiteboard.72.18"/>
          <p:cNvSpPr/>
          <p:nvPr/>
        </p:nvSpPr>
        <p:spPr>
          <a:xfrm>
            <a:off x="1638300" y="457200"/>
            <a:ext cx="38100" cy="38100"/>
          </a:xfrm>
          <a:prstGeom prst="rect">
            <a:avLst/>
          </a:prstGeom>
          <a:solidFill>
            <a:srgbClr val="CED7E6">
              <a:alpha val="94724"/>
            </a:srgbClr>
          </a:solidFill>
          <a:ln>
            <a:noFill/>
          </a:ln>
        </p:spPr>
      </p:sp>
      <p:sp>
        <p:nvSpPr>
          <p:cNvPr id="43" name="wm.whiteboard.72.36"/>
          <p:cNvSpPr/>
          <p:nvPr/>
        </p:nvSpPr>
        <p:spPr>
          <a:xfrm>
            <a:off x="1638300" y="685800"/>
            <a:ext cx="38100" cy="38100"/>
          </a:xfrm>
          <a:prstGeom prst="rect">
            <a:avLst/>
          </a:prstGeom>
          <a:solidFill>
            <a:srgbClr val="CED7E6">
              <a:alpha val="87609"/>
            </a:srgbClr>
          </a:solidFill>
          <a:ln>
            <a:noFill/>
          </a:ln>
        </p:spPr>
      </p:sp>
      <p:sp>
        <p:nvSpPr>
          <p:cNvPr id="44" name="wm.whiteboard.72.54"/>
          <p:cNvSpPr/>
          <p:nvPr/>
        </p:nvSpPr>
        <p:spPr>
          <a:xfrm>
            <a:off x="1638300" y="914400"/>
            <a:ext cx="38100" cy="38100"/>
          </a:xfrm>
          <a:prstGeom prst="rect">
            <a:avLst/>
          </a:prstGeom>
          <a:solidFill>
            <a:srgbClr val="CED7E6">
              <a:alpha val="77408"/>
            </a:srgbClr>
          </a:solidFill>
          <a:ln>
            <a:noFill/>
          </a:ln>
        </p:spPr>
      </p:sp>
      <p:sp>
        <p:nvSpPr>
          <p:cNvPr id="45" name="wm.whiteboard.72.72"/>
          <p:cNvSpPr/>
          <p:nvPr/>
        </p:nvSpPr>
        <p:spPr>
          <a:xfrm>
            <a:off x="1638300" y="1143000"/>
            <a:ext cx="38100" cy="38100"/>
          </a:xfrm>
          <a:prstGeom prst="rect">
            <a:avLst/>
          </a:prstGeom>
          <a:solidFill>
            <a:srgbClr val="CED7E6">
              <a:alpha val="65181"/>
            </a:srgbClr>
          </a:solidFill>
          <a:ln>
            <a:noFill/>
          </a:ln>
        </p:spPr>
      </p:sp>
      <p:sp>
        <p:nvSpPr>
          <p:cNvPr id="46" name="wm.whiteboard.72.90"/>
          <p:cNvSpPr/>
          <p:nvPr/>
        </p:nvSpPr>
        <p:spPr>
          <a:xfrm>
            <a:off x="1638300" y="1371600"/>
            <a:ext cx="38100" cy="38100"/>
          </a:xfrm>
          <a:prstGeom prst="rect">
            <a:avLst/>
          </a:prstGeom>
          <a:solidFill>
            <a:srgbClr val="CED7E6">
              <a:alpha val="51653"/>
            </a:srgbClr>
          </a:solidFill>
          <a:ln>
            <a:noFill/>
          </a:ln>
        </p:spPr>
      </p:sp>
      <p:sp>
        <p:nvSpPr>
          <p:cNvPr id="47" name="wm.whiteboard.72.108"/>
          <p:cNvSpPr/>
          <p:nvPr/>
        </p:nvSpPr>
        <p:spPr>
          <a:xfrm>
            <a:off x="1638300" y="1600200"/>
            <a:ext cx="38100" cy="38100"/>
          </a:xfrm>
          <a:prstGeom prst="rect">
            <a:avLst/>
          </a:prstGeom>
          <a:solidFill>
            <a:srgbClr val="CED7E6">
              <a:alpha val="37275"/>
            </a:srgbClr>
          </a:solidFill>
          <a:ln>
            <a:noFill/>
          </a:ln>
        </p:spPr>
      </p:sp>
      <p:sp>
        <p:nvSpPr>
          <p:cNvPr id="48" name="wm.whiteboard.72.126"/>
          <p:cNvSpPr/>
          <p:nvPr/>
        </p:nvSpPr>
        <p:spPr>
          <a:xfrm>
            <a:off x="1638300" y="1828800"/>
            <a:ext cx="38100" cy="38100"/>
          </a:xfrm>
          <a:prstGeom prst="rect">
            <a:avLst/>
          </a:prstGeom>
          <a:solidFill>
            <a:srgbClr val="CED7E6">
              <a:alpha val="22326"/>
            </a:srgbClr>
          </a:solidFill>
          <a:ln>
            <a:noFill/>
          </a:ln>
        </p:spPr>
      </p:sp>
      <p:sp>
        <p:nvSpPr>
          <p:cNvPr id="49" name="wm.whiteboard.72.144"/>
          <p:cNvSpPr/>
          <p:nvPr/>
        </p:nvSpPr>
        <p:spPr>
          <a:xfrm>
            <a:off x="1638300" y="2057400"/>
            <a:ext cx="38100" cy="38100"/>
          </a:xfrm>
          <a:prstGeom prst="rect">
            <a:avLst/>
          </a:prstGeom>
          <a:solidFill>
            <a:srgbClr val="CED7E6">
              <a:alpha val="6980"/>
            </a:srgbClr>
          </a:solidFill>
          <a:ln>
            <a:noFill/>
          </a:ln>
        </p:spPr>
      </p:sp>
      <p:sp>
        <p:nvSpPr>
          <p:cNvPr id="50" name="wm.whiteboard.90.0"/>
          <p:cNvSpPr/>
          <p:nvPr/>
        </p:nvSpPr>
        <p:spPr>
          <a:xfrm>
            <a:off x="1866900" y="228600"/>
            <a:ext cx="38100" cy="38100"/>
          </a:xfrm>
          <a:prstGeom prst="rect">
            <a:avLst/>
          </a:prstGeom>
          <a:solidFill>
            <a:srgbClr val="CED7E6">
              <a:alpha val="83798"/>
            </a:srgbClr>
          </a:solidFill>
          <a:ln>
            <a:noFill/>
          </a:ln>
        </p:spPr>
      </p:sp>
      <p:sp>
        <p:nvSpPr>
          <p:cNvPr id="51" name="wm.whiteboard.90.18"/>
          <p:cNvSpPr/>
          <p:nvPr/>
        </p:nvSpPr>
        <p:spPr>
          <a:xfrm>
            <a:off x="1866900" y="457200"/>
            <a:ext cx="38100" cy="38100"/>
          </a:xfrm>
          <a:prstGeom prst="rect">
            <a:avLst/>
          </a:prstGeom>
          <a:solidFill>
            <a:srgbClr val="CED7E6">
              <a:alpha val="81490"/>
            </a:srgbClr>
          </a:solidFill>
          <a:ln>
            <a:noFill/>
          </a:ln>
        </p:spPr>
      </p:sp>
      <p:sp>
        <p:nvSpPr>
          <p:cNvPr id="52" name="wm.whiteboard.90.36"/>
          <p:cNvSpPr/>
          <p:nvPr/>
        </p:nvSpPr>
        <p:spPr>
          <a:xfrm>
            <a:off x="1866900" y="685800"/>
            <a:ext cx="38100" cy="38100"/>
          </a:xfrm>
          <a:prstGeom prst="rect">
            <a:avLst/>
          </a:prstGeom>
          <a:solidFill>
            <a:srgbClr val="CED7E6">
              <a:alpha val="75569"/>
            </a:srgbClr>
          </a:solidFill>
          <a:ln>
            <a:noFill/>
          </a:ln>
        </p:spPr>
      </p:sp>
      <p:sp>
        <p:nvSpPr>
          <p:cNvPr id="53" name="wm.whiteboard.90.54"/>
          <p:cNvSpPr/>
          <p:nvPr/>
        </p:nvSpPr>
        <p:spPr>
          <a:xfrm>
            <a:off x="1866900" y="914400"/>
            <a:ext cx="38100" cy="38100"/>
          </a:xfrm>
          <a:prstGeom prst="rect">
            <a:avLst/>
          </a:prstGeom>
          <a:solidFill>
            <a:srgbClr val="CED7E6">
              <a:alpha val="66767"/>
            </a:srgbClr>
          </a:solidFill>
          <a:ln>
            <a:noFill/>
          </a:ln>
        </p:spPr>
      </p:sp>
      <p:sp>
        <p:nvSpPr>
          <p:cNvPr id="54" name="wm.whiteboard.90.72"/>
          <p:cNvSpPr/>
          <p:nvPr/>
        </p:nvSpPr>
        <p:spPr>
          <a:xfrm>
            <a:off x="1866900" y="1143000"/>
            <a:ext cx="38100" cy="38100"/>
          </a:xfrm>
          <a:prstGeom prst="rect">
            <a:avLst/>
          </a:prstGeom>
          <a:solidFill>
            <a:srgbClr val="CED7E6">
              <a:alpha val="55859"/>
            </a:srgbClr>
          </a:solidFill>
          <a:ln>
            <a:noFill/>
          </a:ln>
        </p:spPr>
      </p:sp>
      <p:sp>
        <p:nvSpPr>
          <p:cNvPr id="55" name="wm.whiteboard.90.90"/>
          <p:cNvSpPr/>
          <p:nvPr/>
        </p:nvSpPr>
        <p:spPr>
          <a:xfrm>
            <a:off x="1866900" y="1371600"/>
            <a:ext cx="38100" cy="38100"/>
          </a:xfrm>
          <a:prstGeom prst="rect">
            <a:avLst/>
          </a:prstGeom>
          <a:solidFill>
            <a:srgbClr val="CED7E6">
              <a:alpha val="43468"/>
            </a:srgbClr>
          </a:solidFill>
          <a:ln>
            <a:noFill/>
          </a:ln>
        </p:spPr>
      </p:sp>
      <p:sp>
        <p:nvSpPr>
          <p:cNvPr id="56" name="wm.whiteboard.90.108"/>
          <p:cNvSpPr/>
          <p:nvPr/>
        </p:nvSpPr>
        <p:spPr>
          <a:xfrm>
            <a:off x="1866900" y="1600200"/>
            <a:ext cx="38100" cy="38100"/>
          </a:xfrm>
          <a:prstGeom prst="rect">
            <a:avLst/>
          </a:prstGeom>
          <a:solidFill>
            <a:srgbClr val="CED7E6">
              <a:alpha val="30037"/>
            </a:srgbClr>
          </a:solidFill>
          <a:ln>
            <a:noFill/>
          </a:ln>
        </p:spPr>
      </p:sp>
      <p:sp>
        <p:nvSpPr>
          <p:cNvPr id="57" name="wm.whiteboard.90.126"/>
          <p:cNvSpPr/>
          <p:nvPr/>
        </p:nvSpPr>
        <p:spPr>
          <a:xfrm>
            <a:off x="1866900" y="1828800"/>
            <a:ext cx="38100" cy="38100"/>
          </a:xfrm>
          <a:prstGeom prst="rect">
            <a:avLst/>
          </a:prstGeom>
          <a:solidFill>
            <a:srgbClr val="CED7E6">
              <a:alpha val="15870"/>
            </a:srgbClr>
          </a:solidFill>
          <a:ln>
            <a:noFill/>
          </a:ln>
        </p:spPr>
      </p:sp>
      <p:sp>
        <p:nvSpPr>
          <p:cNvPr id="58" name="wm.whiteboard.90.144"/>
          <p:cNvSpPr/>
          <p:nvPr/>
        </p:nvSpPr>
        <p:spPr>
          <a:xfrm>
            <a:off x="1866900" y="2057400"/>
            <a:ext cx="38100" cy="38100"/>
          </a:xfrm>
          <a:prstGeom prst="rect">
            <a:avLst/>
          </a:prstGeom>
          <a:solidFill>
            <a:srgbClr val="CED7E6">
              <a:alpha val="1171"/>
            </a:srgbClr>
          </a:solidFill>
          <a:ln>
            <a:noFill/>
          </a:ln>
        </p:spPr>
      </p:sp>
      <p:sp>
        <p:nvSpPr>
          <p:cNvPr id="59" name="wm.whiteboard.108.0"/>
          <p:cNvSpPr/>
          <p:nvPr/>
        </p:nvSpPr>
        <p:spPr>
          <a:xfrm>
            <a:off x="2095500" y="228600"/>
            <a:ext cx="38100" cy="38100"/>
          </a:xfrm>
          <a:prstGeom prst="rect">
            <a:avLst/>
          </a:prstGeom>
          <a:solidFill>
            <a:srgbClr val="CED7E6">
              <a:alpha val="70023"/>
            </a:srgbClr>
          </a:solidFill>
          <a:ln>
            <a:noFill/>
          </a:ln>
        </p:spPr>
      </p:sp>
      <p:sp>
        <p:nvSpPr>
          <p:cNvPr id="60" name="wm.whiteboard.108.18"/>
          <p:cNvSpPr/>
          <p:nvPr/>
        </p:nvSpPr>
        <p:spPr>
          <a:xfrm>
            <a:off x="2095500" y="457200"/>
            <a:ext cx="38100" cy="38100"/>
          </a:xfrm>
          <a:prstGeom prst="rect">
            <a:avLst/>
          </a:prstGeom>
          <a:solidFill>
            <a:srgbClr val="CED7E6">
              <a:alpha val="68085"/>
            </a:srgbClr>
          </a:solidFill>
          <a:ln>
            <a:noFill/>
          </a:ln>
        </p:spPr>
      </p:sp>
      <p:sp>
        <p:nvSpPr>
          <p:cNvPr id="61" name="wm.whiteboard.108.36"/>
          <p:cNvSpPr/>
          <p:nvPr/>
        </p:nvSpPr>
        <p:spPr>
          <a:xfrm>
            <a:off x="2095500" y="685800"/>
            <a:ext cx="38100" cy="38100"/>
          </a:xfrm>
          <a:prstGeom prst="rect">
            <a:avLst/>
          </a:prstGeom>
          <a:solidFill>
            <a:srgbClr val="CED7E6">
              <a:alpha val="63033"/>
            </a:srgbClr>
          </a:solidFill>
          <a:ln>
            <a:noFill/>
          </a:ln>
        </p:spPr>
      </p:sp>
      <p:sp>
        <p:nvSpPr>
          <p:cNvPr id="62" name="wm.whiteboard.108.54"/>
          <p:cNvSpPr/>
          <p:nvPr/>
        </p:nvSpPr>
        <p:spPr>
          <a:xfrm>
            <a:off x="2095500" y="914400"/>
            <a:ext cx="38100" cy="38100"/>
          </a:xfrm>
          <a:prstGeom prst="rect">
            <a:avLst/>
          </a:prstGeom>
          <a:solidFill>
            <a:srgbClr val="CED7E6">
              <a:alpha val="55346"/>
            </a:srgbClr>
          </a:solidFill>
          <a:ln>
            <a:noFill/>
          </a:ln>
        </p:spPr>
      </p:sp>
      <p:sp>
        <p:nvSpPr>
          <p:cNvPr id="63" name="wm.whiteboard.108.72"/>
          <p:cNvSpPr/>
          <p:nvPr/>
        </p:nvSpPr>
        <p:spPr>
          <a:xfrm>
            <a:off x="2095500" y="1143000"/>
            <a:ext cx="38100" cy="38100"/>
          </a:xfrm>
          <a:prstGeom prst="rect">
            <a:avLst/>
          </a:prstGeom>
          <a:solidFill>
            <a:srgbClr val="CED7E6">
              <a:alpha val="45583"/>
            </a:srgbClr>
          </a:solidFill>
          <a:ln>
            <a:noFill/>
          </a:ln>
        </p:spPr>
      </p:sp>
      <p:sp>
        <p:nvSpPr>
          <p:cNvPr id="64" name="wm.whiteboard.108.90"/>
          <p:cNvSpPr/>
          <p:nvPr/>
        </p:nvSpPr>
        <p:spPr>
          <a:xfrm>
            <a:off x="2095500" y="1371600"/>
            <a:ext cx="38100" cy="38100"/>
          </a:xfrm>
          <a:prstGeom prst="rect">
            <a:avLst/>
          </a:prstGeom>
          <a:solidFill>
            <a:srgbClr val="CED7E6">
              <a:alpha val="34251"/>
            </a:srgbClr>
          </a:solidFill>
          <a:ln>
            <a:noFill/>
          </a:ln>
        </p:spPr>
      </p:sp>
      <p:sp>
        <p:nvSpPr>
          <p:cNvPr id="65" name="wm.whiteboard.108.108"/>
          <p:cNvSpPr/>
          <p:nvPr/>
        </p:nvSpPr>
        <p:spPr>
          <a:xfrm>
            <a:off x="2095500" y="1600200"/>
            <a:ext cx="38100" cy="38100"/>
          </a:xfrm>
          <a:prstGeom prst="rect">
            <a:avLst/>
          </a:prstGeom>
          <a:solidFill>
            <a:srgbClr val="CED7E6">
              <a:alpha val="21754"/>
            </a:srgbClr>
          </a:solidFill>
          <a:ln>
            <a:noFill/>
          </a:ln>
        </p:spPr>
      </p:sp>
      <p:sp>
        <p:nvSpPr>
          <p:cNvPr id="66" name="wm.whiteboard.108.126"/>
          <p:cNvSpPr/>
          <p:nvPr/>
        </p:nvSpPr>
        <p:spPr>
          <a:xfrm>
            <a:off x="2095500" y="1828800"/>
            <a:ext cx="38100" cy="38100"/>
          </a:xfrm>
          <a:prstGeom prst="rect">
            <a:avLst/>
          </a:prstGeom>
          <a:solidFill>
            <a:srgbClr val="CED7E6">
              <a:alpha val="8391"/>
            </a:srgbClr>
          </a:solidFill>
          <a:ln>
            <a:noFill/>
          </a:ln>
        </p:spPr>
      </p:sp>
      <p:sp>
        <p:nvSpPr>
          <p:cNvPr id="67" name="wm.whiteboard.126.0"/>
          <p:cNvSpPr/>
          <p:nvPr/>
        </p:nvSpPr>
        <p:spPr>
          <a:xfrm>
            <a:off x="2324100" y="228600"/>
            <a:ext cx="38100" cy="38100"/>
          </a:xfrm>
          <a:prstGeom prst="rect">
            <a:avLst/>
          </a:prstGeom>
          <a:solidFill>
            <a:srgbClr val="CED7E6">
              <a:alpha val="56247"/>
            </a:srgbClr>
          </a:solidFill>
          <a:ln>
            <a:noFill/>
          </a:ln>
        </p:spPr>
      </p:sp>
      <p:sp>
        <p:nvSpPr>
          <p:cNvPr id="68" name="wm.whiteboard.126.18"/>
          <p:cNvSpPr/>
          <p:nvPr/>
        </p:nvSpPr>
        <p:spPr>
          <a:xfrm>
            <a:off x="2324100" y="457200"/>
            <a:ext cx="38100" cy="38100"/>
          </a:xfrm>
          <a:prstGeom prst="rect">
            <a:avLst/>
          </a:prstGeom>
          <a:solidFill>
            <a:srgbClr val="CED7E6">
              <a:alpha val="54578"/>
            </a:srgbClr>
          </a:solidFill>
          <a:ln>
            <a:noFill/>
          </a:ln>
        </p:spPr>
      </p:sp>
      <p:sp>
        <p:nvSpPr>
          <p:cNvPr id="69" name="wm.whiteboard.126.36"/>
          <p:cNvSpPr/>
          <p:nvPr/>
        </p:nvSpPr>
        <p:spPr>
          <a:xfrm>
            <a:off x="2324100" y="685800"/>
            <a:ext cx="38100" cy="38100"/>
          </a:xfrm>
          <a:prstGeom prst="rect">
            <a:avLst/>
          </a:prstGeom>
          <a:solidFill>
            <a:srgbClr val="CED7E6">
              <a:alpha val="50182"/>
            </a:srgbClr>
          </a:solidFill>
          <a:ln>
            <a:noFill/>
          </a:ln>
        </p:spPr>
      </p:sp>
      <p:sp>
        <p:nvSpPr>
          <p:cNvPr id="70" name="wm.whiteboard.126.54"/>
          <p:cNvSpPr/>
          <p:nvPr/>
        </p:nvSpPr>
        <p:spPr>
          <a:xfrm>
            <a:off x="2324100" y="914400"/>
            <a:ext cx="38100" cy="38100"/>
          </a:xfrm>
          <a:prstGeom prst="rect">
            <a:avLst/>
          </a:prstGeom>
          <a:solidFill>
            <a:srgbClr val="CED7E6">
              <a:alpha val="43386"/>
            </a:srgbClr>
          </a:solidFill>
          <a:ln>
            <a:noFill/>
          </a:ln>
        </p:spPr>
      </p:sp>
      <p:sp>
        <p:nvSpPr>
          <p:cNvPr id="71" name="wm.whiteboard.126.72"/>
          <p:cNvSpPr/>
          <p:nvPr/>
        </p:nvSpPr>
        <p:spPr>
          <a:xfrm>
            <a:off x="2324100" y="1143000"/>
            <a:ext cx="38100" cy="38100"/>
          </a:xfrm>
          <a:prstGeom prst="rect">
            <a:avLst/>
          </a:prstGeom>
          <a:solidFill>
            <a:srgbClr val="CED7E6">
              <a:alpha val="34598"/>
            </a:srgbClr>
          </a:solidFill>
          <a:ln>
            <a:noFill/>
          </a:ln>
        </p:spPr>
      </p:sp>
      <p:sp>
        <p:nvSpPr>
          <p:cNvPr id="72" name="wm.whiteboard.126.90"/>
          <p:cNvSpPr/>
          <p:nvPr/>
        </p:nvSpPr>
        <p:spPr>
          <a:xfrm>
            <a:off x="2324100" y="1371600"/>
            <a:ext cx="38100" cy="38100"/>
          </a:xfrm>
          <a:prstGeom prst="rect">
            <a:avLst/>
          </a:prstGeom>
          <a:solidFill>
            <a:srgbClr val="CED7E6">
              <a:alpha val="24223"/>
            </a:srgbClr>
          </a:solidFill>
          <a:ln>
            <a:noFill/>
          </a:ln>
        </p:spPr>
      </p:sp>
      <p:sp>
        <p:nvSpPr>
          <p:cNvPr id="73" name="wm.whiteboard.126.108"/>
          <p:cNvSpPr/>
          <p:nvPr/>
        </p:nvSpPr>
        <p:spPr>
          <a:xfrm>
            <a:off x="2324100" y="1600200"/>
            <a:ext cx="38100" cy="38100"/>
          </a:xfrm>
          <a:prstGeom prst="rect">
            <a:avLst/>
          </a:prstGeom>
          <a:solidFill>
            <a:srgbClr val="CED7E6">
              <a:alpha val="12610"/>
            </a:srgbClr>
          </a:solidFill>
          <a:ln>
            <a:noFill/>
          </a:ln>
        </p:spPr>
      </p:sp>
      <p:sp>
        <p:nvSpPr>
          <p:cNvPr id="74" name="wm.whiteboard.126.126"/>
          <p:cNvSpPr/>
          <p:nvPr/>
        </p:nvSpPr>
        <p:spPr>
          <a:xfrm>
            <a:off x="2324100" y="1828800"/>
            <a:ext cx="38100" cy="38100"/>
          </a:xfrm>
          <a:prstGeom prst="rect">
            <a:avLst/>
          </a:prstGeom>
          <a:solidFill>
            <a:srgbClr val="CED7E6">
              <a:alpha val="40"/>
            </a:srgbClr>
          </a:solidFill>
          <a:ln>
            <a:noFill/>
          </a:ln>
        </p:spPr>
      </p:sp>
      <p:sp>
        <p:nvSpPr>
          <p:cNvPr id="75" name="wm.whiteboard.144.0"/>
          <p:cNvSpPr/>
          <p:nvPr/>
        </p:nvSpPr>
        <p:spPr>
          <a:xfrm>
            <a:off x="2552700" y="228600"/>
            <a:ext cx="38100" cy="38100"/>
          </a:xfrm>
          <a:prstGeom prst="rect">
            <a:avLst/>
          </a:prstGeom>
          <a:solidFill>
            <a:srgbClr val="CED7E6">
              <a:alpha val="42471"/>
            </a:srgbClr>
          </a:solidFill>
          <a:ln>
            <a:noFill/>
          </a:ln>
        </p:spPr>
      </p:sp>
      <p:sp>
        <p:nvSpPr>
          <p:cNvPr id="76" name="wm.whiteboard.144.18"/>
          <p:cNvSpPr/>
          <p:nvPr/>
        </p:nvSpPr>
        <p:spPr>
          <a:xfrm>
            <a:off x="2552700" y="457200"/>
            <a:ext cx="38100" cy="38100"/>
          </a:xfrm>
          <a:prstGeom prst="rect">
            <a:avLst/>
          </a:prstGeom>
          <a:solidFill>
            <a:srgbClr val="CED7E6">
              <a:alpha val="41005"/>
            </a:srgbClr>
          </a:solidFill>
          <a:ln>
            <a:noFill/>
          </a:ln>
        </p:spPr>
      </p:sp>
      <p:sp>
        <p:nvSpPr>
          <p:cNvPr id="77" name="wm.whiteboard.144.36"/>
          <p:cNvSpPr/>
          <p:nvPr/>
        </p:nvSpPr>
        <p:spPr>
          <a:xfrm>
            <a:off x="2552700" y="685800"/>
            <a:ext cx="38100" cy="38100"/>
          </a:xfrm>
          <a:prstGeom prst="rect">
            <a:avLst/>
          </a:prstGeom>
          <a:solidFill>
            <a:srgbClr val="CED7E6">
              <a:alpha val="37120"/>
            </a:srgbClr>
          </a:solidFill>
          <a:ln>
            <a:noFill/>
          </a:ln>
        </p:spPr>
      </p:sp>
      <p:sp>
        <p:nvSpPr>
          <p:cNvPr id="78" name="wm.whiteboard.144.54"/>
          <p:cNvSpPr/>
          <p:nvPr/>
        </p:nvSpPr>
        <p:spPr>
          <a:xfrm>
            <a:off x="2552700" y="914400"/>
            <a:ext cx="38100" cy="38100"/>
          </a:xfrm>
          <a:prstGeom prst="rect">
            <a:avLst/>
          </a:prstGeom>
          <a:solidFill>
            <a:srgbClr val="CED7E6">
              <a:alpha val="31044"/>
            </a:srgbClr>
          </a:solidFill>
          <a:ln>
            <a:noFill/>
          </a:ln>
        </p:spPr>
      </p:sp>
      <p:sp>
        <p:nvSpPr>
          <p:cNvPr id="79" name="wm.whiteboard.144.72"/>
          <p:cNvSpPr/>
          <p:nvPr/>
        </p:nvSpPr>
        <p:spPr>
          <a:xfrm>
            <a:off x="2552700" y="1143000"/>
            <a:ext cx="38100" cy="38100"/>
          </a:xfrm>
          <a:prstGeom prst="rect">
            <a:avLst/>
          </a:prstGeom>
          <a:solidFill>
            <a:srgbClr val="CED7E6">
              <a:alpha val="23083"/>
            </a:srgbClr>
          </a:solidFill>
          <a:ln>
            <a:noFill/>
          </a:ln>
        </p:spPr>
      </p:sp>
      <p:sp>
        <p:nvSpPr>
          <p:cNvPr id="80" name="wm.whiteboard.144.90"/>
          <p:cNvSpPr/>
          <p:nvPr/>
        </p:nvSpPr>
        <p:spPr>
          <a:xfrm>
            <a:off x="2552700" y="1371600"/>
            <a:ext cx="38100" cy="38100"/>
          </a:xfrm>
          <a:prstGeom prst="rect">
            <a:avLst/>
          </a:prstGeom>
          <a:solidFill>
            <a:srgbClr val="CED7E6">
              <a:alpha val="13557"/>
            </a:srgbClr>
          </a:solidFill>
          <a:ln>
            <a:noFill/>
          </a:ln>
        </p:spPr>
      </p:sp>
      <p:sp>
        <p:nvSpPr>
          <p:cNvPr id="81" name="wm.whiteboard.144.108"/>
          <p:cNvSpPr/>
          <p:nvPr/>
        </p:nvSpPr>
        <p:spPr>
          <a:xfrm>
            <a:off x="2552700" y="1600200"/>
            <a:ext cx="38100" cy="38100"/>
          </a:xfrm>
          <a:prstGeom prst="rect">
            <a:avLst/>
          </a:prstGeom>
          <a:solidFill>
            <a:srgbClr val="CED7E6">
              <a:alpha val="2762"/>
            </a:srgbClr>
          </a:solidFill>
          <a:ln>
            <a:noFill/>
          </a:ln>
        </p:spPr>
      </p:sp>
      <p:sp>
        <p:nvSpPr>
          <p:cNvPr id="82" name="wm.whiteboard.162.0"/>
          <p:cNvSpPr/>
          <p:nvPr/>
        </p:nvSpPr>
        <p:spPr>
          <a:xfrm>
            <a:off x="2781300" y="228600"/>
            <a:ext cx="38100" cy="38100"/>
          </a:xfrm>
          <a:prstGeom prst="rect">
            <a:avLst/>
          </a:prstGeom>
          <a:solidFill>
            <a:srgbClr val="CED7E6">
              <a:alpha val="28695"/>
            </a:srgbClr>
          </a:solidFill>
          <a:ln>
            <a:noFill/>
          </a:ln>
        </p:spPr>
      </p:sp>
      <p:sp>
        <p:nvSpPr>
          <p:cNvPr id="83" name="wm.whiteboard.162.18"/>
          <p:cNvSpPr/>
          <p:nvPr/>
        </p:nvSpPr>
        <p:spPr>
          <a:xfrm>
            <a:off x="2781300" y="457200"/>
            <a:ext cx="38100" cy="38100"/>
          </a:xfrm>
          <a:prstGeom prst="rect">
            <a:avLst/>
          </a:prstGeom>
          <a:solidFill>
            <a:srgbClr val="CED7E6">
              <a:alpha val="27389"/>
            </a:srgbClr>
          </a:solidFill>
          <a:ln>
            <a:noFill/>
          </a:ln>
        </p:spPr>
      </p:sp>
      <p:sp>
        <p:nvSpPr>
          <p:cNvPr id="84" name="wm.whiteboard.162.36"/>
          <p:cNvSpPr/>
          <p:nvPr/>
        </p:nvSpPr>
        <p:spPr>
          <a:xfrm>
            <a:off x="2781300" y="685800"/>
            <a:ext cx="38100" cy="38100"/>
          </a:xfrm>
          <a:prstGeom prst="rect">
            <a:avLst/>
          </a:prstGeom>
          <a:solidFill>
            <a:srgbClr val="CED7E6">
              <a:alpha val="23910"/>
            </a:srgbClr>
          </a:solidFill>
          <a:ln>
            <a:noFill/>
          </a:ln>
        </p:spPr>
      </p:sp>
      <p:sp>
        <p:nvSpPr>
          <p:cNvPr id="85" name="wm.whiteboard.162.54"/>
          <p:cNvSpPr/>
          <p:nvPr/>
        </p:nvSpPr>
        <p:spPr>
          <a:xfrm>
            <a:off x="2781300" y="914400"/>
            <a:ext cx="38100" cy="38100"/>
          </a:xfrm>
          <a:prstGeom prst="rect">
            <a:avLst/>
          </a:prstGeom>
          <a:solidFill>
            <a:srgbClr val="CED7E6">
              <a:alpha val="18425"/>
            </a:srgbClr>
          </a:solidFill>
          <a:ln>
            <a:noFill/>
          </a:ln>
        </p:spPr>
      </p:sp>
      <p:sp>
        <p:nvSpPr>
          <p:cNvPr id="86" name="wm.whiteboard.162.72"/>
          <p:cNvSpPr/>
          <p:nvPr/>
        </p:nvSpPr>
        <p:spPr>
          <a:xfrm>
            <a:off x="2781300" y="1143000"/>
            <a:ext cx="38100" cy="38100"/>
          </a:xfrm>
          <a:prstGeom prst="rect">
            <a:avLst/>
          </a:prstGeom>
          <a:solidFill>
            <a:srgbClr val="CED7E6">
              <a:alpha val="11167"/>
            </a:srgbClr>
          </a:solidFill>
          <a:ln>
            <a:noFill/>
          </a:ln>
        </p:spPr>
      </p:sp>
      <p:sp>
        <p:nvSpPr>
          <p:cNvPr id="87" name="wm.whiteboard.162.90"/>
          <p:cNvSpPr/>
          <p:nvPr/>
        </p:nvSpPr>
        <p:spPr>
          <a:xfrm>
            <a:off x="2781300" y="1371600"/>
            <a:ext cx="38100" cy="38100"/>
          </a:xfrm>
          <a:prstGeom prst="rect">
            <a:avLst/>
          </a:prstGeom>
          <a:solidFill>
            <a:srgbClr val="CED7E6">
              <a:alpha val="2388"/>
            </a:srgbClr>
          </a:solidFill>
          <a:ln>
            <a:noFill/>
          </a:ln>
        </p:spPr>
      </p:sp>
      <p:sp>
        <p:nvSpPr>
          <p:cNvPr id="88" name="wm.whiteboard.180.0"/>
          <p:cNvSpPr/>
          <p:nvPr/>
        </p:nvSpPr>
        <p:spPr>
          <a:xfrm>
            <a:off x="3009900" y="228600"/>
            <a:ext cx="38100" cy="38100"/>
          </a:xfrm>
          <a:prstGeom prst="rect">
            <a:avLst/>
          </a:prstGeom>
          <a:solidFill>
            <a:srgbClr val="CED7E6">
              <a:alpha val="14918"/>
            </a:srgbClr>
          </a:solidFill>
          <a:ln>
            <a:noFill/>
          </a:ln>
        </p:spPr>
      </p:sp>
      <p:sp>
        <p:nvSpPr>
          <p:cNvPr id="89" name="wm.whiteboard.180.18"/>
          <p:cNvSpPr/>
          <p:nvPr/>
        </p:nvSpPr>
        <p:spPr>
          <a:xfrm>
            <a:off x="3009900" y="457200"/>
            <a:ext cx="38100" cy="38100"/>
          </a:xfrm>
          <a:prstGeom prst="rect">
            <a:avLst/>
          </a:prstGeom>
          <a:solidFill>
            <a:srgbClr val="CED7E6">
              <a:alpha val="13741"/>
            </a:srgbClr>
          </a:solidFill>
          <a:ln>
            <a:noFill/>
          </a:ln>
        </p:spPr>
      </p:sp>
      <p:sp>
        <p:nvSpPr>
          <p:cNvPr id="90" name="wm.whiteboard.180.36"/>
          <p:cNvSpPr/>
          <p:nvPr/>
        </p:nvSpPr>
        <p:spPr>
          <a:xfrm>
            <a:off x="3009900" y="685800"/>
            <a:ext cx="38100" cy="38100"/>
          </a:xfrm>
          <a:prstGeom prst="rect">
            <a:avLst/>
          </a:prstGeom>
          <a:solidFill>
            <a:srgbClr val="CED7E6">
              <a:alpha val="10593"/>
            </a:srgbClr>
          </a:solidFill>
          <a:ln>
            <a:noFill/>
          </a:ln>
        </p:spPr>
      </p:sp>
      <p:sp>
        <p:nvSpPr>
          <p:cNvPr id="91" name="wm.whiteboard.180.54"/>
          <p:cNvSpPr/>
          <p:nvPr/>
        </p:nvSpPr>
        <p:spPr>
          <a:xfrm>
            <a:off x="3009900" y="914400"/>
            <a:ext cx="38100" cy="38100"/>
          </a:xfrm>
          <a:prstGeom prst="rect">
            <a:avLst/>
          </a:prstGeom>
          <a:solidFill>
            <a:srgbClr val="CED7E6">
              <a:alpha val="5600"/>
            </a:srgbClr>
          </a:solidFill>
          <a:ln>
            <a:noFill/>
          </a:ln>
        </p:spPr>
      </p:sp>
      <p:sp>
        <p:nvSpPr>
          <p:cNvPr id="92" name="wm.whiteboard.198.0"/>
          <p:cNvSpPr/>
          <p:nvPr/>
        </p:nvSpPr>
        <p:spPr>
          <a:xfrm>
            <a:off x="3238500" y="228600"/>
            <a:ext cx="38100" cy="38100"/>
          </a:xfrm>
          <a:prstGeom prst="rect">
            <a:avLst/>
          </a:prstGeom>
          <a:solidFill>
            <a:srgbClr val="CED7E6">
              <a:alpha val="1142"/>
            </a:srgbClr>
          </a:solidFill>
          <a:ln>
            <a:noFill/>
          </a:ln>
        </p:spPr>
      </p:sp>
      <p:sp>
        <p:nvSpPr>
          <p:cNvPr id="93" name="wm.whiteboard.198.18"/>
          <p:cNvSpPr/>
          <p:nvPr/>
        </p:nvSpPr>
        <p:spPr>
          <a:xfrm>
            <a:off x="3238500" y="457200"/>
            <a:ext cx="38100" cy="38100"/>
          </a:xfrm>
          <a:prstGeom prst="rect">
            <a:avLst/>
          </a:prstGeom>
          <a:solidFill>
            <a:srgbClr val="CED7E6">
              <a:alpha val="69"/>
            </a:srgbClr>
          </a:solidFill>
          <a:ln>
            <a:noFill/>
          </a:ln>
        </p:spPr>
      </p:sp>
      <p:sp>
        <p:nvSpPr>
          <p:cNvPr id="94" name="wm.header.rule"/>
          <p:cNvSpPr/>
          <p:nvPr/>
        </p:nvSpPr>
        <p:spPr>
          <a:xfrm>
            <a:off x="723900" y="18288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pic>
        <p:nvPicPr>
          <p:cNvPr id="95" name="wm.logo" descr="West Monro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6210300"/>
            <a:ext cx="729403" cy="152400"/>
          </a:xfrm>
          <a:prstGeom prst="rect">
            <a:avLst/>
          </a:prstGeom>
        </p:spPr>
      </p:pic>
      <p:sp>
        <p:nvSpPr>
          <p:cNvPr id="96" name="wm.legal"/>
          <p:cNvSpPr/>
          <p:nvPr/>
        </p:nvSpPr>
        <p:spPr>
          <a:xfrm>
            <a:off x="2171700" y="6172200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spc="0" kern="0" b="0" i="0" dirty="0">
                <a:solidFill>
                  <a:srgbClr val="50658E"/>
                </a:solidFill>
                <a:latin typeface="IBM Plex Mono"/>
                <a:ea typeface="IBM Plex Mono"/>
                <a:cs typeface="IBM Plex Mono"/>
              </a:rPr>
              <a:t>© 2026 West Monroe Partners | Reproduction and/or distribution without West Monroe Partners’ prior consent is prohibited.</a:t>
            </a:r>
            <a:endParaRPr lang="en-US" sz="700" spc="0" kern="0" b="0" i="0" dirty="0">
              <a:solidFill>
                <a:srgbClr val="50658E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mds.frame.03f2044367179651ea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footer.rule"/>
          <p:cNvSpPr/>
          <p:nvPr/>
        </p:nvSpPr>
        <p:spPr>
          <a:xfrm>
            <a:off x="723900" y="60579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" name="wm.whiteboard.0.0"/>
          <p:cNvSpPr/>
          <p:nvPr/>
        </p:nvSpPr>
        <p:spPr>
          <a:xfrm>
            <a:off x="75819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whiteboard.0.18"/>
          <p:cNvSpPr/>
          <p:nvPr/>
        </p:nvSpPr>
        <p:spPr>
          <a:xfrm>
            <a:off x="75819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whiteboard.0.36"/>
          <p:cNvSpPr/>
          <p:nvPr/>
        </p:nvSpPr>
        <p:spPr>
          <a:xfrm>
            <a:off x="7581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whiteboard.0.54"/>
          <p:cNvSpPr/>
          <p:nvPr/>
        </p:nvSpPr>
        <p:spPr>
          <a:xfrm>
            <a:off x="75819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whiteboard.0.72"/>
          <p:cNvSpPr/>
          <p:nvPr/>
        </p:nvSpPr>
        <p:spPr>
          <a:xfrm>
            <a:off x="7581900" y="1143000"/>
            <a:ext cx="38100" cy="38100"/>
          </a:xfrm>
          <a:prstGeom prst="rect">
            <a:avLst/>
          </a:prstGeom>
          <a:solidFill>
            <a:srgbClr val="CED7E6">
              <a:alpha val="85305"/>
            </a:srgbClr>
          </a:solidFill>
          <a:ln>
            <a:noFill/>
          </a:ln>
        </p:spPr>
      </p:sp>
      <p:sp>
        <p:nvSpPr>
          <p:cNvPr id="8" name="wm.whiteboard.0.90"/>
          <p:cNvSpPr/>
          <p:nvPr/>
        </p:nvSpPr>
        <p:spPr>
          <a:xfrm>
            <a:off x="7581900" y="1371600"/>
            <a:ext cx="38100" cy="38100"/>
          </a:xfrm>
          <a:prstGeom prst="rect">
            <a:avLst/>
          </a:prstGeom>
          <a:solidFill>
            <a:srgbClr val="CED7E6">
              <a:alpha val="68524"/>
            </a:srgbClr>
          </a:solidFill>
          <a:ln>
            <a:noFill/>
          </a:ln>
        </p:spPr>
      </p:sp>
      <p:sp>
        <p:nvSpPr>
          <p:cNvPr id="9" name="wm.whiteboard.0.108"/>
          <p:cNvSpPr/>
          <p:nvPr/>
        </p:nvSpPr>
        <p:spPr>
          <a:xfrm>
            <a:off x="7581900" y="1600200"/>
            <a:ext cx="38100" cy="38100"/>
          </a:xfrm>
          <a:prstGeom prst="rect">
            <a:avLst/>
          </a:prstGeom>
          <a:solidFill>
            <a:srgbClr val="CED7E6">
              <a:alpha val="51742"/>
            </a:srgbClr>
          </a:solidFill>
          <a:ln>
            <a:noFill/>
          </a:ln>
        </p:spPr>
      </p:sp>
      <p:sp>
        <p:nvSpPr>
          <p:cNvPr id="10" name="wm.whiteboard.0.126"/>
          <p:cNvSpPr/>
          <p:nvPr/>
        </p:nvSpPr>
        <p:spPr>
          <a:xfrm>
            <a:off x="7581900" y="1828800"/>
            <a:ext cx="38100" cy="38100"/>
          </a:xfrm>
          <a:prstGeom prst="rect">
            <a:avLst/>
          </a:prstGeom>
          <a:solidFill>
            <a:srgbClr val="CED7E6">
              <a:alpha val="34959"/>
            </a:srgbClr>
          </a:solidFill>
          <a:ln>
            <a:noFill/>
          </a:ln>
        </p:spPr>
      </p:sp>
      <p:sp>
        <p:nvSpPr>
          <p:cNvPr id="11" name="wm.whiteboard.0.144"/>
          <p:cNvSpPr/>
          <p:nvPr/>
        </p:nvSpPr>
        <p:spPr>
          <a:xfrm>
            <a:off x="7581900" y="2057400"/>
            <a:ext cx="38100" cy="38100"/>
          </a:xfrm>
          <a:prstGeom prst="rect">
            <a:avLst/>
          </a:prstGeom>
          <a:solidFill>
            <a:srgbClr val="CED7E6">
              <a:alpha val="18177"/>
            </a:srgbClr>
          </a:solidFill>
          <a:ln>
            <a:noFill/>
          </a:ln>
        </p:spPr>
      </p:sp>
      <p:sp>
        <p:nvSpPr>
          <p:cNvPr id="12" name="wm.whiteboard.0.162"/>
          <p:cNvSpPr/>
          <p:nvPr/>
        </p:nvSpPr>
        <p:spPr>
          <a:xfrm>
            <a:off x="7581900" y="2286000"/>
            <a:ext cx="38100" cy="38100"/>
          </a:xfrm>
          <a:prstGeom prst="rect">
            <a:avLst/>
          </a:prstGeom>
          <a:solidFill>
            <a:srgbClr val="CED7E6">
              <a:alpha val="1394"/>
            </a:srgbClr>
          </a:solidFill>
          <a:ln>
            <a:noFill/>
          </a:ln>
        </p:spPr>
      </p:sp>
      <p:sp>
        <p:nvSpPr>
          <p:cNvPr id="13" name="wm.whiteboard.18.0"/>
          <p:cNvSpPr/>
          <p:nvPr/>
        </p:nvSpPr>
        <p:spPr>
          <a:xfrm>
            <a:off x="78105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" name="wm.whiteboard.18.18"/>
          <p:cNvSpPr/>
          <p:nvPr/>
        </p:nvSpPr>
        <p:spPr>
          <a:xfrm>
            <a:off x="78105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" name="wm.whiteboard.18.36"/>
          <p:cNvSpPr/>
          <p:nvPr/>
        </p:nvSpPr>
        <p:spPr>
          <a:xfrm>
            <a:off x="78105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" name="wm.whiteboard.18.54"/>
          <p:cNvSpPr/>
          <p:nvPr/>
        </p:nvSpPr>
        <p:spPr>
          <a:xfrm>
            <a:off x="7810500" y="914400"/>
            <a:ext cx="38100" cy="38100"/>
          </a:xfrm>
          <a:prstGeom prst="rect">
            <a:avLst/>
          </a:prstGeom>
          <a:solidFill>
            <a:srgbClr val="CED7E6">
              <a:alpha val="99988"/>
            </a:srgbClr>
          </a:solidFill>
          <a:ln>
            <a:noFill/>
          </a:ln>
        </p:spPr>
      </p:sp>
      <p:sp>
        <p:nvSpPr>
          <p:cNvPr id="17" name="wm.whiteboard.18.72"/>
          <p:cNvSpPr/>
          <p:nvPr/>
        </p:nvSpPr>
        <p:spPr>
          <a:xfrm>
            <a:off x="7810500" y="1143000"/>
            <a:ext cx="38100" cy="38100"/>
          </a:xfrm>
          <a:prstGeom prst="rect">
            <a:avLst/>
          </a:prstGeom>
          <a:solidFill>
            <a:srgbClr val="CED7E6">
              <a:alpha val="83708"/>
            </a:srgbClr>
          </a:solidFill>
          <a:ln>
            <a:noFill/>
          </a:ln>
        </p:spPr>
      </p:sp>
      <p:sp>
        <p:nvSpPr>
          <p:cNvPr id="18" name="wm.whiteboard.18.90"/>
          <p:cNvSpPr/>
          <p:nvPr/>
        </p:nvSpPr>
        <p:spPr>
          <a:xfrm>
            <a:off x="7810500" y="1371600"/>
            <a:ext cx="38100" cy="38100"/>
          </a:xfrm>
          <a:prstGeom prst="rect">
            <a:avLst/>
          </a:prstGeom>
          <a:solidFill>
            <a:srgbClr val="CED7E6">
              <a:alpha val="67236"/>
            </a:srgbClr>
          </a:solidFill>
          <a:ln>
            <a:noFill/>
          </a:ln>
        </p:spPr>
      </p:sp>
      <p:sp>
        <p:nvSpPr>
          <p:cNvPr id="19" name="wm.whiteboard.18.108"/>
          <p:cNvSpPr/>
          <p:nvPr/>
        </p:nvSpPr>
        <p:spPr>
          <a:xfrm>
            <a:off x="7810500" y="1600200"/>
            <a:ext cx="38100" cy="38100"/>
          </a:xfrm>
          <a:prstGeom prst="rect">
            <a:avLst/>
          </a:prstGeom>
          <a:solidFill>
            <a:srgbClr val="CED7E6">
              <a:alpha val="50663"/>
            </a:srgbClr>
          </a:solidFill>
          <a:ln>
            <a:noFill/>
          </a:ln>
        </p:spPr>
      </p:sp>
      <p:sp>
        <p:nvSpPr>
          <p:cNvPr id="20" name="wm.whiteboard.18.126"/>
          <p:cNvSpPr/>
          <p:nvPr/>
        </p:nvSpPr>
        <p:spPr>
          <a:xfrm>
            <a:off x="7810500" y="1828800"/>
            <a:ext cx="38100" cy="38100"/>
          </a:xfrm>
          <a:prstGeom prst="rect">
            <a:avLst/>
          </a:prstGeom>
          <a:solidFill>
            <a:srgbClr val="CED7E6">
              <a:alpha val="34032"/>
            </a:srgbClr>
          </a:solidFill>
          <a:ln>
            <a:noFill/>
          </a:ln>
        </p:spPr>
      </p:sp>
      <p:sp>
        <p:nvSpPr>
          <p:cNvPr id="21" name="wm.whiteboard.18.144"/>
          <p:cNvSpPr/>
          <p:nvPr/>
        </p:nvSpPr>
        <p:spPr>
          <a:xfrm>
            <a:off x="7810500" y="2057400"/>
            <a:ext cx="38100" cy="38100"/>
          </a:xfrm>
          <a:prstGeom prst="rect">
            <a:avLst/>
          </a:prstGeom>
          <a:solidFill>
            <a:srgbClr val="CED7E6">
              <a:alpha val="17363"/>
            </a:srgbClr>
          </a:solidFill>
          <a:ln>
            <a:noFill/>
          </a:ln>
        </p:spPr>
      </p:sp>
      <p:sp>
        <p:nvSpPr>
          <p:cNvPr id="22" name="wm.whiteboard.18.162"/>
          <p:cNvSpPr/>
          <p:nvPr/>
        </p:nvSpPr>
        <p:spPr>
          <a:xfrm>
            <a:off x="7810500" y="2286000"/>
            <a:ext cx="38100" cy="38100"/>
          </a:xfrm>
          <a:prstGeom prst="rect">
            <a:avLst/>
          </a:prstGeom>
          <a:solidFill>
            <a:srgbClr val="CED7E6">
              <a:alpha val="670"/>
            </a:srgbClr>
          </a:solidFill>
          <a:ln>
            <a:noFill/>
          </a:ln>
        </p:spPr>
      </p:sp>
      <p:sp>
        <p:nvSpPr>
          <p:cNvPr id="23" name="wm.whiteboard.36.0"/>
          <p:cNvSpPr/>
          <p:nvPr/>
        </p:nvSpPr>
        <p:spPr>
          <a:xfrm>
            <a:off x="80391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" name="wm.whiteboard.36.18"/>
          <p:cNvSpPr/>
          <p:nvPr/>
        </p:nvSpPr>
        <p:spPr>
          <a:xfrm>
            <a:off x="80391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" name="wm.whiteboard.36.36"/>
          <p:cNvSpPr/>
          <p:nvPr/>
        </p:nvSpPr>
        <p:spPr>
          <a:xfrm>
            <a:off x="80391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" name="wm.whiteboard.36.54"/>
          <p:cNvSpPr/>
          <p:nvPr/>
        </p:nvSpPr>
        <p:spPr>
          <a:xfrm>
            <a:off x="8039100" y="914400"/>
            <a:ext cx="38100" cy="38100"/>
          </a:xfrm>
          <a:prstGeom prst="rect">
            <a:avLst/>
          </a:prstGeom>
          <a:solidFill>
            <a:srgbClr val="CED7E6">
              <a:alpha val="94671"/>
            </a:srgbClr>
          </a:solidFill>
          <a:ln>
            <a:noFill/>
          </a:ln>
        </p:spPr>
      </p:sp>
      <p:sp>
        <p:nvSpPr>
          <p:cNvPr id="27" name="wm.whiteboard.36.72"/>
          <p:cNvSpPr/>
          <p:nvPr/>
        </p:nvSpPr>
        <p:spPr>
          <a:xfrm>
            <a:off x="8039100" y="1143000"/>
            <a:ext cx="38100" cy="38100"/>
          </a:xfrm>
          <a:prstGeom prst="rect">
            <a:avLst/>
          </a:prstGeom>
          <a:solidFill>
            <a:srgbClr val="CED7E6">
              <a:alpha val="79547"/>
            </a:srgbClr>
          </a:solidFill>
          <a:ln>
            <a:noFill/>
          </a:ln>
        </p:spPr>
      </p:sp>
      <p:sp>
        <p:nvSpPr>
          <p:cNvPr id="28" name="wm.whiteboard.36.90"/>
          <p:cNvSpPr/>
          <p:nvPr/>
        </p:nvSpPr>
        <p:spPr>
          <a:xfrm>
            <a:off x="8039100" y="1371600"/>
            <a:ext cx="38100" cy="38100"/>
          </a:xfrm>
          <a:prstGeom prst="rect">
            <a:avLst/>
          </a:prstGeom>
          <a:solidFill>
            <a:srgbClr val="CED7E6">
              <a:alpha val="63833"/>
            </a:srgbClr>
          </a:solidFill>
          <a:ln>
            <a:noFill/>
          </a:ln>
        </p:spPr>
      </p:sp>
      <p:sp>
        <p:nvSpPr>
          <p:cNvPr id="29" name="wm.whiteboard.36.108"/>
          <p:cNvSpPr/>
          <p:nvPr/>
        </p:nvSpPr>
        <p:spPr>
          <a:xfrm>
            <a:off x="8039100" y="1600200"/>
            <a:ext cx="38100" cy="38100"/>
          </a:xfrm>
          <a:prstGeom prst="rect">
            <a:avLst/>
          </a:prstGeom>
          <a:solidFill>
            <a:srgbClr val="CED7E6">
              <a:alpha val="47790"/>
            </a:srgbClr>
          </a:solidFill>
          <a:ln>
            <a:noFill/>
          </a:ln>
        </p:spPr>
      </p:sp>
      <p:sp>
        <p:nvSpPr>
          <p:cNvPr id="30" name="wm.whiteboard.36.126"/>
          <p:cNvSpPr/>
          <p:nvPr/>
        </p:nvSpPr>
        <p:spPr>
          <a:xfrm>
            <a:off x="8039100" y="1828800"/>
            <a:ext cx="38100" cy="38100"/>
          </a:xfrm>
          <a:prstGeom prst="rect">
            <a:avLst/>
          </a:prstGeom>
          <a:solidFill>
            <a:srgbClr val="CED7E6">
              <a:alpha val="31549"/>
            </a:srgbClr>
          </a:solidFill>
          <a:ln>
            <a:noFill/>
          </a:ln>
        </p:spPr>
      </p:sp>
      <p:sp>
        <p:nvSpPr>
          <p:cNvPr id="31" name="wm.whiteboard.36.144"/>
          <p:cNvSpPr/>
          <p:nvPr/>
        </p:nvSpPr>
        <p:spPr>
          <a:xfrm>
            <a:off x="8039100" y="2057400"/>
            <a:ext cx="38100" cy="38100"/>
          </a:xfrm>
          <a:prstGeom prst="rect">
            <a:avLst/>
          </a:prstGeom>
          <a:solidFill>
            <a:srgbClr val="CED7E6">
              <a:alpha val="15179"/>
            </a:srgbClr>
          </a:solidFill>
          <a:ln>
            <a:noFill/>
          </a:ln>
        </p:spPr>
      </p:sp>
      <p:sp>
        <p:nvSpPr>
          <p:cNvPr id="32" name="wm.whiteboard.54.0"/>
          <p:cNvSpPr/>
          <p:nvPr/>
        </p:nvSpPr>
        <p:spPr>
          <a:xfrm>
            <a:off x="82677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" name="wm.whiteboard.54.18"/>
          <p:cNvSpPr/>
          <p:nvPr/>
        </p:nvSpPr>
        <p:spPr>
          <a:xfrm>
            <a:off x="82677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" name="wm.whiteboard.54.36"/>
          <p:cNvSpPr/>
          <p:nvPr/>
        </p:nvSpPr>
        <p:spPr>
          <a:xfrm>
            <a:off x="8267700" y="685800"/>
            <a:ext cx="38100" cy="38100"/>
          </a:xfrm>
          <a:prstGeom prst="rect">
            <a:avLst/>
          </a:prstGeom>
          <a:solidFill>
            <a:srgbClr val="CED7E6">
              <a:alpha val="98827"/>
            </a:srgbClr>
          </a:solidFill>
          <a:ln>
            <a:noFill/>
          </a:ln>
        </p:spPr>
      </p:sp>
      <p:sp>
        <p:nvSpPr>
          <p:cNvPr id="35" name="wm.whiteboard.54.54"/>
          <p:cNvSpPr/>
          <p:nvPr/>
        </p:nvSpPr>
        <p:spPr>
          <a:xfrm>
            <a:off x="8267700" y="914400"/>
            <a:ext cx="38100" cy="38100"/>
          </a:xfrm>
          <a:prstGeom prst="rect">
            <a:avLst/>
          </a:prstGeom>
          <a:solidFill>
            <a:srgbClr val="CED7E6">
              <a:alpha val="86895"/>
            </a:srgbClr>
          </a:solidFill>
          <a:ln>
            <a:noFill/>
          </a:ln>
        </p:spPr>
      </p:sp>
      <p:sp>
        <p:nvSpPr>
          <p:cNvPr id="36" name="wm.whiteboard.54.72"/>
          <p:cNvSpPr/>
          <p:nvPr/>
        </p:nvSpPr>
        <p:spPr>
          <a:xfrm>
            <a:off x="8267700" y="1143000"/>
            <a:ext cx="38100" cy="38100"/>
          </a:xfrm>
          <a:prstGeom prst="rect">
            <a:avLst/>
          </a:prstGeom>
          <a:solidFill>
            <a:srgbClr val="CED7E6">
              <a:alpha val="73217"/>
            </a:srgbClr>
          </a:solidFill>
          <a:ln>
            <a:noFill/>
          </a:ln>
        </p:spPr>
      </p:sp>
      <p:sp>
        <p:nvSpPr>
          <p:cNvPr id="37" name="wm.whiteboard.54.90"/>
          <p:cNvSpPr/>
          <p:nvPr/>
        </p:nvSpPr>
        <p:spPr>
          <a:xfrm>
            <a:off x="8267700" y="1371600"/>
            <a:ext cx="38100" cy="38100"/>
          </a:xfrm>
          <a:prstGeom prst="rect">
            <a:avLst/>
          </a:prstGeom>
          <a:solidFill>
            <a:srgbClr val="CED7E6">
              <a:alpha val="58541"/>
            </a:srgbClr>
          </a:solidFill>
          <a:ln>
            <a:noFill/>
          </a:ln>
        </p:spPr>
      </p:sp>
      <p:sp>
        <p:nvSpPr>
          <p:cNvPr id="38" name="wm.whiteboard.54.108"/>
          <p:cNvSpPr/>
          <p:nvPr/>
        </p:nvSpPr>
        <p:spPr>
          <a:xfrm>
            <a:off x="8267700" y="1600200"/>
            <a:ext cx="38100" cy="38100"/>
          </a:xfrm>
          <a:prstGeom prst="rect">
            <a:avLst/>
          </a:prstGeom>
          <a:solidFill>
            <a:srgbClr val="CED7E6">
              <a:alpha val="43263"/>
            </a:srgbClr>
          </a:solidFill>
          <a:ln>
            <a:noFill/>
          </a:ln>
        </p:spPr>
      </p:sp>
      <p:sp>
        <p:nvSpPr>
          <p:cNvPr id="39" name="wm.whiteboard.54.126"/>
          <p:cNvSpPr/>
          <p:nvPr/>
        </p:nvSpPr>
        <p:spPr>
          <a:xfrm>
            <a:off x="8267700" y="1828800"/>
            <a:ext cx="38100" cy="38100"/>
          </a:xfrm>
          <a:prstGeom prst="rect">
            <a:avLst/>
          </a:prstGeom>
          <a:solidFill>
            <a:srgbClr val="CED7E6">
              <a:alpha val="27603"/>
            </a:srgbClr>
          </a:solidFill>
          <a:ln>
            <a:noFill/>
          </a:ln>
        </p:spPr>
      </p:sp>
      <p:sp>
        <p:nvSpPr>
          <p:cNvPr id="40" name="wm.whiteboard.54.144"/>
          <p:cNvSpPr/>
          <p:nvPr/>
        </p:nvSpPr>
        <p:spPr>
          <a:xfrm>
            <a:off x="8267700" y="2057400"/>
            <a:ext cx="38100" cy="38100"/>
          </a:xfrm>
          <a:prstGeom prst="rect">
            <a:avLst/>
          </a:prstGeom>
          <a:solidFill>
            <a:srgbClr val="CED7E6">
              <a:alpha val="11687"/>
            </a:srgbClr>
          </a:solidFill>
          <a:ln>
            <a:noFill/>
          </a:ln>
        </p:spPr>
      </p:sp>
      <p:sp>
        <p:nvSpPr>
          <p:cNvPr id="41" name="wm.whiteboard.72.0"/>
          <p:cNvSpPr/>
          <p:nvPr/>
        </p:nvSpPr>
        <p:spPr>
          <a:xfrm>
            <a:off x="8496300" y="228600"/>
            <a:ext cx="38100" cy="38100"/>
          </a:xfrm>
          <a:prstGeom prst="rect">
            <a:avLst/>
          </a:prstGeom>
          <a:solidFill>
            <a:srgbClr val="CED7E6">
              <a:alpha val="97572"/>
            </a:srgbClr>
          </a:solidFill>
          <a:ln>
            <a:noFill/>
          </a:ln>
        </p:spPr>
      </p:sp>
      <p:sp>
        <p:nvSpPr>
          <p:cNvPr id="42" name="wm.whiteboard.72.18"/>
          <p:cNvSpPr/>
          <p:nvPr/>
        </p:nvSpPr>
        <p:spPr>
          <a:xfrm>
            <a:off x="8496300" y="457200"/>
            <a:ext cx="38100" cy="38100"/>
          </a:xfrm>
          <a:prstGeom prst="rect">
            <a:avLst/>
          </a:prstGeom>
          <a:solidFill>
            <a:srgbClr val="CED7E6">
              <a:alpha val="94724"/>
            </a:srgbClr>
          </a:solidFill>
          <a:ln>
            <a:noFill/>
          </a:ln>
        </p:spPr>
      </p:sp>
      <p:sp>
        <p:nvSpPr>
          <p:cNvPr id="43" name="wm.whiteboard.72.36"/>
          <p:cNvSpPr/>
          <p:nvPr/>
        </p:nvSpPr>
        <p:spPr>
          <a:xfrm>
            <a:off x="8496300" y="685800"/>
            <a:ext cx="38100" cy="38100"/>
          </a:xfrm>
          <a:prstGeom prst="rect">
            <a:avLst/>
          </a:prstGeom>
          <a:solidFill>
            <a:srgbClr val="CED7E6">
              <a:alpha val="87609"/>
            </a:srgbClr>
          </a:solidFill>
          <a:ln>
            <a:noFill/>
          </a:ln>
        </p:spPr>
      </p:sp>
      <p:sp>
        <p:nvSpPr>
          <p:cNvPr id="44" name="wm.whiteboard.72.54"/>
          <p:cNvSpPr/>
          <p:nvPr/>
        </p:nvSpPr>
        <p:spPr>
          <a:xfrm>
            <a:off x="8496300" y="914400"/>
            <a:ext cx="38100" cy="38100"/>
          </a:xfrm>
          <a:prstGeom prst="rect">
            <a:avLst/>
          </a:prstGeom>
          <a:solidFill>
            <a:srgbClr val="CED7E6">
              <a:alpha val="77408"/>
            </a:srgbClr>
          </a:solidFill>
          <a:ln>
            <a:noFill/>
          </a:ln>
        </p:spPr>
      </p:sp>
      <p:sp>
        <p:nvSpPr>
          <p:cNvPr id="45" name="wm.whiteboard.72.72"/>
          <p:cNvSpPr/>
          <p:nvPr/>
        </p:nvSpPr>
        <p:spPr>
          <a:xfrm>
            <a:off x="8496300" y="1143000"/>
            <a:ext cx="38100" cy="38100"/>
          </a:xfrm>
          <a:prstGeom prst="rect">
            <a:avLst/>
          </a:prstGeom>
          <a:solidFill>
            <a:srgbClr val="CED7E6">
              <a:alpha val="65181"/>
            </a:srgbClr>
          </a:solidFill>
          <a:ln>
            <a:noFill/>
          </a:ln>
        </p:spPr>
      </p:sp>
      <p:sp>
        <p:nvSpPr>
          <p:cNvPr id="46" name="wm.whiteboard.72.90"/>
          <p:cNvSpPr/>
          <p:nvPr/>
        </p:nvSpPr>
        <p:spPr>
          <a:xfrm>
            <a:off x="8496300" y="1371600"/>
            <a:ext cx="38100" cy="38100"/>
          </a:xfrm>
          <a:prstGeom prst="rect">
            <a:avLst/>
          </a:prstGeom>
          <a:solidFill>
            <a:srgbClr val="CED7E6">
              <a:alpha val="51653"/>
            </a:srgbClr>
          </a:solidFill>
          <a:ln>
            <a:noFill/>
          </a:ln>
        </p:spPr>
      </p:sp>
      <p:sp>
        <p:nvSpPr>
          <p:cNvPr id="47" name="wm.whiteboard.72.108"/>
          <p:cNvSpPr/>
          <p:nvPr/>
        </p:nvSpPr>
        <p:spPr>
          <a:xfrm>
            <a:off x="8496300" y="1600200"/>
            <a:ext cx="38100" cy="38100"/>
          </a:xfrm>
          <a:prstGeom prst="rect">
            <a:avLst/>
          </a:prstGeom>
          <a:solidFill>
            <a:srgbClr val="CED7E6">
              <a:alpha val="37275"/>
            </a:srgbClr>
          </a:solidFill>
          <a:ln>
            <a:noFill/>
          </a:ln>
        </p:spPr>
      </p:sp>
      <p:sp>
        <p:nvSpPr>
          <p:cNvPr id="48" name="wm.whiteboard.72.126"/>
          <p:cNvSpPr/>
          <p:nvPr/>
        </p:nvSpPr>
        <p:spPr>
          <a:xfrm>
            <a:off x="8496300" y="1828800"/>
            <a:ext cx="38100" cy="38100"/>
          </a:xfrm>
          <a:prstGeom prst="rect">
            <a:avLst/>
          </a:prstGeom>
          <a:solidFill>
            <a:srgbClr val="CED7E6">
              <a:alpha val="22326"/>
            </a:srgbClr>
          </a:solidFill>
          <a:ln>
            <a:noFill/>
          </a:ln>
        </p:spPr>
      </p:sp>
      <p:sp>
        <p:nvSpPr>
          <p:cNvPr id="49" name="wm.whiteboard.72.144"/>
          <p:cNvSpPr/>
          <p:nvPr/>
        </p:nvSpPr>
        <p:spPr>
          <a:xfrm>
            <a:off x="8496300" y="2057400"/>
            <a:ext cx="38100" cy="38100"/>
          </a:xfrm>
          <a:prstGeom prst="rect">
            <a:avLst/>
          </a:prstGeom>
          <a:solidFill>
            <a:srgbClr val="CED7E6">
              <a:alpha val="6980"/>
            </a:srgbClr>
          </a:solidFill>
          <a:ln>
            <a:noFill/>
          </a:ln>
        </p:spPr>
      </p:sp>
      <p:sp>
        <p:nvSpPr>
          <p:cNvPr id="50" name="wm.whiteboard.90.0"/>
          <p:cNvSpPr/>
          <p:nvPr/>
        </p:nvSpPr>
        <p:spPr>
          <a:xfrm>
            <a:off x="8724900" y="228600"/>
            <a:ext cx="38100" cy="38100"/>
          </a:xfrm>
          <a:prstGeom prst="rect">
            <a:avLst/>
          </a:prstGeom>
          <a:solidFill>
            <a:srgbClr val="CED7E6">
              <a:alpha val="83798"/>
            </a:srgbClr>
          </a:solidFill>
          <a:ln>
            <a:noFill/>
          </a:ln>
        </p:spPr>
      </p:sp>
      <p:sp>
        <p:nvSpPr>
          <p:cNvPr id="51" name="wm.whiteboard.90.18"/>
          <p:cNvSpPr/>
          <p:nvPr/>
        </p:nvSpPr>
        <p:spPr>
          <a:xfrm>
            <a:off x="8724900" y="457200"/>
            <a:ext cx="38100" cy="38100"/>
          </a:xfrm>
          <a:prstGeom prst="rect">
            <a:avLst/>
          </a:prstGeom>
          <a:solidFill>
            <a:srgbClr val="CED7E6">
              <a:alpha val="81490"/>
            </a:srgbClr>
          </a:solidFill>
          <a:ln>
            <a:noFill/>
          </a:ln>
        </p:spPr>
      </p:sp>
      <p:sp>
        <p:nvSpPr>
          <p:cNvPr id="52" name="wm.whiteboard.90.36"/>
          <p:cNvSpPr/>
          <p:nvPr/>
        </p:nvSpPr>
        <p:spPr>
          <a:xfrm>
            <a:off x="8724900" y="685800"/>
            <a:ext cx="38100" cy="38100"/>
          </a:xfrm>
          <a:prstGeom prst="rect">
            <a:avLst/>
          </a:prstGeom>
          <a:solidFill>
            <a:srgbClr val="CED7E6">
              <a:alpha val="75569"/>
            </a:srgbClr>
          </a:solidFill>
          <a:ln>
            <a:noFill/>
          </a:ln>
        </p:spPr>
      </p:sp>
      <p:sp>
        <p:nvSpPr>
          <p:cNvPr id="53" name="wm.whiteboard.90.54"/>
          <p:cNvSpPr/>
          <p:nvPr/>
        </p:nvSpPr>
        <p:spPr>
          <a:xfrm>
            <a:off x="8724900" y="914400"/>
            <a:ext cx="38100" cy="38100"/>
          </a:xfrm>
          <a:prstGeom prst="rect">
            <a:avLst/>
          </a:prstGeom>
          <a:solidFill>
            <a:srgbClr val="CED7E6">
              <a:alpha val="66767"/>
            </a:srgbClr>
          </a:solidFill>
          <a:ln>
            <a:noFill/>
          </a:ln>
        </p:spPr>
      </p:sp>
      <p:sp>
        <p:nvSpPr>
          <p:cNvPr id="54" name="wm.whiteboard.90.72"/>
          <p:cNvSpPr/>
          <p:nvPr/>
        </p:nvSpPr>
        <p:spPr>
          <a:xfrm>
            <a:off x="8724900" y="1143000"/>
            <a:ext cx="38100" cy="38100"/>
          </a:xfrm>
          <a:prstGeom prst="rect">
            <a:avLst/>
          </a:prstGeom>
          <a:solidFill>
            <a:srgbClr val="CED7E6">
              <a:alpha val="55859"/>
            </a:srgbClr>
          </a:solidFill>
          <a:ln>
            <a:noFill/>
          </a:ln>
        </p:spPr>
      </p:sp>
      <p:sp>
        <p:nvSpPr>
          <p:cNvPr id="55" name="wm.whiteboard.90.90"/>
          <p:cNvSpPr/>
          <p:nvPr/>
        </p:nvSpPr>
        <p:spPr>
          <a:xfrm>
            <a:off x="8724900" y="1371600"/>
            <a:ext cx="38100" cy="38100"/>
          </a:xfrm>
          <a:prstGeom prst="rect">
            <a:avLst/>
          </a:prstGeom>
          <a:solidFill>
            <a:srgbClr val="CED7E6">
              <a:alpha val="43468"/>
            </a:srgbClr>
          </a:solidFill>
          <a:ln>
            <a:noFill/>
          </a:ln>
        </p:spPr>
      </p:sp>
      <p:sp>
        <p:nvSpPr>
          <p:cNvPr id="56" name="wm.whiteboard.90.108"/>
          <p:cNvSpPr/>
          <p:nvPr/>
        </p:nvSpPr>
        <p:spPr>
          <a:xfrm>
            <a:off x="8724900" y="1600200"/>
            <a:ext cx="38100" cy="38100"/>
          </a:xfrm>
          <a:prstGeom prst="rect">
            <a:avLst/>
          </a:prstGeom>
          <a:solidFill>
            <a:srgbClr val="CED7E6">
              <a:alpha val="30037"/>
            </a:srgbClr>
          </a:solidFill>
          <a:ln>
            <a:noFill/>
          </a:ln>
        </p:spPr>
      </p:sp>
      <p:sp>
        <p:nvSpPr>
          <p:cNvPr id="57" name="wm.whiteboard.90.126"/>
          <p:cNvSpPr/>
          <p:nvPr/>
        </p:nvSpPr>
        <p:spPr>
          <a:xfrm>
            <a:off x="8724900" y="1828800"/>
            <a:ext cx="38100" cy="38100"/>
          </a:xfrm>
          <a:prstGeom prst="rect">
            <a:avLst/>
          </a:prstGeom>
          <a:solidFill>
            <a:srgbClr val="CED7E6">
              <a:alpha val="15870"/>
            </a:srgbClr>
          </a:solidFill>
          <a:ln>
            <a:noFill/>
          </a:ln>
        </p:spPr>
      </p:sp>
      <p:sp>
        <p:nvSpPr>
          <p:cNvPr id="58" name="wm.whiteboard.90.144"/>
          <p:cNvSpPr/>
          <p:nvPr/>
        </p:nvSpPr>
        <p:spPr>
          <a:xfrm>
            <a:off x="8724900" y="2057400"/>
            <a:ext cx="38100" cy="38100"/>
          </a:xfrm>
          <a:prstGeom prst="rect">
            <a:avLst/>
          </a:prstGeom>
          <a:solidFill>
            <a:srgbClr val="CED7E6">
              <a:alpha val="1171"/>
            </a:srgbClr>
          </a:solidFill>
          <a:ln>
            <a:noFill/>
          </a:ln>
        </p:spPr>
      </p:sp>
      <p:sp>
        <p:nvSpPr>
          <p:cNvPr id="59" name="wm.whiteboard.108.0"/>
          <p:cNvSpPr/>
          <p:nvPr/>
        </p:nvSpPr>
        <p:spPr>
          <a:xfrm>
            <a:off x="8953500" y="228600"/>
            <a:ext cx="38100" cy="38100"/>
          </a:xfrm>
          <a:prstGeom prst="rect">
            <a:avLst/>
          </a:prstGeom>
          <a:solidFill>
            <a:srgbClr val="CED7E6">
              <a:alpha val="70023"/>
            </a:srgbClr>
          </a:solidFill>
          <a:ln>
            <a:noFill/>
          </a:ln>
        </p:spPr>
      </p:sp>
      <p:sp>
        <p:nvSpPr>
          <p:cNvPr id="60" name="wm.whiteboard.108.18"/>
          <p:cNvSpPr/>
          <p:nvPr/>
        </p:nvSpPr>
        <p:spPr>
          <a:xfrm>
            <a:off x="8953500" y="457200"/>
            <a:ext cx="38100" cy="38100"/>
          </a:xfrm>
          <a:prstGeom prst="rect">
            <a:avLst/>
          </a:prstGeom>
          <a:solidFill>
            <a:srgbClr val="CED7E6">
              <a:alpha val="68085"/>
            </a:srgbClr>
          </a:solidFill>
          <a:ln>
            <a:noFill/>
          </a:ln>
        </p:spPr>
      </p:sp>
      <p:sp>
        <p:nvSpPr>
          <p:cNvPr id="61" name="wm.whiteboard.108.36"/>
          <p:cNvSpPr/>
          <p:nvPr/>
        </p:nvSpPr>
        <p:spPr>
          <a:xfrm>
            <a:off x="8953500" y="685800"/>
            <a:ext cx="38100" cy="38100"/>
          </a:xfrm>
          <a:prstGeom prst="rect">
            <a:avLst/>
          </a:prstGeom>
          <a:solidFill>
            <a:srgbClr val="CED7E6">
              <a:alpha val="63033"/>
            </a:srgbClr>
          </a:solidFill>
          <a:ln>
            <a:noFill/>
          </a:ln>
        </p:spPr>
      </p:sp>
      <p:sp>
        <p:nvSpPr>
          <p:cNvPr id="62" name="wm.whiteboard.108.54"/>
          <p:cNvSpPr/>
          <p:nvPr/>
        </p:nvSpPr>
        <p:spPr>
          <a:xfrm>
            <a:off x="8953500" y="914400"/>
            <a:ext cx="38100" cy="38100"/>
          </a:xfrm>
          <a:prstGeom prst="rect">
            <a:avLst/>
          </a:prstGeom>
          <a:solidFill>
            <a:srgbClr val="CED7E6">
              <a:alpha val="55346"/>
            </a:srgbClr>
          </a:solidFill>
          <a:ln>
            <a:noFill/>
          </a:ln>
        </p:spPr>
      </p:sp>
      <p:sp>
        <p:nvSpPr>
          <p:cNvPr id="63" name="wm.whiteboard.108.72"/>
          <p:cNvSpPr/>
          <p:nvPr/>
        </p:nvSpPr>
        <p:spPr>
          <a:xfrm>
            <a:off x="8953500" y="1143000"/>
            <a:ext cx="38100" cy="38100"/>
          </a:xfrm>
          <a:prstGeom prst="rect">
            <a:avLst/>
          </a:prstGeom>
          <a:solidFill>
            <a:srgbClr val="CED7E6">
              <a:alpha val="45583"/>
            </a:srgbClr>
          </a:solidFill>
          <a:ln>
            <a:noFill/>
          </a:ln>
        </p:spPr>
      </p:sp>
      <p:sp>
        <p:nvSpPr>
          <p:cNvPr id="64" name="wm.whiteboard.108.90"/>
          <p:cNvSpPr/>
          <p:nvPr/>
        </p:nvSpPr>
        <p:spPr>
          <a:xfrm>
            <a:off x="8953500" y="1371600"/>
            <a:ext cx="38100" cy="38100"/>
          </a:xfrm>
          <a:prstGeom prst="rect">
            <a:avLst/>
          </a:prstGeom>
          <a:solidFill>
            <a:srgbClr val="CED7E6">
              <a:alpha val="34251"/>
            </a:srgbClr>
          </a:solidFill>
          <a:ln>
            <a:noFill/>
          </a:ln>
        </p:spPr>
      </p:sp>
      <p:sp>
        <p:nvSpPr>
          <p:cNvPr id="65" name="wm.whiteboard.108.108"/>
          <p:cNvSpPr/>
          <p:nvPr/>
        </p:nvSpPr>
        <p:spPr>
          <a:xfrm>
            <a:off x="8953500" y="1600200"/>
            <a:ext cx="38100" cy="38100"/>
          </a:xfrm>
          <a:prstGeom prst="rect">
            <a:avLst/>
          </a:prstGeom>
          <a:solidFill>
            <a:srgbClr val="CED7E6">
              <a:alpha val="21754"/>
            </a:srgbClr>
          </a:solidFill>
          <a:ln>
            <a:noFill/>
          </a:ln>
        </p:spPr>
      </p:sp>
      <p:sp>
        <p:nvSpPr>
          <p:cNvPr id="66" name="wm.whiteboard.108.126"/>
          <p:cNvSpPr/>
          <p:nvPr/>
        </p:nvSpPr>
        <p:spPr>
          <a:xfrm>
            <a:off x="8953500" y="1828800"/>
            <a:ext cx="38100" cy="38100"/>
          </a:xfrm>
          <a:prstGeom prst="rect">
            <a:avLst/>
          </a:prstGeom>
          <a:solidFill>
            <a:srgbClr val="CED7E6">
              <a:alpha val="8391"/>
            </a:srgbClr>
          </a:solidFill>
          <a:ln>
            <a:noFill/>
          </a:ln>
        </p:spPr>
      </p:sp>
      <p:sp>
        <p:nvSpPr>
          <p:cNvPr id="67" name="wm.whiteboard.126.0"/>
          <p:cNvSpPr/>
          <p:nvPr/>
        </p:nvSpPr>
        <p:spPr>
          <a:xfrm>
            <a:off x="9182100" y="228600"/>
            <a:ext cx="38100" cy="38100"/>
          </a:xfrm>
          <a:prstGeom prst="rect">
            <a:avLst/>
          </a:prstGeom>
          <a:solidFill>
            <a:srgbClr val="CED7E6">
              <a:alpha val="56247"/>
            </a:srgbClr>
          </a:solidFill>
          <a:ln>
            <a:noFill/>
          </a:ln>
        </p:spPr>
      </p:sp>
      <p:sp>
        <p:nvSpPr>
          <p:cNvPr id="68" name="wm.whiteboard.126.18"/>
          <p:cNvSpPr/>
          <p:nvPr/>
        </p:nvSpPr>
        <p:spPr>
          <a:xfrm>
            <a:off x="9182100" y="457200"/>
            <a:ext cx="38100" cy="38100"/>
          </a:xfrm>
          <a:prstGeom prst="rect">
            <a:avLst/>
          </a:prstGeom>
          <a:solidFill>
            <a:srgbClr val="CED7E6">
              <a:alpha val="54578"/>
            </a:srgbClr>
          </a:solidFill>
          <a:ln>
            <a:noFill/>
          </a:ln>
        </p:spPr>
      </p:sp>
      <p:sp>
        <p:nvSpPr>
          <p:cNvPr id="69" name="wm.whiteboard.126.36"/>
          <p:cNvSpPr/>
          <p:nvPr/>
        </p:nvSpPr>
        <p:spPr>
          <a:xfrm>
            <a:off x="9182100" y="685800"/>
            <a:ext cx="38100" cy="38100"/>
          </a:xfrm>
          <a:prstGeom prst="rect">
            <a:avLst/>
          </a:prstGeom>
          <a:solidFill>
            <a:srgbClr val="CED7E6">
              <a:alpha val="50182"/>
            </a:srgbClr>
          </a:solidFill>
          <a:ln>
            <a:noFill/>
          </a:ln>
        </p:spPr>
      </p:sp>
      <p:sp>
        <p:nvSpPr>
          <p:cNvPr id="70" name="wm.whiteboard.126.54"/>
          <p:cNvSpPr/>
          <p:nvPr/>
        </p:nvSpPr>
        <p:spPr>
          <a:xfrm>
            <a:off x="9182100" y="914400"/>
            <a:ext cx="38100" cy="38100"/>
          </a:xfrm>
          <a:prstGeom prst="rect">
            <a:avLst/>
          </a:prstGeom>
          <a:solidFill>
            <a:srgbClr val="CED7E6">
              <a:alpha val="43386"/>
            </a:srgbClr>
          </a:solidFill>
          <a:ln>
            <a:noFill/>
          </a:ln>
        </p:spPr>
      </p:sp>
      <p:sp>
        <p:nvSpPr>
          <p:cNvPr id="71" name="wm.whiteboard.126.72"/>
          <p:cNvSpPr/>
          <p:nvPr/>
        </p:nvSpPr>
        <p:spPr>
          <a:xfrm>
            <a:off x="9182100" y="1143000"/>
            <a:ext cx="38100" cy="38100"/>
          </a:xfrm>
          <a:prstGeom prst="rect">
            <a:avLst/>
          </a:prstGeom>
          <a:solidFill>
            <a:srgbClr val="CED7E6">
              <a:alpha val="34598"/>
            </a:srgbClr>
          </a:solidFill>
          <a:ln>
            <a:noFill/>
          </a:ln>
        </p:spPr>
      </p:sp>
      <p:sp>
        <p:nvSpPr>
          <p:cNvPr id="72" name="wm.whiteboard.126.90"/>
          <p:cNvSpPr/>
          <p:nvPr/>
        </p:nvSpPr>
        <p:spPr>
          <a:xfrm>
            <a:off x="9182100" y="1371600"/>
            <a:ext cx="38100" cy="38100"/>
          </a:xfrm>
          <a:prstGeom prst="rect">
            <a:avLst/>
          </a:prstGeom>
          <a:solidFill>
            <a:srgbClr val="CED7E6">
              <a:alpha val="24223"/>
            </a:srgbClr>
          </a:solidFill>
          <a:ln>
            <a:noFill/>
          </a:ln>
        </p:spPr>
      </p:sp>
      <p:sp>
        <p:nvSpPr>
          <p:cNvPr id="73" name="wm.whiteboard.126.108"/>
          <p:cNvSpPr/>
          <p:nvPr/>
        </p:nvSpPr>
        <p:spPr>
          <a:xfrm>
            <a:off x="9182100" y="1600200"/>
            <a:ext cx="38100" cy="38100"/>
          </a:xfrm>
          <a:prstGeom prst="rect">
            <a:avLst/>
          </a:prstGeom>
          <a:solidFill>
            <a:srgbClr val="CED7E6">
              <a:alpha val="12610"/>
            </a:srgbClr>
          </a:solidFill>
          <a:ln>
            <a:noFill/>
          </a:ln>
        </p:spPr>
      </p:sp>
      <p:sp>
        <p:nvSpPr>
          <p:cNvPr id="74" name="wm.whiteboard.126.126"/>
          <p:cNvSpPr/>
          <p:nvPr/>
        </p:nvSpPr>
        <p:spPr>
          <a:xfrm>
            <a:off x="9182100" y="1828800"/>
            <a:ext cx="38100" cy="38100"/>
          </a:xfrm>
          <a:prstGeom prst="rect">
            <a:avLst/>
          </a:prstGeom>
          <a:solidFill>
            <a:srgbClr val="CED7E6">
              <a:alpha val="40"/>
            </a:srgbClr>
          </a:solidFill>
          <a:ln>
            <a:noFill/>
          </a:ln>
        </p:spPr>
      </p:sp>
      <p:sp>
        <p:nvSpPr>
          <p:cNvPr id="75" name="wm.whiteboard.144.0"/>
          <p:cNvSpPr/>
          <p:nvPr/>
        </p:nvSpPr>
        <p:spPr>
          <a:xfrm>
            <a:off x="9410700" y="228600"/>
            <a:ext cx="38100" cy="38100"/>
          </a:xfrm>
          <a:prstGeom prst="rect">
            <a:avLst/>
          </a:prstGeom>
          <a:solidFill>
            <a:srgbClr val="CED7E6">
              <a:alpha val="42471"/>
            </a:srgbClr>
          </a:solidFill>
          <a:ln>
            <a:noFill/>
          </a:ln>
        </p:spPr>
      </p:sp>
      <p:sp>
        <p:nvSpPr>
          <p:cNvPr id="76" name="wm.whiteboard.144.18"/>
          <p:cNvSpPr/>
          <p:nvPr/>
        </p:nvSpPr>
        <p:spPr>
          <a:xfrm>
            <a:off x="9410700" y="457200"/>
            <a:ext cx="38100" cy="38100"/>
          </a:xfrm>
          <a:prstGeom prst="rect">
            <a:avLst/>
          </a:prstGeom>
          <a:solidFill>
            <a:srgbClr val="CED7E6">
              <a:alpha val="41005"/>
            </a:srgbClr>
          </a:solidFill>
          <a:ln>
            <a:noFill/>
          </a:ln>
        </p:spPr>
      </p:sp>
      <p:sp>
        <p:nvSpPr>
          <p:cNvPr id="77" name="wm.whiteboard.144.36"/>
          <p:cNvSpPr/>
          <p:nvPr/>
        </p:nvSpPr>
        <p:spPr>
          <a:xfrm>
            <a:off x="9410700" y="685800"/>
            <a:ext cx="38100" cy="38100"/>
          </a:xfrm>
          <a:prstGeom prst="rect">
            <a:avLst/>
          </a:prstGeom>
          <a:solidFill>
            <a:srgbClr val="CED7E6">
              <a:alpha val="37120"/>
            </a:srgbClr>
          </a:solidFill>
          <a:ln>
            <a:noFill/>
          </a:ln>
        </p:spPr>
      </p:sp>
      <p:sp>
        <p:nvSpPr>
          <p:cNvPr id="78" name="wm.whiteboard.144.54"/>
          <p:cNvSpPr/>
          <p:nvPr/>
        </p:nvSpPr>
        <p:spPr>
          <a:xfrm>
            <a:off x="9410700" y="914400"/>
            <a:ext cx="38100" cy="38100"/>
          </a:xfrm>
          <a:prstGeom prst="rect">
            <a:avLst/>
          </a:prstGeom>
          <a:solidFill>
            <a:srgbClr val="CED7E6">
              <a:alpha val="31044"/>
            </a:srgbClr>
          </a:solidFill>
          <a:ln>
            <a:noFill/>
          </a:ln>
        </p:spPr>
      </p:sp>
      <p:sp>
        <p:nvSpPr>
          <p:cNvPr id="79" name="wm.whiteboard.144.72"/>
          <p:cNvSpPr/>
          <p:nvPr/>
        </p:nvSpPr>
        <p:spPr>
          <a:xfrm>
            <a:off x="9410700" y="1143000"/>
            <a:ext cx="38100" cy="38100"/>
          </a:xfrm>
          <a:prstGeom prst="rect">
            <a:avLst/>
          </a:prstGeom>
          <a:solidFill>
            <a:srgbClr val="CED7E6">
              <a:alpha val="23083"/>
            </a:srgbClr>
          </a:solidFill>
          <a:ln>
            <a:noFill/>
          </a:ln>
        </p:spPr>
      </p:sp>
      <p:sp>
        <p:nvSpPr>
          <p:cNvPr id="80" name="wm.whiteboard.144.90"/>
          <p:cNvSpPr/>
          <p:nvPr/>
        </p:nvSpPr>
        <p:spPr>
          <a:xfrm>
            <a:off x="9410700" y="1371600"/>
            <a:ext cx="38100" cy="38100"/>
          </a:xfrm>
          <a:prstGeom prst="rect">
            <a:avLst/>
          </a:prstGeom>
          <a:solidFill>
            <a:srgbClr val="CED7E6">
              <a:alpha val="13557"/>
            </a:srgbClr>
          </a:solidFill>
          <a:ln>
            <a:noFill/>
          </a:ln>
        </p:spPr>
      </p:sp>
      <p:sp>
        <p:nvSpPr>
          <p:cNvPr id="81" name="wm.whiteboard.144.108"/>
          <p:cNvSpPr/>
          <p:nvPr/>
        </p:nvSpPr>
        <p:spPr>
          <a:xfrm>
            <a:off x="9410700" y="1600200"/>
            <a:ext cx="38100" cy="38100"/>
          </a:xfrm>
          <a:prstGeom prst="rect">
            <a:avLst/>
          </a:prstGeom>
          <a:solidFill>
            <a:srgbClr val="CED7E6">
              <a:alpha val="2762"/>
            </a:srgbClr>
          </a:solidFill>
          <a:ln>
            <a:noFill/>
          </a:ln>
        </p:spPr>
      </p:sp>
      <p:sp>
        <p:nvSpPr>
          <p:cNvPr id="82" name="wm.whiteboard.162.0"/>
          <p:cNvSpPr/>
          <p:nvPr/>
        </p:nvSpPr>
        <p:spPr>
          <a:xfrm>
            <a:off x="9639300" y="228600"/>
            <a:ext cx="38100" cy="38100"/>
          </a:xfrm>
          <a:prstGeom prst="rect">
            <a:avLst/>
          </a:prstGeom>
          <a:solidFill>
            <a:srgbClr val="CED7E6">
              <a:alpha val="28695"/>
            </a:srgbClr>
          </a:solidFill>
          <a:ln>
            <a:noFill/>
          </a:ln>
        </p:spPr>
      </p:sp>
      <p:sp>
        <p:nvSpPr>
          <p:cNvPr id="83" name="wm.whiteboard.162.18"/>
          <p:cNvSpPr/>
          <p:nvPr/>
        </p:nvSpPr>
        <p:spPr>
          <a:xfrm>
            <a:off x="9639300" y="457200"/>
            <a:ext cx="38100" cy="38100"/>
          </a:xfrm>
          <a:prstGeom prst="rect">
            <a:avLst/>
          </a:prstGeom>
          <a:solidFill>
            <a:srgbClr val="CED7E6">
              <a:alpha val="27389"/>
            </a:srgbClr>
          </a:solidFill>
          <a:ln>
            <a:noFill/>
          </a:ln>
        </p:spPr>
      </p:sp>
      <p:sp>
        <p:nvSpPr>
          <p:cNvPr id="84" name="wm.whiteboard.162.36"/>
          <p:cNvSpPr/>
          <p:nvPr/>
        </p:nvSpPr>
        <p:spPr>
          <a:xfrm>
            <a:off x="9639300" y="685800"/>
            <a:ext cx="38100" cy="38100"/>
          </a:xfrm>
          <a:prstGeom prst="rect">
            <a:avLst/>
          </a:prstGeom>
          <a:solidFill>
            <a:srgbClr val="CED7E6">
              <a:alpha val="23910"/>
            </a:srgbClr>
          </a:solidFill>
          <a:ln>
            <a:noFill/>
          </a:ln>
        </p:spPr>
      </p:sp>
      <p:sp>
        <p:nvSpPr>
          <p:cNvPr id="85" name="wm.whiteboard.162.54"/>
          <p:cNvSpPr/>
          <p:nvPr/>
        </p:nvSpPr>
        <p:spPr>
          <a:xfrm>
            <a:off x="9639300" y="914400"/>
            <a:ext cx="38100" cy="38100"/>
          </a:xfrm>
          <a:prstGeom prst="rect">
            <a:avLst/>
          </a:prstGeom>
          <a:solidFill>
            <a:srgbClr val="CED7E6">
              <a:alpha val="18425"/>
            </a:srgbClr>
          </a:solidFill>
          <a:ln>
            <a:noFill/>
          </a:ln>
        </p:spPr>
      </p:sp>
      <p:sp>
        <p:nvSpPr>
          <p:cNvPr id="86" name="wm.whiteboard.162.72"/>
          <p:cNvSpPr/>
          <p:nvPr/>
        </p:nvSpPr>
        <p:spPr>
          <a:xfrm>
            <a:off x="9639300" y="1143000"/>
            <a:ext cx="38100" cy="38100"/>
          </a:xfrm>
          <a:prstGeom prst="rect">
            <a:avLst/>
          </a:prstGeom>
          <a:solidFill>
            <a:srgbClr val="CED7E6">
              <a:alpha val="11167"/>
            </a:srgbClr>
          </a:solidFill>
          <a:ln>
            <a:noFill/>
          </a:ln>
        </p:spPr>
      </p:sp>
      <p:sp>
        <p:nvSpPr>
          <p:cNvPr id="87" name="wm.whiteboard.162.90"/>
          <p:cNvSpPr/>
          <p:nvPr/>
        </p:nvSpPr>
        <p:spPr>
          <a:xfrm>
            <a:off x="9639300" y="1371600"/>
            <a:ext cx="38100" cy="38100"/>
          </a:xfrm>
          <a:prstGeom prst="rect">
            <a:avLst/>
          </a:prstGeom>
          <a:solidFill>
            <a:srgbClr val="CED7E6">
              <a:alpha val="2388"/>
            </a:srgbClr>
          </a:solidFill>
          <a:ln>
            <a:noFill/>
          </a:ln>
        </p:spPr>
      </p:sp>
      <p:sp>
        <p:nvSpPr>
          <p:cNvPr id="88" name="wm.whiteboard.180.0"/>
          <p:cNvSpPr/>
          <p:nvPr/>
        </p:nvSpPr>
        <p:spPr>
          <a:xfrm>
            <a:off x="9867900" y="228600"/>
            <a:ext cx="38100" cy="38100"/>
          </a:xfrm>
          <a:prstGeom prst="rect">
            <a:avLst/>
          </a:prstGeom>
          <a:solidFill>
            <a:srgbClr val="CED7E6">
              <a:alpha val="14918"/>
            </a:srgbClr>
          </a:solidFill>
          <a:ln>
            <a:noFill/>
          </a:ln>
        </p:spPr>
      </p:sp>
      <p:sp>
        <p:nvSpPr>
          <p:cNvPr id="89" name="wm.whiteboard.180.18"/>
          <p:cNvSpPr/>
          <p:nvPr/>
        </p:nvSpPr>
        <p:spPr>
          <a:xfrm>
            <a:off x="9867900" y="457200"/>
            <a:ext cx="38100" cy="38100"/>
          </a:xfrm>
          <a:prstGeom prst="rect">
            <a:avLst/>
          </a:prstGeom>
          <a:solidFill>
            <a:srgbClr val="CED7E6">
              <a:alpha val="13741"/>
            </a:srgbClr>
          </a:solidFill>
          <a:ln>
            <a:noFill/>
          </a:ln>
        </p:spPr>
      </p:sp>
      <p:sp>
        <p:nvSpPr>
          <p:cNvPr id="90" name="wm.whiteboard.180.36"/>
          <p:cNvSpPr/>
          <p:nvPr/>
        </p:nvSpPr>
        <p:spPr>
          <a:xfrm>
            <a:off x="9867900" y="685800"/>
            <a:ext cx="38100" cy="38100"/>
          </a:xfrm>
          <a:prstGeom prst="rect">
            <a:avLst/>
          </a:prstGeom>
          <a:solidFill>
            <a:srgbClr val="CED7E6">
              <a:alpha val="10593"/>
            </a:srgbClr>
          </a:solidFill>
          <a:ln>
            <a:noFill/>
          </a:ln>
        </p:spPr>
      </p:sp>
      <p:sp>
        <p:nvSpPr>
          <p:cNvPr id="91" name="wm.whiteboard.180.54"/>
          <p:cNvSpPr/>
          <p:nvPr/>
        </p:nvSpPr>
        <p:spPr>
          <a:xfrm>
            <a:off x="9867900" y="914400"/>
            <a:ext cx="38100" cy="38100"/>
          </a:xfrm>
          <a:prstGeom prst="rect">
            <a:avLst/>
          </a:prstGeom>
          <a:solidFill>
            <a:srgbClr val="CED7E6">
              <a:alpha val="5600"/>
            </a:srgbClr>
          </a:solidFill>
          <a:ln>
            <a:noFill/>
          </a:ln>
        </p:spPr>
      </p:sp>
      <p:sp>
        <p:nvSpPr>
          <p:cNvPr id="92" name="wm.whiteboard.198.0"/>
          <p:cNvSpPr/>
          <p:nvPr/>
        </p:nvSpPr>
        <p:spPr>
          <a:xfrm>
            <a:off x="10096500" y="228600"/>
            <a:ext cx="38100" cy="38100"/>
          </a:xfrm>
          <a:prstGeom prst="rect">
            <a:avLst/>
          </a:prstGeom>
          <a:solidFill>
            <a:srgbClr val="CED7E6">
              <a:alpha val="1142"/>
            </a:srgbClr>
          </a:solidFill>
          <a:ln>
            <a:noFill/>
          </a:ln>
        </p:spPr>
      </p:sp>
      <p:sp>
        <p:nvSpPr>
          <p:cNvPr id="93" name="wm.whiteboard.198.18"/>
          <p:cNvSpPr/>
          <p:nvPr/>
        </p:nvSpPr>
        <p:spPr>
          <a:xfrm>
            <a:off x="10096500" y="457200"/>
            <a:ext cx="38100" cy="38100"/>
          </a:xfrm>
          <a:prstGeom prst="rect">
            <a:avLst/>
          </a:prstGeom>
          <a:solidFill>
            <a:srgbClr val="CED7E6">
              <a:alpha val="69"/>
            </a:srgbClr>
          </a:solidFill>
          <a:ln>
            <a:noFill/>
          </a:ln>
        </p:spPr>
      </p:sp>
      <p:sp>
        <p:nvSpPr>
          <p:cNvPr id="94" name="wm.header.rule"/>
          <p:cNvSpPr/>
          <p:nvPr/>
        </p:nvSpPr>
        <p:spPr>
          <a:xfrm>
            <a:off x="8039100" y="20574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pic>
        <p:nvPicPr>
          <p:cNvPr id="95" name="wm.logo" descr="West Monro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6210300"/>
            <a:ext cx="729403" cy="152400"/>
          </a:xfrm>
          <a:prstGeom prst="rect">
            <a:avLst/>
          </a:prstGeom>
        </p:spPr>
      </p:pic>
      <p:sp>
        <p:nvSpPr>
          <p:cNvPr id="96" name="wm.legal"/>
          <p:cNvSpPr/>
          <p:nvPr/>
        </p:nvSpPr>
        <p:spPr>
          <a:xfrm>
            <a:off x="2171700" y="6172200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spc="0" kern="0" b="0" i="0" dirty="0">
                <a:solidFill>
                  <a:srgbClr val="50658E"/>
                </a:solidFill>
                <a:latin typeface="IBM Plex Mono"/>
                <a:ea typeface="IBM Plex Mono"/>
                <a:cs typeface="IBM Plex Mono"/>
              </a:rPr>
              <a:t>© 2026 West Monroe Partners | Reproduction and/or distribution without West Monroe Partners’ prior consent is prohibited.</a:t>
            </a:r>
            <a:endParaRPr lang="en-US" sz="700" spc="0" kern="0" b="0" i="0" dirty="0">
              <a:solidFill>
                <a:srgbClr val="50658E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mds.frame.7e3405850516957645c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rail"/>
          <p:cNvSpPr/>
          <p:nvPr/>
        </p:nvSpPr>
        <p:spPr>
          <a:xfrm>
            <a:off x="0" y="0"/>
            <a:ext cx="3467100" cy="6858000"/>
          </a:xfrm>
          <a:prstGeom prst="rect">
            <a:avLst/>
          </a:prstGeom>
          <a:solidFill>
            <a:srgbClr val="070154"/>
          </a:solidFill>
          <a:ln>
            <a:noFill/>
          </a:ln>
        </p:spPr>
      </p:sp>
      <p:sp>
        <p:nvSpPr>
          <p:cNvPr id="3" name="wm.footer.rule"/>
          <p:cNvSpPr/>
          <p:nvPr/>
        </p:nvSpPr>
        <p:spPr>
          <a:xfrm>
            <a:off x="4381500" y="6057900"/>
            <a:ext cx="70866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whiteboard.0.0"/>
          <p:cNvSpPr/>
          <p:nvPr/>
        </p:nvSpPr>
        <p:spPr>
          <a:xfrm>
            <a:off x="36957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whiteboard.0.18"/>
          <p:cNvSpPr/>
          <p:nvPr/>
        </p:nvSpPr>
        <p:spPr>
          <a:xfrm>
            <a:off x="36957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whiteboard.0.36"/>
          <p:cNvSpPr/>
          <p:nvPr/>
        </p:nvSpPr>
        <p:spPr>
          <a:xfrm>
            <a:off x="36957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whiteboard.0.54"/>
          <p:cNvSpPr/>
          <p:nvPr/>
        </p:nvSpPr>
        <p:spPr>
          <a:xfrm>
            <a:off x="36957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8" name="wm.whiteboard.0.72"/>
          <p:cNvSpPr/>
          <p:nvPr/>
        </p:nvSpPr>
        <p:spPr>
          <a:xfrm>
            <a:off x="3695700" y="1143000"/>
            <a:ext cx="38100" cy="38100"/>
          </a:xfrm>
          <a:prstGeom prst="rect">
            <a:avLst/>
          </a:prstGeom>
          <a:solidFill>
            <a:srgbClr val="CED7E6">
              <a:alpha val="85305"/>
            </a:srgbClr>
          </a:solidFill>
          <a:ln>
            <a:noFill/>
          </a:ln>
        </p:spPr>
      </p:sp>
      <p:sp>
        <p:nvSpPr>
          <p:cNvPr id="9" name="wm.whiteboard.0.90"/>
          <p:cNvSpPr/>
          <p:nvPr/>
        </p:nvSpPr>
        <p:spPr>
          <a:xfrm>
            <a:off x="3695700" y="1371600"/>
            <a:ext cx="38100" cy="38100"/>
          </a:xfrm>
          <a:prstGeom prst="rect">
            <a:avLst/>
          </a:prstGeom>
          <a:solidFill>
            <a:srgbClr val="CED7E6">
              <a:alpha val="68524"/>
            </a:srgbClr>
          </a:solidFill>
          <a:ln>
            <a:noFill/>
          </a:ln>
        </p:spPr>
      </p:sp>
      <p:sp>
        <p:nvSpPr>
          <p:cNvPr id="10" name="wm.whiteboard.0.108"/>
          <p:cNvSpPr/>
          <p:nvPr/>
        </p:nvSpPr>
        <p:spPr>
          <a:xfrm>
            <a:off x="3695700" y="1600200"/>
            <a:ext cx="38100" cy="38100"/>
          </a:xfrm>
          <a:prstGeom prst="rect">
            <a:avLst/>
          </a:prstGeom>
          <a:solidFill>
            <a:srgbClr val="CED7E6">
              <a:alpha val="51742"/>
            </a:srgbClr>
          </a:solidFill>
          <a:ln>
            <a:noFill/>
          </a:ln>
        </p:spPr>
      </p:sp>
      <p:sp>
        <p:nvSpPr>
          <p:cNvPr id="11" name="wm.whiteboard.0.126"/>
          <p:cNvSpPr/>
          <p:nvPr/>
        </p:nvSpPr>
        <p:spPr>
          <a:xfrm>
            <a:off x="3695700" y="1828800"/>
            <a:ext cx="38100" cy="38100"/>
          </a:xfrm>
          <a:prstGeom prst="rect">
            <a:avLst/>
          </a:prstGeom>
          <a:solidFill>
            <a:srgbClr val="CED7E6">
              <a:alpha val="34959"/>
            </a:srgbClr>
          </a:solidFill>
          <a:ln>
            <a:noFill/>
          </a:ln>
        </p:spPr>
      </p:sp>
      <p:sp>
        <p:nvSpPr>
          <p:cNvPr id="12" name="wm.whiteboard.0.144"/>
          <p:cNvSpPr/>
          <p:nvPr/>
        </p:nvSpPr>
        <p:spPr>
          <a:xfrm>
            <a:off x="3695700" y="2057400"/>
            <a:ext cx="38100" cy="38100"/>
          </a:xfrm>
          <a:prstGeom prst="rect">
            <a:avLst/>
          </a:prstGeom>
          <a:solidFill>
            <a:srgbClr val="CED7E6">
              <a:alpha val="18177"/>
            </a:srgbClr>
          </a:solidFill>
          <a:ln>
            <a:noFill/>
          </a:ln>
        </p:spPr>
      </p:sp>
      <p:sp>
        <p:nvSpPr>
          <p:cNvPr id="13" name="wm.whiteboard.0.162"/>
          <p:cNvSpPr/>
          <p:nvPr/>
        </p:nvSpPr>
        <p:spPr>
          <a:xfrm>
            <a:off x="3695700" y="2286000"/>
            <a:ext cx="38100" cy="38100"/>
          </a:xfrm>
          <a:prstGeom prst="rect">
            <a:avLst/>
          </a:prstGeom>
          <a:solidFill>
            <a:srgbClr val="CED7E6">
              <a:alpha val="1394"/>
            </a:srgbClr>
          </a:solidFill>
          <a:ln>
            <a:noFill/>
          </a:ln>
        </p:spPr>
      </p:sp>
      <p:sp>
        <p:nvSpPr>
          <p:cNvPr id="14" name="wm.whiteboard.18.0"/>
          <p:cNvSpPr/>
          <p:nvPr/>
        </p:nvSpPr>
        <p:spPr>
          <a:xfrm>
            <a:off x="39243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" name="wm.whiteboard.18.18"/>
          <p:cNvSpPr/>
          <p:nvPr/>
        </p:nvSpPr>
        <p:spPr>
          <a:xfrm>
            <a:off x="39243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" name="wm.whiteboard.18.36"/>
          <p:cNvSpPr/>
          <p:nvPr/>
        </p:nvSpPr>
        <p:spPr>
          <a:xfrm>
            <a:off x="39243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7" name="wm.whiteboard.18.54"/>
          <p:cNvSpPr/>
          <p:nvPr/>
        </p:nvSpPr>
        <p:spPr>
          <a:xfrm>
            <a:off x="3924300" y="914400"/>
            <a:ext cx="38100" cy="38100"/>
          </a:xfrm>
          <a:prstGeom prst="rect">
            <a:avLst/>
          </a:prstGeom>
          <a:solidFill>
            <a:srgbClr val="CED7E6">
              <a:alpha val="99988"/>
            </a:srgbClr>
          </a:solidFill>
          <a:ln>
            <a:noFill/>
          </a:ln>
        </p:spPr>
      </p:sp>
      <p:sp>
        <p:nvSpPr>
          <p:cNvPr id="18" name="wm.whiteboard.18.72"/>
          <p:cNvSpPr/>
          <p:nvPr/>
        </p:nvSpPr>
        <p:spPr>
          <a:xfrm>
            <a:off x="3924300" y="1143000"/>
            <a:ext cx="38100" cy="38100"/>
          </a:xfrm>
          <a:prstGeom prst="rect">
            <a:avLst/>
          </a:prstGeom>
          <a:solidFill>
            <a:srgbClr val="CED7E6">
              <a:alpha val="83708"/>
            </a:srgbClr>
          </a:solidFill>
          <a:ln>
            <a:noFill/>
          </a:ln>
        </p:spPr>
      </p:sp>
      <p:sp>
        <p:nvSpPr>
          <p:cNvPr id="19" name="wm.whiteboard.18.90"/>
          <p:cNvSpPr/>
          <p:nvPr/>
        </p:nvSpPr>
        <p:spPr>
          <a:xfrm>
            <a:off x="3924300" y="1371600"/>
            <a:ext cx="38100" cy="38100"/>
          </a:xfrm>
          <a:prstGeom prst="rect">
            <a:avLst/>
          </a:prstGeom>
          <a:solidFill>
            <a:srgbClr val="CED7E6">
              <a:alpha val="67236"/>
            </a:srgbClr>
          </a:solidFill>
          <a:ln>
            <a:noFill/>
          </a:ln>
        </p:spPr>
      </p:sp>
      <p:sp>
        <p:nvSpPr>
          <p:cNvPr id="20" name="wm.whiteboard.18.108"/>
          <p:cNvSpPr/>
          <p:nvPr/>
        </p:nvSpPr>
        <p:spPr>
          <a:xfrm>
            <a:off x="3924300" y="1600200"/>
            <a:ext cx="38100" cy="38100"/>
          </a:xfrm>
          <a:prstGeom prst="rect">
            <a:avLst/>
          </a:prstGeom>
          <a:solidFill>
            <a:srgbClr val="CED7E6">
              <a:alpha val="50663"/>
            </a:srgbClr>
          </a:solidFill>
          <a:ln>
            <a:noFill/>
          </a:ln>
        </p:spPr>
      </p:sp>
      <p:sp>
        <p:nvSpPr>
          <p:cNvPr id="21" name="wm.whiteboard.18.126"/>
          <p:cNvSpPr/>
          <p:nvPr/>
        </p:nvSpPr>
        <p:spPr>
          <a:xfrm>
            <a:off x="3924300" y="1828800"/>
            <a:ext cx="38100" cy="38100"/>
          </a:xfrm>
          <a:prstGeom prst="rect">
            <a:avLst/>
          </a:prstGeom>
          <a:solidFill>
            <a:srgbClr val="CED7E6">
              <a:alpha val="34032"/>
            </a:srgbClr>
          </a:solidFill>
          <a:ln>
            <a:noFill/>
          </a:ln>
        </p:spPr>
      </p:sp>
      <p:sp>
        <p:nvSpPr>
          <p:cNvPr id="22" name="wm.whiteboard.18.144"/>
          <p:cNvSpPr/>
          <p:nvPr/>
        </p:nvSpPr>
        <p:spPr>
          <a:xfrm>
            <a:off x="3924300" y="2057400"/>
            <a:ext cx="38100" cy="38100"/>
          </a:xfrm>
          <a:prstGeom prst="rect">
            <a:avLst/>
          </a:prstGeom>
          <a:solidFill>
            <a:srgbClr val="CED7E6">
              <a:alpha val="17363"/>
            </a:srgbClr>
          </a:solidFill>
          <a:ln>
            <a:noFill/>
          </a:ln>
        </p:spPr>
      </p:sp>
      <p:sp>
        <p:nvSpPr>
          <p:cNvPr id="23" name="wm.whiteboard.18.162"/>
          <p:cNvSpPr/>
          <p:nvPr/>
        </p:nvSpPr>
        <p:spPr>
          <a:xfrm>
            <a:off x="3924300" y="2286000"/>
            <a:ext cx="38100" cy="38100"/>
          </a:xfrm>
          <a:prstGeom prst="rect">
            <a:avLst/>
          </a:prstGeom>
          <a:solidFill>
            <a:srgbClr val="CED7E6">
              <a:alpha val="670"/>
            </a:srgbClr>
          </a:solidFill>
          <a:ln>
            <a:noFill/>
          </a:ln>
        </p:spPr>
      </p:sp>
      <p:sp>
        <p:nvSpPr>
          <p:cNvPr id="24" name="wm.whiteboard.36.0"/>
          <p:cNvSpPr/>
          <p:nvPr/>
        </p:nvSpPr>
        <p:spPr>
          <a:xfrm>
            <a:off x="41529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" name="wm.whiteboard.36.18"/>
          <p:cNvSpPr/>
          <p:nvPr/>
        </p:nvSpPr>
        <p:spPr>
          <a:xfrm>
            <a:off x="41529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" name="wm.whiteboard.36.36"/>
          <p:cNvSpPr/>
          <p:nvPr/>
        </p:nvSpPr>
        <p:spPr>
          <a:xfrm>
            <a:off x="4152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7" name="wm.whiteboard.36.54"/>
          <p:cNvSpPr/>
          <p:nvPr/>
        </p:nvSpPr>
        <p:spPr>
          <a:xfrm>
            <a:off x="4152900" y="914400"/>
            <a:ext cx="38100" cy="38100"/>
          </a:xfrm>
          <a:prstGeom prst="rect">
            <a:avLst/>
          </a:prstGeom>
          <a:solidFill>
            <a:srgbClr val="CED7E6">
              <a:alpha val="94671"/>
            </a:srgbClr>
          </a:solidFill>
          <a:ln>
            <a:noFill/>
          </a:ln>
        </p:spPr>
      </p:sp>
      <p:sp>
        <p:nvSpPr>
          <p:cNvPr id="28" name="wm.whiteboard.36.72"/>
          <p:cNvSpPr/>
          <p:nvPr/>
        </p:nvSpPr>
        <p:spPr>
          <a:xfrm>
            <a:off x="4152900" y="1143000"/>
            <a:ext cx="38100" cy="38100"/>
          </a:xfrm>
          <a:prstGeom prst="rect">
            <a:avLst/>
          </a:prstGeom>
          <a:solidFill>
            <a:srgbClr val="CED7E6">
              <a:alpha val="79547"/>
            </a:srgbClr>
          </a:solidFill>
          <a:ln>
            <a:noFill/>
          </a:ln>
        </p:spPr>
      </p:sp>
      <p:sp>
        <p:nvSpPr>
          <p:cNvPr id="29" name="wm.whiteboard.36.90"/>
          <p:cNvSpPr/>
          <p:nvPr/>
        </p:nvSpPr>
        <p:spPr>
          <a:xfrm>
            <a:off x="4152900" y="1371600"/>
            <a:ext cx="38100" cy="38100"/>
          </a:xfrm>
          <a:prstGeom prst="rect">
            <a:avLst/>
          </a:prstGeom>
          <a:solidFill>
            <a:srgbClr val="CED7E6">
              <a:alpha val="63833"/>
            </a:srgbClr>
          </a:solidFill>
          <a:ln>
            <a:noFill/>
          </a:ln>
        </p:spPr>
      </p:sp>
      <p:sp>
        <p:nvSpPr>
          <p:cNvPr id="30" name="wm.whiteboard.36.108"/>
          <p:cNvSpPr/>
          <p:nvPr/>
        </p:nvSpPr>
        <p:spPr>
          <a:xfrm>
            <a:off x="4152900" y="1600200"/>
            <a:ext cx="38100" cy="38100"/>
          </a:xfrm>
          <a:prstGeom prst="rect">
            <a:avLst/>
          </a:prstGeom>
          <a:solidFill>
            <a:srgbClr val="CED7E6">
              <a:alpha val="47790"/>
            </a:srgbClr>
          </a:solidFill>
          <a:ln>
            <a:noFill/>
          </a:ln>
        </p:spPr>
      </p:sp>
      <p:sp>
        <p:nvSpPr>
          <p:cNvPr id="31" name="wm.whiteboard.36.126"/>
          <p:cNvSpPr/>
          <p:nvPr/>
        </p:nvSpPr>
        <p:spPr>
          <a:xfrm>
            <a:off x="4152900" y="1828800"/>
            <a:ext cx="38100" cy="38100"/>
          </a:xfrm>
          <a:prstGeom prst="rect">
            <a:avLst/>
          </a:prstGeom>
          <a:solidFill>
            <a:srgbClr val="CED7E6">
              <a:alpha val="31549"/>
            </a:srgbClr>
          </a:solidFill>
          <a:ln>
            <a:noFill/>
          </a:ln>
        </p:spPr>
      </p:sp>
      <p:sp>
        <p:nvSpPr>
          <p:cNvPr id="32" name="wm.whiteboard.36.144"/>
          <p:cNvSpPr/>
          <p:nvPr/>
        </p:nvSpPr>
        <p:spPr>
          <a:xfrm>
            <a:off x="4152900" y="2057400"/>
            <a:ext cx="38100" cy="38100"/>
          </a:xfrm>
          <a:prstGeom prst="rect">
            <a:avLst/>
          </a:prstGeom>
          <a:solidFill>
            <a:srgbClr val="CED7E6">
              <a:alpha val="15179"/>
            </a:srgbClr>
          </a:solidFill>
          <a:ln>
            <a:noFill/>
          </a:ln>
        </p:spPr>
      </p:sp>
      <p:sp>
        <p:nvSpPr>
          <p:cNvPr id="33" name="wm.whiteboard.54.0"/>
          <p:cNvSpPr/>
          <p:nvPr/>
        </p:nvSpPr>
        <p:spPr>
          <a:xfrm>
            <a:off x="43815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" name="wm.whiteboard.54.18"/>
          <p:cNvSpPr/>
          <p:nvPr/>
        </p:nvSpPr>
        <p:spPr>
          <a:xfrm>
            <a:off x="43815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5" name="wm.whiteboard.54.36"/>
          <p:cNvSpPr/>
          <p:nvPr/>
        </p:nvSpPr>
        <p:spPr>
          <a:xfrm>
            <a:off x="4381500" y="685800"/>
            <a:ext cx="38100" cy="38100"/>
          </a:xfrm>
          <a:prstGeom prst="rect">
            <a:avLst/>
          </a:prstGeom>
          <a:solidFill>
            <a:srgbClr val="CED7E6">
              <a:alpha val="98827"/>
            </a:srgbClr>
          </a:solidFill>
          <a:ln>
            <a:noFill/>
          </a:ln>
        </p:spPr>
      </p:sp>
      <p:sp>
        <p:nvSpPr>
          <p:cNvPr id="36" name="wm.whiteboard.54.54"/>
          <p:cNvSpPr/>
          <p:nvPr/>
        </p:nvSpPr>
        <p:spPr>
          <a:xfrm>
            <a:off x="4381500" y="914400"/>
            <a:ext cx="38100" cy="38100"/>
          </a:xfrm>
          <a:prstGeom prst="rect">
            <a:avLst/>
          </a:prstGeom>
          <a:solidFill>
            <a:srgbClr val="CED7E6">
              <a:alpha val="86895"/>
            </a:srgbClr>
          </a:solidFill>
          <a:ln>
            <a:noFill/>
          </a:ln>
        </p:spPr>
      </p:sp>
      <p:sp>
        <p:nvSpPr>
          <p:cNvPr id="37" name="wm.whiteboard.54.72"/>
          <p:cNvSpPr/>
          <p:nvPr/>
        </p:nvSpPr>
        <p:spPr>
          <a:xfrm>
            <a:off x="4381500" y="1143000"/>
            <a:ext cx="38100" cy="38100"/>
          </a:xfrm>
          <a:prstGeom prst="rect">
            <a:avLst/>
          </a:prstGeom>
          <a:solidFill>
            <a:srgbClr val="CED7E6">
              <a:alpha val="73217"/>
            </a:srgbClr>
          </a:solidFill>
          <a:ln>
            <a:noFill/>
          </a:ln>
        </p:spPr>
      </p:sp>
      <p:sp>
        <p:nvSpPr>
          <p:cNvPr id="38" name="wm.whiteboard.54.90"/>
          <p:cNvSpPr/>
          <p:nvPr/>
        </p:nvSpPr>
        <p:spPr>
          <a:xfrm>
            <a:off x="4381500" y="1371600"/>
            <a:ext cx="38100" cy="38100"/>
          </a:xfrm>
          <a:prstGeom prst="rect">
            <a:avLst/>
          </a:prstGeom>
          <a:solidFill>
            <a:srgbClr val="CED7E6">
              <a:alpha val="58541"/>
            </a:srgbClr>
          </a:solidFill>
          <a:ln>
            <a:noFill/>
          </a:ln>
        </p:spPr>
      </p:sp>
      <p:sp>
        <p:nvSpPr>
          <p:cNvPr id="39" name="wm.whiteboard.54.108"/>
          <p:cNvSpPr/>
          <p:nvPr/>
        </p:nvSpPr>
        <p:spPr>
          <a:xfrm>
            <a:off x="4381500" y="1600200"/>
            <a:ext cx="38100" cy="38100"/>
          </a:xfrm>
          <a:prstGeom prst="rect">
            <a:avLst/>
          </a:prstGeom>
          <a:solidFill>
            <a:srgbClr val="CED7E6">
              <a:alpha val="43263"/>
            </a:srgbClr>
          </a:solidFill>
          <a:ln>
            <a:noFill/>
          </a:ln>
        </p:spPr>
      </p:sp>
      <p:sp>
        <p:nvSpPr>
          <p:cNvPr id="40" name="wm.whiteboard.54.126"/>
          <p:cNvSpPr/>
          <p:nvPr/>
        </p:nvSpPr>
        <p:spPr>
          <a:xfrm>
            <a:off x="4381500" y="1828800"/>
            <a:ext cx="38100" cy="38100"/>
          </a:xfrm>
          <a:prstGeom prst="rect">
            <a:avLst/>
          </a:prstGeom>
          <a:solidFill>
            <a:srgbClr val="CED7E6">
              <a:alpha val="27603"/>
            </a:srgbClr>
          </a:solidFill>
          <a:ln>
            <a:noFill/>
          </a:ln>
        </p:spPr>
      </p:sp>
      <p:sp>
        <p:nvSpPr>
          <p:cNvPr id="41" name="wm.whiteboard.54.144"/>
          <p:cNvSpPr/>
          <p:nvPr/>
        </p:nvSpPr>
        <p:spPr>
          <a:xfrm>
            <a:off x="4381500" y="2057400"/>
            <a:ext cx="38100" cy="38100"/>
          </a:xfrm>
          <a:prstGeom prst="rect">
            <a:avLst/>
          </a:prstGeom>
          <a:solidFill>
            <a:srgbClr val="CED7E6">
              <a:alpha val="11687"/>
            </a:srgbClr>
          </a:solidFill>
          <a:ln>
            <a:noFill/>
          </a:ln>
        </p:spPr>
      </p:sp>
      <p:sp>
        <p:nvSpPr>
          <p:cNvPr id="42" name="wm.whiteboard.72.0"/>
          <p:cNvSpPr/>
          <p:nvPr/>
        </p:nvSpPr>
        <p:spPr>
          <a:xfrm>
            <a:off x="4610100" y="228600"/>
            <a:ext cx="38100" cy="38100"/>
          </a:xfrm>
          <a:prstGeom prst="rect">
            <a:avLst/>
          </a:prstGeom>
          <a:solidFill>
            <a:srgbClr val="CED7E6">
              <a:alpha val="97572"/>
            </a:srgbClr>
          </a:solidFill>
          <a:ln>
            <a:noFill/>
          </a:ln>
        </p:spPr>
      </p:sp>
      <p:sp>
        <p:nvSpPr>
          <p:cNvPr id="43" name="wm.whiteboard.72.18"/>
          <p:cNvSpPr/>
          <p:nvPr/>
        </p:nvSpPr>
        <p:spPr>
          <a:xfrm>
            <a:off x="4610100" y="457200"/>
            <a:ext cx="38100" cy="38100"/>
          </a:xfrm>
          <a:prstGeom prst="rect">
            <a:avLst/>
          </a:prstGeom>
          <a:solidFill>
            <a:srgbClr val="CED7E6">
              <a:alpha val="94724"/>
            </a:srgbClr>
          </a:solidFill>
          <a:ln>
            <a:noFill/>
          </a:ln>
        </p:spPr>
      </p:sp>
      <p:sp>
        <p:nvSpPr>
          <p:cNvPr id="44" name="wm.whiteboard.72.36"/>
          <p:cNvSpPr/>
          <p:nvPr/>
        </p:nvSpPr>
        <p:spPr>
          <a:xfrm>
            <a:off x="4610100" y="685800"/>
            <a:ext cx="38100" cy="38100"/>
          </a:xfrm>
          <a:prstGeom prst="rect">
            <a:avLst/>
          </a:prstGeom>
          <a:solidFill>
            <a:srgbClr val="CED7E6">
              <a:alpha val="87609"/>
            </a:srgbClr>
          </a:solidFill>
          <a:ln>
            <a:noFill/>
          </a:ln>
        </p:spPr>
      </p:sp>
      <p:sp>
        <p:nvSpPr>
          <p:cNvPr id="45" name="wm.whiteboard.72.54"/>
          <p:cNvSpPr/>
          <p:nvPr/>
        </p:nvSpPr>
        <p:spPr>
          <a:xfrm>
            <a:off x="4610100" y="914400"/>
            <a:ext cx="38100" cy="38100"/>
          </a:xfrm>
          <a:prstGeom prst="rect">
            <a:avLst/>
          </a:prstGeom>
          <a:solidFill>
            <a:srgbClr val="CED7E6">
              <a:alpha val="77408"/>
            </a:srgbClr>
          </a:solidFill>
          <a:ln>
            <a:noFill/>
          </a:ln>
        </p:spPr>
      </p:sp>
      <p:sp>
        <p:nvSpPr>
          <p:cNvPr id="46" name="wm.whiteboard.72.72"/>
          <p:cNvSpPr/>
          <p:nvPr/>
        </p:nvSpPr>
        <p:spPr>
          <a:xfrm>
            <a:off x="4610100" y="1143000"/>
            <a:ext cx="38100" cy="38100"/>
          </a:xfrm>
          <a:prstGeom prst="rect">
            <a:avLst/>
          </a:prstGeom>
          <a:solidFill>
            <a:srgbClr val="CED7E6">
              <a:alpha val="65181"/>
            </a:srgbClr>
          </a:solidFill>
          <a:ln>
            <a:noFill/>
          </a:ln>
        </p:spPr>
      </p:sp>
      <p:sp>
        <p:nvSpPr>
          <p:cNvPr id="47" name="wm.whiteboard.72.90"/>
          <p:cNvSpPr/>
          <p:nvPr/>
        </p:nvSpPr>
        <p:spPr>
          <a:xfrm>
            <a:off x="4610100" y="1371600"/>
            <a:ext cx="38100" cy="38100"/>
          </a:xfrm>
          <a:prstGeom prst="rect">
            <a:avLst/>
          </a:prstGeom>
          <a:solidFill>
            <a:srgbClr val="CED7E6">
              <a:alpha val="51653"/>
            </a:srgbClr>
          </a:solidFill>
          <a:ln>
            <a:noFill/>
          </a:ln>
        </p:spPr>
      </p:sp>
      <p:sp>
        <p:nvSpPr>
          <p:cNvPr id="48" name="wm.whiteboard.72.108"/>
          <p:cNvSpPr/>
          <p:nvPr/>
        </p:nvSpPr>
        <p:spPr>
          <a:xfrm>
            <a:off x="4610100" y="1600200"/>
            <a:ext cx="38100" cy="38100"/>
          </a:xfrm>
          <a:prstGeom prst="rect">
            <a:avLst/>
          </a:prstGeom>
          <a:solidFill>
            <a:srgbClr val="CED7E6">
              <a:alpha val="37275"/>
            </a:srgbClr>
          </a:solidFill>
          <a:ln>
            <a:noFill/>
          </a:ln>
        </p:spPr>
      </p:sp>
      <p:sp>
        <p:nvSpPr>
          <p:cNvPr id="49" name="wm.whiteboard.72.126"/>
          <p:cNvSpPr/>
          <p:nvPr/>
        </p:nvSpPr>
        <p:spPr>
          <a:xfrm>
            <a:off x="4610100" y="1828800"/>
            <a:ext cx="38100" cy="38100"/>
          </a:xfrm>
          <a:prstGeom prst="rect">
            <a:avLst/>
          </a:prstGeom>
          <a:solidFill>
            <a:srgbClr val="CED7E6">
              <a:alpha val="22326"/>
            </a:srgbClr>
          </a:solidFill>
          <a:ln>
            <a:noFill/>
          </a:ln>
        </p:spPr>
      </p:sp>
      <p:sp>
        <p:nvSpPr>
          <p:cNvPr id="50" name="wm.whiteboard.72.144"/>
          <p:cNvSpPr/>
          <p:nvPr/>
        </p:nvSpPr>
        <p:spPr>
          <a:xfrm>
            <a:off x="4610100" y="2057400"/>
            <a:ext cx="38100" cy="38100"/>
          </a:xfrm>
          <a:prstGeom prst="rect">
            <a:avLst/>
          </a:prstGeom>
          <a:solidFill>
            <a:srgbClr val="CED7E6">
              <a:alpha val="6980"/>
            </a:srgbClr>
          </a:solidFill>
          <a:ln>
            <a:noFill/>
          </a:ln>
        </p:spPr>
      </p:sp>
      <p:sp>
        <p:nvSpPr>
          <p:cNvPr id="51" name="wm.whiteboard.90.0"/>
          <p:cNvSpPr/>
          <p:nvPr/>
        </p:nvSpPr>
        <p:spPr>
          <a:xfrm>
            <a:off x="4838700" y="228600"/>
            <a:ext cx="38100" cy="38100"/>
          </a:xfrm>
          <a:prstGeom prst="rect">
            <a:avLst/>
          </a:prstGeom>
          <a:solidFill>
            <a:srgbClr val="CED7E6">
              <a:alpha val="83798"/>
            </a:srgbClr>
          </a:solidFill>
          <a:ln>
            <a:noFill/>
          </a:ln>
        </p:spPr>
      </p:sp>
      <p:sp>
        <p:nvSpPr>
          <p:cNvPr id="52" name="wm.whiteboard.90.18"/>
          <p:cNvSpPr/>
          <p:nvPr/>
        </p:nvSpPr>
        <p:spPr>
          <a:xfrm>
            <a:off x="4838700" y="457200"/>
            <a:ext cx="38100" cy="38100"/>
          </a:xfrm>
          <a:prstGeom prst="rect">
            <a:avLst/>
          </a:prstGeom>
          <a:solidFill>
            <a:srgbClr val="CED7E6">
              <a:alpha val="81490"/>
            </a:srgbClr>
          </a:solidFill>
          <a:ln>
            <a:noFill/>
          </a:ln>
        </p:spPr>
      </p:sp>
      <p:sp>
        <p:nvSpPr>
          <p:cNvPr id="53" name="wm.whiteboard.90.36"/>
          <p:cNvSpPr/>
          <p:nvPr/>
        </p:nvSpPr>
        <p:spPr>
          <a:xfrm>
            <a:off x="4838700" y="685800"/>
            <a:ext cx="38100" cy="38100"/>
          </a:xfrm>
          <a:prstGeom prst="rect">
            <a:avLst/>
          </a:prstGeom>
          <a:solidFill>
            <a:srgbClr val="CED7E6">
              <a:alpha val="75569"/>
            </a:srgbClr>
          </a:solidFill>
          <a:ln>
            <a:noFill/>
          </a:ln>
        </p:spPr>
      </p:sp>
      <p:sp>
        <p:nvSpPr>
          <p:cNvPr id="54" name="wm.whiteboard.90.54"/>
          <p:cNvSpPr/>
          <p:nvPr/>
        </p:nvSpPr>
        <p:spPr>
          <a:xfrm>
            <a:off x="4838700" y="914400"/>
            <a:ext cx="38100" cy="38100"/>
          </a:xfrm>
          <a:prstGeom prst="rect">
            <a:avLst/>
          </a:prstGeom>
          <a:solidFill>
            <a:srgbClr val="CED7E6">
              <a:alpha val="66767"/>
            </a:srgbClr>
          </a:solidFill>
          <a:ln>
            <a:noFill/>
          </a:ln>
        </p:spPr>
      </p:sp>
      <p:sp>
        <p:nvSpPr>
          <p:cNvPr id="55" name="wm.whiteboard.90.72"/>
          <p:cNvSpPr/>
          <p:nvPr/>
        </p:nvSpPr>
        <p:spPr>
          <a:xfrm>
            <a:off x="4838700" y="1143000"/>
            <a:ext cx="38100" cy="38100"/>
          </a:xfrm>
          <a:prstGeom prst="rect">
            <a:avLst/>
          </a:prstGeom>
          <a:solidFill>
            <a:srgbClr val="CED7E6">
              <a:alpha val="55859"/>
            </a:srgbClr>
          </a:solidFill>
          <a:ln>
            <a:noFill/>
          </a:ln>
        </p:spPr>
      </p:sp>
      <p:sp>
        <p:nvSpPr>
          <p:cNvPr id="56" name="wm.whiteboard.90.90"/>
          <p:cNvSpPr/>
          <p:nvPr/>
        </p:nvSpPr>
        <p:spPr>
          <a:xfrm>
            <a:off x="4838700" y="1371600"/>
            <a:ext cx="38100" cy="38100"/>
          </a:xfrm>
          <a:prstGeom prst="rect">
            <a:avLst/>
          </a:prstGeom>
          <a:solidFill>
            <a:srgbClr val="CED7E6">
              <a:alpha val="43468"/>
            </a:srgbClr>
          </a:solidFill>
          <a:ln>
            <a:noFill/>
          </a:ln>
        </p:spPr>
      </p:sp>
      <p:sp>
        <p:nvSpPr>
          <p:cNvPr id="57" name="wm.whiteboard.90.108"/>
          <p:cNvSpPr/>
          <p:nvPr/>
        </p:nvSpPr>
        <p:spPr>
          <a:xfrm>
            <a:off x="4838700" y="1600200"/>
            <a:ext cx="38100" cy="38100"/>
          </a:xfrm>
          <a:prstGeom prst="rect">
            <a:avLst/>
          </a:prstGeom>
          <a:solidFill>
            <a:srgbClr val="CED7E6">
              <a:alpha val="30037"/>
            </a:srgbClr>
          </a:solidFill>
          <a:ln>
            <a:noFill/>
          </a:ln>
        </p:spPr>
      </p:sp>
      <p:sp>
        <p:nvSpPr>
          <p:cNvPr id="58" name="wm.whiteboard.90.126"/>
          <p:cNvSpPr/>
          <p:nvPr/>
        </p:nvSpPr>
        <p:spPr>
          <a:xfrm>
            <a:off x="4838700" y="1828800"/>
            <a:ext cx="38100" cy="38100"/>
          </a:xfrm>
          <a:prstGeom prst="rect">
            <a:avLst/>
          </a:prstGeom>
          <a:solidFill>
            <a:srgbClr val="CED7E6">
              <a:alpha val="15870"/>
            </a:srgbClr>
          </a:solidFill>
          <a:ln>
            <a:noFill/>
          </a:ln>
        </p:spPr>
      </p:sp>
      <p:sp>
        <p:nvSpPr>
          <p:cNvPr id="59" name="wm.whiteboard.90.144"/>
          <p:cNvSpPr/>
          <p:nvPr/>
        </p:nvSpPr>
        <p:spPr>
          <a:xfrm>
            <a:off x="4838700" y="2057400"/>
            <a:ext cx="38100" cy="38100"/>
          </a:xfrm>
          <a:prstGeom prst="rect">
            <a:avLst/>
          </a:prstGeom>
          <a:solidFill>
            <a:srgbClr val="CED7E6">
              <a:alpha val="1171"/>
            </a:srgbClr>
          </a:solidFill>
          <a:ln>
            <a:noFill/>
          </a:ln>
        </p:spPr>
      </p:sp>
      <p:sp>
        <p:nvSpPr>
          <p:cNvPr id="60" name="wm.whiteboard.108.0"/>
          <p:cNvSpPr/>
          <p:nvPr/>
        </p:nvSpPr>
        <p:spPr>
          <a:xfrm>
            <a:off x="5067300" y="228600"/>
            <a:ext cx="38100" cy="38100"/>
          </a:xfrm>
          <a:prstGeom prst="rect">
            <a:avLst/>
          </a:prstGeom>
          <a:solidFill>
            <a:srgbClr val="CED7E6">
              <a:alpha val="70023"/>
            </a:srgbClr>
          </a:solidFill>
          <a:ln>
            <a:noFill/>
          </a:ln>
        </p:spPr>
      </p:sp>
      <p:sp>
        <p:nvSpPr>
          <p:cNvPr id="61" name="wm.whiteboard.108.18"/>
          <p:cNvSpPr/>
          <p:nvPr/>
        </p:nvSpPr>
        <p:spPr>
          <a:xfrm>
            <a:off x="5067300" y="457200"/>
            <a:ext cx="38100" cy="38100"/>
          </a:xfrm>
          <a:prstGeom prst="rect">
            <a:avLst/>
          </a:prstGeom>
          <a:solidFill>
            <a:srgbClr val="CED7E6">
              <a:alpha val="68085"/>
            </a:srgbClr>
          </a:solidFill>
          <a:ln>
            <a:noFill/>
          </a:ln>
        </p:spPr>
      </p:sp>
      <p:sp>
        <p:nvSpPr>
          <p:cNvPr id="62" name="wm.whiteboard.108.36"/>
          <p:cNvSpPr/>
          <p:nvPr/>
        </p:nvSpPr>
        <p:spPr>
          <a:xfrm>
            <a:off x="5067300" y="685800"/>
            <a:ext cx="38100" cy="38100"/>
          </a:xfrm>
          <a:prstGeom prst="rect">
            <a:avLst/>
          </a:prstGeom>
          <a:solidFill>
            <a:srgbClr val="CED7E6">
              <a:alpha val="63033"/>
            </a:srgbClr>
          </a:solidFill>
          <a:ln>
            <a:noFill/>
          </a:ln>
        </p:spPr>
      </p:sp>
      <p:sp>
        <p:nvSpPr>
          <p:cNvPr id="63" name="wm.whiteboard.108.54"/>
          <p:cNvSpPr/>
          <p:nvPr/>
        </p:nvSpPr>
        <p:spPr>
          <a:xfrm>
            <a:off x="5067300" y="914400"/>
            <a:ext cx="38100" cy="38100"/>
          </a:xfrm>
          <a:prstGeom prst="rect">
            <a:avLst/>
          </a:prstGeom>
          <a:solidFill>
            <a:srgbClr val="CED7E6">
              <a:alpha val="55346"/>
            </a:srgbClr>
          </a:solidFill>
          <a:ln>
            <a:noFill/>
          </a:ln>
        </p:spPr>
      </p:sp>
      <p:sp>
        <p:nvSpPr>
          <p:cNvPr id="64" name="wm.whiteboard.108.72"/>
          <p:cNvSpPr/>
          <p:nvPr/>
        </p:nvSpPr>
        <p:spPr>
          <a:xfrm>
            <a:off x="5067300" y="1143000"/>
            <a:ext cx="38100" cy="38100"/>
          </a:xfrm>
          <a:prstGeom prst="rect">
            <a:avLst/>
          </a:prstGeom>
          <a:solidFill>
            <a:srgbClr val="CED7E6">
              <a:alpha val="45583"/>
            </a:srgbClr>
          </a:solidFill>
          <a:ln>
            <a:noFill/>
          </a:ln>
        </p:spPr>
      </p:sp>
      <p:sp>
        <p:nvSpPr>
          <p:cNvPr id="65" name="wm.whiteboard.108.90"/>
          <p:cNvSpPr/>
          <p:nvPr/>
        </p:nvSpPr>
        <p:spPr>
          <a:xfrm>
            <a:off x="5067300" y="1371600"/>
            <a:ext cx="38100" cy="38100"/>
          </a:xfrm>
          <a:prstGeom prst="rect">
            <a:avLst/>
          </a:prstGeom>
          <a:solidFill>
            <a:srgbClr val="CED7E6">
              <a:alpha val="34251"/>
            </a:srgbClr>
          </a:solidFill>
          <a:ln>
            <a:noFill/>
          </a:ln>
        </p:spPr>
      </p:sp>
      <p:sp>
        <p:nvSpPr>
          <p:cNvPr id="66" name="wm.whiteboard.108.108"/>
          <p:cNvSpPr/>
          <p:nvPr/>
        </p:nvSpPr>
        <p:spPr>
          <a:xfrm>
            <a:off x="5067300" y="1600200"/>
            <a:ext cx="38100" cy="38100"/>
          </a:xfrm>
          <a:prstGeom prst="rect">
            <a:avLst/>
          </a:prstGeom>
          <a:solidFill>
            <a:srgbClr val="CED7E6">
              <a:alpha val="21754"/>
            </a:srgbClr>
          </a:solidFill>
          <a:ln>
            <a:noFill/>
          </a:ln>
        </p:spPr>
      </p:sp>
      <p:sp>
        <p:nvSpPr>
          <p:cNvPr id="67" name="wm.whiteboard.108.126"/>
          <p:cNvSpPr/>
          <p:nvPr/>
        </p:nvSpPr>
        <p:spPr>
          <a:xfrm>
            <a:off x="5067300" y="1828800"/>
            <a:ext cx="38100" cy="38100"/>
          </a:xfrm>
          <a:prstGeom prst="rect">
            <a:avLst/>
          </a:prstGeom>
          <a:solidFill>
            <a:srgbClr val="CED7E6">
              <a:alpha val="8391"/>
            </a:srgbClr>
          </a:solidFill>
          <a:ln>
            <a:noFill/>
          </a:ln>
        </p:spPr>
      </p:sp>
      <p:sp>
        <p:nvSpPr>
          <p:cNvPr id="68" name="wm.whiteboard.126.0"/>
          <p:cNvSpPr/>
          <p:nvPr/>
        </p:nvSpPr>
        <p:spPr>
          <a:xfrm>
            <a:off x="5295900" y="228600"/>
            <a:ext cx="38100" cy="38100"/>
          </a:xfrm>
          <a:prstGeom prst="rect">
            <a:avLst/>
          </a:prstGeom>
          <a:solidFill>
            <a:srgbClr val="CED7E6">
              <a:alpha val="56247"/>
            </a:srgbClr>
          </a:solidFill>
          <a:ln>
            <a:noFill/>
          </a:ln>
        </p:spPr>
      </p:sp>
      <p:sp>
        <p:nvSpPr>
          <p:cNvPr id="69" name="wm.whiteboard.126.18"/>
          <p:cNvSpPr/>
          <p:nvPr/>
        </p:nvSpPr>
        <p:spPr>
          <a:xfrm>
            <a:off x="5295900" y="457200"/>
            <a:ext cx="38100" cy="38100"/>
          </a:xfrm>
          <a:prstGeom prst="rect">
            <a:avLst/>
          </a:prstGeom>
          <a:solidFill>
            <a:srgbClr val="CED7E6">
              <a:alpha val="54578"/>
            </a:srgbClr>
          </a:solidFill>
          <a:ln>
            <a:noFill/>
          </a:ln>
        </p:spPr>
      </p:sp>
      <p:sp>
        <p:nvSpPr>
          <p:cNvPr id="70" name="wm.whiteboard.126.36"/>
          <p:cNvSpPr/>
          <p:nvPr/>
        </p:nvSpPr>
        <p:spPr>
          <a:xfrm>
            <a:off x="5295900" y="685800"/>
            <a:ext cx="38100" cy="38100"/>
          </a:xfrm>
          <a:prstGeom prst="rect">
            <a:avLst/>
          </a:prstGeom>
          <a:solidFill>
            <a:srgbClr val="CED7E6">
              <a:alpha val="50182"/>
            </a:srgbClr>
          </a:solidFill>
          <a:ln>
            <a:noFill/>
          </a:ln>
        </p:spPr>
      </p:sp>
      <p:sp>
        <p:nvSpPr>
          <p:cNvPr id="71" name="wm.whiteboard.126.54"/>
          <p:cNvSpPr/>
          <p:nvPr/>
        </p:nvSpPr>
        <p:spPr>
          <a:xfrm>
            <a:off x="5295900" y="914400"/>
            <a:ext cx="38100" cy="38100"/>
          </a:xfrm>
          <a:prstGeom prst="rect">
            <a:avLst/>
          </a:prstGeom>
          <a:solidFill>
            <a:srgbClr val="CED7E6">
              <a:alpha val="43386"/>
            </a:srgbClr>
          </a:solidFill>
          <a:ln>
            <a:noFill/>
          </a:ln>
        </p:spPr>
      </p:sp>
      <p:sp>
        <p:nvSpPr>
          <p:cNvPr id="72" name="wm.whiteboard.126.72"/>
          <p:cNvSpPr/>
          <p:nvPr/>
        </p:nvSpPr>
        <p:spPr>
          <a:xfrm>
            <a:off x="5295900" y="1143000"/>
            <a:ext cx="38100" cy="38100"/>
          </a:xfrm>
          <a:prstGeom prst="rect">
            <a:avLst/>
          </a:prstGeom>
          <a:solidFill>
            <a:srgbClr val="CED7E6">
              <a:alpha val="34598"/>
            </a:srgbClr>
          </a:solidFill>
          <a:ln>
            <a:noFill/>
          </a:ln>
        </p:spPr>
      </p:sp>
      <p:sp>
        <p:nvSpPr>
          <p:cNvPr id="73" name="wm.whiteboard.126.90"/>
          <p:cNvSpPr/>
          <p:nvPr/>
        </p:nvSpPr>
        <p:spPr>
          <a:xfrm>
            <a:off x="5295900" y="1371600"/>
            <a:ext cx="38100" cy="38100"/>
          </a:xfrm>
          <a:prstGeom prst="rect">
            <a:avLst/>
          </a:prstGeom>
          <a:solidFill>
            <a:srgbClr val="CED7E6">
              <a:alpha val="24223"/>
            </a:srgbClr>
          </a:solidFill>
          <a:ln>
            <a:noFill/>
          </a:ln>
        </p:spPr>
      </p:sp>
      <p:sp>
        <p:nvSpPr>
          <p:cNvPr id="74" name="wm.whiteboard.126.108"/>
          <p:cNvSpPr/>
          <p:nvPr/>
        </p:nvSpPr>
        <p:spPr>
          <a:xfrm>
            <a:off x="5295900" y="1600200"/>
            <a:ext cx="38100" cy="38100"/>
          </a:xfrm>
          <a:prstGeom prst="rect">
            <a:avLst/>
          </a:prstGeom>
          <a:solidFill>
            <a:srgbClr val="CED7E6">
              <a:alpha val="12610"/>
            </a:srgbClr>
          </a:solidFill>
          <a:ln>
            <a:noFill/>
          </a:ln>
        </p:spPr>
      </p:sp>
      <p:sp>
        <p:nvSpPr>
          <p:cNvPr id="75" name="wm.whiteboard.126.126"/>
          <p:cNvSpPr/>
          <p:nvPr/>
        </p:nvSpPr>
        <p:spPr>
          <a:xfrm>
            <a:off x="5295900" y="1828800"/>
            <a:ext cx="38100" cy="38100"/>
          </a:xfrm>
          <a:prstGeom prst="rect">
            <a:avLst/>
          </a:prstGeom>
          <a:solidFill>
            <a:srgbClr val="CED7E6">
              <a:alpha val="40"/>
            </a:srgbClr>
          </a:solidFill>
          <a:ln>
            <a:noFill/>
          </a:ln>
        </p:spPr>
      </p:sp>
      <p:sp>
        <p:nvSpPr>
          <p:cNvPr id="76" name="wm.whiteboard.144.0"/>
          <p:cNvSpPr/>
          <p:nvPr/>
        </p:nvSpPr>
        <p:spPr>
          <a:xfrm>
            <a:off x="5524500" y="228600"/>
            <a:ext cx="38100" cy="38100"/>
          </a:xfrm>
          <a:prstGeom prst="rect">
            <a:avLst/>
          </a:prstGeom>
          <a:solidFill>
            <a:srgbClr val="CED7E6">
              <a:alpha val="42471"/>
            </a:srgbClr>
          </a:solidFill>
          <a:ln>
            <a:noFill/>
          </a:ln>
        </p:spPr>
      </p:sp>
      <p:sp>
        <p:nvSpPr>
          <p:cNvPr id="77" name="wm.whiteboard.144.18"/>
          <p:cNvSpPr/>
          <p:nvPr/>
        </p:nvSpPr>
        <p:spPr>
          <a:xfrm>
            <a:off x="5524500" y="457200"/>
            <a:ext cx="38100" cy="38100"/>
          </a:xfrm>
          <a:prstGeom prst="rect">
            <a:avLst/>
          </a:prstGeom>
          <a:solidFill>
            <a:srgbClr val="CED7E6">
              <a:alpha val="41005"/>
            </a:srgbClr>
          </a:solidFill>
          <a:ln>
            <a:noFill/>
          </a:ln>
        </p:spPr>
      </p:sp>
      <p:sp>
        <p:nvSpPr>
          <p:cNvPr id="78" name="wm.whiteboard.144.36"/>
          <p:cNvSpPr/>
          <p:nvPr/>
        </p:nvSpPr>
        <p:spPr>
          <a:xfrm>
            <a:off x="5524500" y="685800"/>
            <a:ext cx="38100" cy="38100"/>
          </a:xfrm>
          <a:prstGeom prst="rect">
            <a:avLst/>
          </a:prstGeom>
          <a:solidFill>
            <a:srgbClr val="CED7E6">
              <a:alpha val="37120"/>
            </a:srgbClr>
          </a:solidFill>
          <a:ln>
            <a:noFill/>
          </a:ln>
        </p:spPr>
      </p:sp>
      <p:sp>
        <p:nvSpPr>
          <p:cNvPr id="79" name="wm.whiteboard.144.54"/>
          <p:cNvSpPr/>
          <p:nvPr/>
        </p:nvSpPr>
        <p:spPr>
          <a:xfrm>
            <a:off x="5524500" y="914400"/>
            <a:ext cx="38100" cy="38100"/>
          </a:xfrm>
          <a:prstGeom prst="rect">
            <a:avLst/>
          </a:prstGeom>
          <a:solidFill>
            <a:srgbClr val="CED7E6">
              <a:alpha val="31044"/>
            </a:srgbClr>
          </a:solidFill>
          <a:ln>
            <a:noFill/>
          </a:ln>
        </p:spPr>
      </p:sp>
      <p:sp>
        <p:nvSpPr>
          <p:cNvPr id="80" name="wm.whiteboard.144.72"/>
          <p:cNvSpPr/>
          <p:nvPr/>
        </p:nvSpPr>
        <p:spPr>
          <a:xfrm>
            <a:off x="5524500" y="1143000"/>
            <a:ext cx="38100" cy="38100"/>
          </a:xfrm>
          <a:prstGeom prst="rect">
            <a:avLst/>
          </a:prstGeom>
          <a:solidFill>
            <a:srgbClr val="CED7E6">
              <a:alpha val="23083"/>
            </a:srgbClr>
          </a:solidFill>
          <a:ln>
            <a:noFill/>
          </a:ln>
        </p:spPr>
      </p:sp>
      <p:sp>
        <p:nvSpPr>
          <p:cNvPr id="81" name="wm.whiteboard.144.90"/>
          <p:cNvSpPr/>
          <p:nvPr/>
        </p:nvSpPr>
        <p:spPr>
          <a:xfrm>
            <a:off x="5524500" y="1371600"/>
            <a:ext cx="38100" cy="38100"/>
          </a:xfrm>
          <a:prstGeom prst="rect">
            <a:avLst/>
          </a:prstGeom>
          <a:solidFill>
            <a:srgbClr val="CED7E6">
              <a:alpha val="13557"/>
            </a:srgbClr>
          </a:solidFill>
          <a:ln>
            <a:noFill/>
          </a:ln>
        </p:spPr>
      </p:sp>
      <p:sp>
        <p:nvSpPr>
          <p:cNvPr id="82" name="wm.whiteboard.144.108"/>
          <p:cNvSpPr/>
          <p:nvPr/>
        </p:nvSpPr>
        <p:spPr>
          <a:xfrm>
            <a:off x="5524500" y="1600200"/>
            <a:ext cx="38100" cy="38100"/>
          </a:xfrm>
          <a:prstGeom prst="rect">
            <a:avLst/>
          </a:prstGeom>
          <a:solidFill>
            <a:srgbClr val="CED7E6">
              <a:alpha val="2762"/>
            </a:srgbClr>
          </a:solidFill>
          <a:ln>
            <a:noFill/>
          </a:ln>
        </p:spPr>
      </p:sp>
      <p:sp>
        <p:nvSpPr>
          <p:cNvPr id="83" name="wm.whiteboard.162.0"/>
          <p:cNvSpPr/>
          <p:nvPr/>
        </p:nvSpPr>
        <p:spPr>
          <a:xfrm>
            <a:off x="5753100" y="228600"/>
            <a:ext cx="38100" cy="38100"/>
          </a:xfrm>
          <a:prstGeom prst="rect">
            <a:avLst/>
          </a:prstGeom>
          <a:solidFill>
            <a:srgbClr val="CED7E6">
              <a:alpha val="28695"/>
            </a:srgbClr>
          </a:solidFill>
          <a:ln>
            <a:noFill/>
          </a:ln>
        </p:spPr>
      </p:sp>
      <p:sp>
        <p:nvSpPr>
          <p:cNvPr id="84" name="wm.whiteboard.162.18"/>
          <p:cNvSpPr/>
          <p:nvPr/>
        </p:nvSpPr>
        <p:spPr>
          <a:xfrm>
            <a:off x="5753100" y="457200"/>
            <a:ext cx="38100" cy="38100"/>
          </a:xfrm>
          <a:prstGeom prst="rect">
            <a:avLst/>
          </a:prstGeom>
          <a:solidFill>
            <a:srgbClr val="CED7E6">
              <a:alpha val="27389"/>
            </a:srgbClr>
          </a:solidFill>
          <a:ln>
            <a:noFill/>
          </a:ln>
        </p:spPr>
      </p:sp>
      <p:sp>
        <p:nvSpPr>
          <p:cNvPr id="85" name="wm.whiteboard.162.36"/>
          <p:cNvSpPr/>
          <p:nvPr/>
        </p:nvSpPr>
        <p:spPr>
          <a:xfrm>
            <a:off x="5753100" y="685800"/>
            <a:ext cx="38100" cy="38100"/>
          </a:xfrm>
          <a:prstGeom prst="rect">
            <a:avLst/>
          </a:prstGeom>
          <a:solidFill>
            <a:srgbClr val="CED7E6">
              <a:alpha val="23910"/>
            </a:srgbClr>
          </a:solidFill>
          <a:ln>
            <a:noFill/>
          </a:ln>
        </p:spPr>
      </p:sp>
      <p:sp>
        <p:nvSpPr>
          <p:cNvPr id="86" name="wm.whiteboard.162.54"/>
          <p:cNvSpPr/>
          <p:nvPr/>
        </p:nvSpPr>
        <p:spPr>
          <a:xfrm>
            <a:off x="5753100" y="914400"/>
            <a:ext cx="38100" cy="38100"/>
          </a:xfrm>
          <a:prstGeom prst="rect">
            <a:avLst/>
          </a:prstGeom>
          <a:solidFill>
            <a:srgbClr val="CED7E6">
              <a:alpha val="18425"/>
            </a:srgbClr>
          </a:solidFill>
          <a:ln>
            <a:noFill/>
          </a:ln>
        </p:spPr>
      </p:sp>
      <p:sp>
        <p:nvSpPr>
          <p:cNvPr id="87" name="wm.whiteboard.162.72"/>
          <p:cNvSpPr/>
          <p:nvPr/>
        </p:nvSpPr>
        <p:spPr>
          <a:xfrm>
            <a:off x="5753100" y="1143000"/>
            <a:ext cx="38100" cy="38100"/>
          </a:xfrm>
          <a:prstGeom prst="rect">
            <a:avLst/>
          </a:prstGeom>
          <a:solidFill>
            <a:srgbClr val="CED7E6">
              <a:alpha val="11167"/>
            </a:srgbClr>
          </a:solidFill>
          <a:ln>
            <a:noFill/>
          </a:ln>
        </p:spPr>
      </p:sp>
      <p:sp>
        <p:nvSpPr>
          <p:cNvPr id="88" name="wm.whiteboard.162.90"/>
          <p:cNvSpPr/>
          <p:nvPr/>
        </p:nvSpPr>
        <p:spPr>
          <a:xfrm>
            <a:off x="5753100" y="1371600"/>
            <a:ext cx="38100" cy="38100"/>
          </a:xfrm>
          <a:prstGeom prst="rect">
            <a:avLst/>
          </a:prstGeom>
          <a:solidFill>
            <a:srgbClr val="CED7E6">
              <a:alpha val="2388"/>
            </a:srgbClr>
          </a:solidFill>
          <a:ln>
            <a:noFill/>
          </a:ln>
        </p:spPr>
      </p:sp>
      <p:sp>
        <p:nvSpPr>
          <p:cNvPr id="89" name="wm.whiteboard.180.0"/>
          <p:cNvSpPr/>
          <p:nvPr/>
        </p:nvSpPr>
        <p:spPr>
          <a:xfrm>
            <a:off x="5981700" y="228600"/>
            <a:ext cx="38100" cy="38100"/>
          </a:xfrm>
          <a:prstGeom prst="rect">
            <a:avLst/>
          </a:prstGeom>
          <a:solidFill>
            <a:srgbClr val="CED7E6">
              <a:alpha val="14918"/>
            </a:srgbClr>
          </a:solidFill>
          <a:ln>
            <a:noFill/>
          </a:ln>
        </p:spPr>
      </p:sp>
      <p:sp>
        <p:nvSpPr>
          <p:cNvPr id="90" name="wm.whiteboard.180.18"/>
          <p:cNvSpPr/>
          <p:nvPr/>
        </p:nvSpPr>
        <p:spPr>
          <a:xfrm>
            <a:off x="5981700" y="457200"/>
            <a:ext cx="38100" cy="38100"/>
          </a:xfrm>
          <a:prstGeom prst="rect">
            <a:avLst/>
          </a:prstGeom>
          <a:solidFill>
            <a:srgbClr val="CED7E6">
              <a:alpha val="13741"/>
            </a:srgbClr>
          </a:solidFill>
          <a:ln>
            <a:noFill/>
          </a:ln>
        </p:spPr>
      </p:sp>
      <p:sp>
        <p:nvSpPr>
          <p:cNvPr id="91" name="wm.whiteboard.180.36"/>
          <p:cNvSpPr/>
          <p:nvPr/>
        </p:nvSpPr>
        <p:spPr>
          <a:xfrm>
            <a:off x="5981700" y="685800"/>
            <a:ext cx="38100" cy="38100"/>
          </a:xfrm>
          <a:prstGeom prst="rect">
            <a:avLst/>
          </a:prstGeom>
          <a:solidFill>
            <a:srgbClr val="CED7E6">
              <a:alpha val="10593"/>
            </a:srgbClr>
          </a:solidFill>
          <a:ln>
            <a:noFill/>
          </a:ln>
        </p:spPr>
      </p:sp>
      <p:sp>
        <p:nvSpPr>
          <p:cNvPr id="92" name="wm.whiteboard.180.54"/>
          <p:cNvSpPr/>
          <p:nvPr/>
        </p:nvSpPr>
        <p:spPr>
          <a:xfrm>
            <a:off x="5981700" y="914400"/>
            <a:ext cx="38100" cy="38100"/>
          </a:xfrm>
          <a:prstGeom prst="rect">
            <a:avLst/>
          </a:prstGeom>
          <a:solidFill>
            <a:srgbClr val="CED7E6">
              <a:alpha val="5600"/>
            </a:srgbClr>
          </a:solidFill>
          <a:ln>
            <a:noFill/>
          </a:ln>
        </p:spPr>
      </p:sp>
      <p:sp>
        <p:nvSpPr>
          <p:cNvPr id="93" name="wm.whiteboard.198.0"/>
          <p:cNvSpPr/>
          <p:nvPr/>
        </p:nvSpPr>
        <p:spPr>
          <a:xfrm>
            <a:off x="6210300" y="228600"/>
            <a:ext cx="38100" cy="38100"/>
          </a:xfrm>
          <a:prstGeom prst="rect">
            <a:avLst/>
          </a:prstGeom>
          <a:solidFill>
            <a:srgbClr val="CED7E6">
              <a:alpha val="1142"/>
            </a:srgbClr>
          </a:solidFill>
          <a:ln>
            <a:noFill/>
          </a:ln>
        </p:spPr>
      </p:sp>
      <p:sp>
        <p:nvSpPr>
          <p:cNvPr id="94" name="wm.whiteboard.198.18"/>
          <p:cNvSpPr/>
          <p:nvPr/>
        </p:nvSpPr>
        <p:spPr>
          <a:xfrm>
            <a:off x="6210300" y="457200"/>
            <a:ext cx="38100" cy="38100"/>
          </a:xfrm>
          <a:prstGeom prst="rect">
            <a:avLst/>
          </a:prstGeom>
          <a:solidFill>
            <a:srgbClr val="CED7E6">
              <a:alpha val="69"/>
            </a:srgbClr>
          </a:solidFill>
          <a:ln>
            <a:noFill/>
          </a:ln>
        </p:spPr>
      </p:sp>
      <p:sp>
        <p:nvSpPr>
          <p:cNvPr id="95" name="wm.header.rule"/>
          <p:cNvSpPr/>
          <p:nvPr/>
        </p:nvSpPr>
        <p:spPr>
          <a:xfrm>
            <a:off x="4381500" y="1371600"/>
            <a:ext cx="70866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pic>
        <p:nvPicPr>
          <p:cNvPr id="96" name="wm.logo" descr="West Monro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6210300"/>
            <a:ext cx="729403" cy="152400"/>
          </a:xfrm>
          <a:prstGeom prst="rect">
            <a:avLst/>
          </a:prstGeom>
        </p:spPr>
      </p:pic>
      <p:sp>
        <p:nvSpPr>
          <p:cNvPr id="97" name="wm.legal"/>
          <p:cNvSpPr/>
          <p:nvPr/>
        </p:nvSpPr>
        <p:spPr>
          <a:xfrm>
            <a:off x="4381500" y="6172200"/>
            <a:ext cx="670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spc="0" kern="0" b="0" i="0" dirty="0">
                <a:solidFill>
                  <a:srgbClr val="50658E"/>
                </a:solidFill>
                <a:latin typeface="IBM Plex Mono"/>
                <a:ea typeface="IBM Plex Mono"/>
                <a:cs typeface="IBM Plex Mono"/>
              </a:rPr>
              <a:t>© 2026 West Monroe Partners | Reproduction and/or distribution without West Monroe Partners’ prior consent is prohibited.</a:t>
            </a:r>
            <a:endParaRPr lang="en-US" sz="700" spc="0" kern="0" b="0" i="0" dirty="0">
              <a:solidFill>
                <a:srgbClr val="50658E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1-3.png"/><Relationship Id="rId6" Type="http://schemas.openxmlformats.org/officeDocument/2006/relationships/image" Target="../media/image-1-4.svg"/><Relationship Id="rId7" Type="http://schemas.openxmlformats.org/officeDocument/2006/relationships/image" Target="../media/image-3-3.png"/><Relationship Id="rId8" Type="http://schemas.openxmlformats.org/officeDocument/2006/relationships/image" Target="../media/image-3-4.svg"/><Relationship Id="rId9" Type="http://schemas.openxmlformats.org/officeDocument/2006/relationships/image" Target="../media/image-1-5.png"/><Relationship Id="rId10" Type="http://schemas.openxmlformats.org/officeDocument/2006/relationships/image" Target="../media/image-1-6.svg"/><Relationship Id="rId11" Type="http://schemas.openxmlformats.org/officeDocument/2006/relationships/image" Target="../media/image-3-3.png"/><Relationship Id="rId12" Type="http://schemas.openxmlformats.org/officeDocument/2006/relationships/image" Target="../media/image-3-4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3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OUR APPROACH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AI-powered modernization compresses time and risk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410325"/>
            <a:ext cx="3048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1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49" name="node01"/>
          <p:cNvGrpSpPr/>
          <p:nvPr/>
        </p:nvGrpSpPr>
        <p:grpSpPr>
          <a:xfrm>
            <a:off x="723900" y="1600200"/>
            <a:ext cx="3429000" cy="3429000"/>
            <a:chOff x="723900" y="1600200"/>
            <a:chExt cx="3429000" cy="3429000"/>
          </a:xfrm>
        </p:grpSpPr>
        <p:sp>
          <p:nvSpPr>
            <p:cNvPr id="6" name="node01.container"/>
            <p:cNvSpPr/>
            <p:nvPr/>
          </p:nvSpPr>
          <p:spPr>
            <a:xfrm>
              <a:off x="723900" y="1600200"/>
              <a:ext cx="3429000" cy="3429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grpSp>
          <p:nvGrpSpPr>
            <p:cNvPr id="48" name="node01.icon"/>
            <p:cNvGrpSpPr/>
            <p:nvPr/>
          </p:nvGrpSpPr>
          <p:grpSpPr>
            <a:xfrm>
              <a:off x="952500" y="1828800"/>
              <a:ext cx="457200" cy="457200"/>
              <a:chOff x="952500" y="1828800"/>
              <a:chExt cx="457200" cy="457200"/>
            </a:xfrm>
          </p:grpSpPr>
          <p:pic>
            <p:nvPicPr>
              <p:cNvPr id="7" name="node01.icon.image" descr="icon/target-arrow/navy; canonical SHA256=d7be3489d4c720d338cad319f07d0f5d4613e221b5ae04fe7e8f497c9849348f">    </p:cNvPr>
              <p:cNvPicPr>
                <a:picLocks noChangeAspect="1"/>
              </p:cNvPicPr>
              <p:nvPr/>
            </p:nvPicPr>
            <p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952500" y="1828800"/>
                <a:ext cx="457200" cy="457200"/>
              </a:xfrm>
              <a:prstGeom prst="rect">
                <a:avLst/>
              </a:prstGeom>
            </p:spPr>
          </p:pic>
        </p:grpSp>
        <p:sp>
          <p:nvSpPr>
            <p:cNvPr id="8" name="node01.title"/>
            <p:cNvSpPr/>
            <p:nvPr/>
          </p:nvSpPr>
          <p:spPr>
            <a:xfrm>
              <a:off x="1562100" y="1828800"/>
              <a:ext cx="23622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047FF"/>
                  </a:solidFill>
                  <a:latin typeface="IBM Plex Sans SemiBold"/>
                  <a:ea typeface="IBM Plex Sans SemiBold"/>
                  <a:cs typeface="IBM Plex Sans SemiBold"/>
                </a:rPr>
                <a:t>Value first</a:t>
              </a:r>
              <a:endParaRPr lang="en-US" sz="1800" spc="-18" kern="0" b="0" i="0" dirty="0">
                <a:solidFill>
                  <a:srgbClr val="0047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9" name="node01.body.item-001.bullets.item-001.marker"/>
            <p:cNvSpPr/>
            <p:nvPr/>
          </p:nvSpPr>
          <p:spPr>
            <a:xfrm>
              <a:off x="952500" y="2546350"/>
              <a:ext cx="50800" cy="50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0" name="node01.body.item-001.bullets.item-001.text"/>
            <p:cNvSpPr/>
            <p:nvPr/>
          </p:nvSpPr>
          <p:spPr>
            <a:xfrm>
              <a:off x="1143000" y="2438400"/>
              <a:ext cx="27813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We rank every system by business value, not technical elegance.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1" name="node01.body.item-001.bullets.item-002.marker"/>
            <p:cNvSpPr/>
            <p:nvPr/>
          </p:nvSpPr>
          <p:spPr>
            <a:xfrm>
              <a:off x="952500" y="3155950"/>
              <a:ext cx="50800" cy="50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2" name="node01.body.item-001.bullets.item-002.text"/>
            <p:cNvSpPr/>
            <p:nvPr/>
          </p:nvSpPr>
          <p:spPr>
            <a:xfrm>
              <a:off x="1143000" y="3048000"/>
              <a:ext cx="27813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Cost, risk and revenue exposure scored side by side.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3" name="node01.body.item-001.bullets.item-003.marker"/>
            <p:cNvSpPr/>
            <p:nvPr/>
          </p:nvSpPr>
          <p:spPr>
            <a:xfrm>
              <a:off x="952500" y="3765550"/>
              <a:ext cx="50800" cy="50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4" name="node01.body.item-001.bullets.item-003.text"/>
            <p:cNvSpPr/>
            <p:nvPr/>
          </p:nvSpPr>
          <p:spPr>
            <a:xfrm>
              <a:off x="1143000" y="3657600"/>
              <a:ext cx="27813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Quick wins funded first, so savings pay for later waves.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5" name="node01.body.item-001.bullets.item-004.marker"/>
            <p:cNvSpPr/>
            <p:nvPr/>
          </p:nvSpPr>
          <p:spPr>
            <a:xfrm>
              <a:off x="952500" y="4375150"/>
              <a:ext cx="50800" cy="50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6" name="node01.body.item-001.bullets.item-004.text"/>
            <p:cNvSpPr/>
            <p:nvPr/>
          </p:nvSpPr>
          <p:spPr>
            <a:xfrm>
              <a:off x="1143000" y="4267200"/>
              <a:ext cx="27813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Value tracked every release.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50" name="node02"/>
          <p:cNvGrpSpPr/>
          <p:nvPr/>
        </p:nvGrpSpPr>
        <p:grpSpPr>
          <a:xfrm>
            <a:off x="1866900" y="4800600"/>
            <a:ext cx="2286000" cy="1371600"/>
            <a:chOff x="1866900" y="4800600"/>
            <a:chExt cx="2286000" cy="1371600"/>
          </a:xfrm>
        </p:grpSpPr>
        <p:sp>
          <p:nvSpPr>
            <p:cNvPr id="17" name="node02.surface"/>
            <p:cNvSpPr/>
            <p:nvPr/>
          </p:nvSpPr>
          <p:spPr>
            <a:xfrm>
              <a:off x="1866900" y="4800600"/>
              <a:ext cx="2286000" cy="13716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51" name="node03"/>
          <p:cNvGrpSpPr/>
          <p:nvPr/>
        </p:nvGrpSpPr>
        <p:grpSpPr>
          <a:xfrm>
            <a:off x="2095500" y="5029200"/>
            <a:ext cx="1828800" cy="152400"/>
            <a:chOff x="2095500" y="5029200"/>
            <a:chExt cx="1828800" cy="152400"/>
          </a:xfrm>
        </p:grpSpPr>
        <p:sp>
          <p:nvSpPr>
            <p:cNvPr id="18" name="node03.text"/>
            <p:cNvSpPr/>
            <p:nvPr/>
          </p:nvSpPr>
          <p:spPr>
            <a:xfrm>
              <a:off x="2095500" y="5029200"/>
              <a:ext cx="18288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F900D3"/>
                  </a:solidFill>
                  <a:latin typeface="IBM Plex Mono Medium"/>
                  <a:ea typeface="IBM Plex Mono Medium"/>
                  <a:cs typeface="IBM Plex Mono Medium"/>
                </a:rPr>
                <a:t>WHY THIS MATTERS</a:t>
              </a:r>
              <a:endParaRPr lang="en-US" sz="900" spc="54" kern="0" b="0" i="0" dirty="0">
                <a:solidFill>
                  <a:srgbClr val="F900D3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52" name="node04"/>
          <p:cNvGrpSpPr/>
          <p:nvPr/>
        </p:nvGrpSpPr>
        <p:grpSpPr>
          <a:xfrm>
            <a:off x="2095500" y="5257800"/>
            <a:ext cx="1828800" cy="685800"/>
            <a:chOff x="2095500" y="5257800"/>
            <a:chExt cx="1828800" cy="685800"/>
          </a:xfrm>
        </p:grpSpPr>
        <p:sp>
          <p:nvSpPr>
            <p:cNvPr id="19" name="node04.text"/>
            <p:cNvSpPr/>
            <p:nvPr/>
          </p:nvSpPr>
          <p:spPr>
            <a:xfrm>
              <a:off x="2095500" y="5257800"/>
              <a:ext cx="182880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Effort goes where return is highest, so promised value lands.</a:t>
              </a:r>
              <a:endParaRPr lang="en-US" sz="12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54" name="node05"/>
          <p:cNvGrpSpPr/>
          <p:nvPr/>
        </p:nvGrpSpPr>
        <p:grpSpPr>
          <a:xfrm>
            <a:off x="4381500" y="1600200"/>
            <a:ext cx="3429000" cy="3429000"/>
            <a:chOff x="4381500" y="1600200"/>
            <a:chExt cx="3429000" cy="3429000"/>
          </a:xfrm>
        </p:grpSpPr>
        <p:sp>
          <p:nvSpPr>
            <p:cNvPr id="20" name="node05.container"/>
            <p:cNvSpPr/>
            <p:nvPr/>
          </p:nvSpPr>
          <p:spPr>
            <a:xfrm>
              <a:off x="4381500" y="1600200"/>
              <a:ext cx="3429000" cy="3429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grpSp>
          <p:nvGrpSpPr>
            <p:cNvPr id="53" name="node05.icon"/>
            <p:cNvGrpSpPr/>
            <p:nvPr/>
          </p:nvGrpSpPr>
          <p:grpSpPr>
            <a:xfrm>
              <a:off x="4610100" y="1828800"/>
              <a:ext cx="457200" cy="457200"/>
              <a:chOff x="4610100" y="1828800"/>
              <a:chExt cx="457200" cy="457200"/>
            </a:xfrm>
          </p:grpSpPr>
          <p:pic>
            <p:nvPicPr>
              <p:cNvPr id="21" name="node05.icon.image" descr="icon/strategy-route/navy; canonical SHA256=763a15166fefc06f84edb42452bdf8fbb13cc97295a2599a2fc99a950f7f95d4">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610100" y="1828800"/>
                <a:ext cx="457200" cy="457200"/>
              </a:xfrm>
              <a:prstGeom prst="rect">
                <a:avLst/>
              </a:prstGeom>
            </p:spPr>
          </p:pic>
        </p:grpSp>
        <p:sp>
          <p:nvSpPr>
            <p:cNvPr id="22" name="node05.title"/>
            <p:cNvSpPr/>
            <p:nvPr/>
          </p:nvSpPr>
          <p:spPr>
            <a:xfrm>
              <a:off x="5219700" y="1828800"/>
              <a:ext cx="23622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047FF"/>
                  </a:solidFill>
                  <a:latin typeface="IBM Plex Sans SemiBold"/>
                  <a:ea typeface="IBM Plex Sans SemiBold"/>
                  <a:cs typeface="IBM Plex Sans SemiBold"/>
                </a:rPr>
                <a:t>Purpose built</a:t>
              </a:r>
              <a:endParaRPr lang="en-US" sz="1800" spc="-18" kern="0" b="0" i="0" dirty="0">
                <a:solidFill>
                  <a:srgbClr val="0047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23" name="node05.body.item-001.bullets.item-001.marker"/>
            <p:cNvSpPr/>
            <p:nvPr/>
          </p:nvSpPr>
          <p:spPr>
            <a:xfrm>
              <a:off x="4610100" y="2546350"/>
              <a:ext cx="50800" cy="50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4" name="node05.body.item-001.bullets.item-001.text"/>
            <p:cNvSpPr/>
            <p:nvPr/>
          </p:nvSpPr>
          <p:spPr>
            <a:xfrm>
              <a:off x="4800600" y="2438400"/>
              <a:ext cx="27813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Retain, replatform, rewrite or retire, chosen per system.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5" name="node05.body.item-001.bullets.item-002.marker"/>
            <p:cNvSpPr/>
            <p:nvPr/>
          </p:nvSpPr>
          <p:spPr>
            <a:xfrm>
              <a:off x="4610100" y="3155950"/>
              <a:ext cx="50800" cy="50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6" name="node05.body.item-001.bullets.item-002.text"/>
            <p:cNvSpPr/>
            <p:nvPr/>
          </p:nvSpPr>
          <p:spPr>
            <a:xfrm>
              <a:off x="4800600" y="3048000"/>
              <a:ext cx="27813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Stable components stay in place, untouched.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7" name="node05.body.item-001.bullets.item-003.marker"/>
            <p:cNvSpPr/>
            <p:nvPr/>
          </p:nvSpPr>
          <p:spPr>
            <a:xfrm>
              <a:off x="4610100" y="3765550"/>
              <a:ext cx="50800" cy="50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8" name="node05.body.item-001.bullets.item-003.text"/>
            <p:cNvSpPr/>
            <p:nvPr/>
          </p:nvSpPr>
          <p:spPr>
            <a:xfrm>
              <a:off x="4800600" y="3657600"/>
              <a:ext cx="27813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Target architecture fits your portfolio and skills.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9" name="node05.body.item-001.bullets.item-004.marker"/>
            <p:cNvSpPr/>
            <p:nvPr/>
          </p:nvSpPr>
          <p:spPr>
            <a:xfrm>
              <a:off x="4610100" y="4375150"/>
              <a:ext cx="50800" cy="50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0" name="node05.body.item-001.bullets.item-004.text"/>
            <p:cNvSpPr/>
            <p:nvPr/>
          </p:nvSpPr>
          <p:spPr>
            <a:xfrm>
              <a:off x="4800600" y="4267200"/>
              <a:ext cx="27813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Nothing is rebuilt for show.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55" name="node06"/>
          <p:cNvGrpSpPr/>
          <p:nvPr/>
        </p:nvGrpSpPr>
        <p:grpSpPr>
          <a:xfrm>
            <a:off x="5524500" y="4800600"/>
            <a:ext cx="2286000" cy="1371600"/>
            <a:chOff x="5524500" y="4800600"/>
            <a:chExt cx="2286000" cy="1371600"/>
          </a:xfrm>
        </p:grpSpPr>
        <p:sp>
          <p:nvSpPr>
            <p:cNvPr id="31" name="node06.surface"/>
            <p:cNvSpPr/>
            <p:nvPr/>
          </p:nvSpPr>
          <p:spPr>
            <a:xfrm>
              <a:off x="5524500" y="4800600"/>
              <a:ext cx="2286000" cy="13716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56" name="node07"/>
          <p:cNvGrpSpPr/>
          <p:nvPr/>
        </p:nvGrpSpPr>
        <p:grpSpPr>
          <a:xfrm>
            <a:off x="5753100" y="5029200"/>
            <a:ext cx="1828800" cy="152400"/>
            <a:chOff x="5753100" y="5029200"/>
            <a:chExt cx="1828800" cy="152400"/>
          </a:xfrm>
        </p:grpSpPr>
        <p:sp>
          <p:nvSpPr>
            <p:cNvPr id="32" name="node07.text"/>
            <p:cNvSpPr/>
            <p:nvPr/>
          </p:nvSpPr>
          <p:spPr>
            <a:xfrm>
              <a:off x="5753100" y="5029200"/>
              <a:ext cx="18288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F900D3"/>
                  </a:solidFill>
                  <a:latin typeface="IBM Plex Mono Medium"/>
                  <a:ea typeface="IBM Plex Mono Medium"/>
                  <a:cs typeface="IBM Plex Mono Medium"/>
                </a:rPr>
                <a:t>WHY THIS MATTERS</a:t>
              </a:r>
              <a:endParaRPr lang="en-US" sz="900" spc="54" kern="0" b="0" i="0" dirty="0">
                <a:solidFill>
                  <a:srgbClr val="F900D3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57" name="node08"/>
          <p:cNvGrpSpPr/>
          <p:nvPr/>
        </p:nvGrpSpPr>
        <p:grpSpPr>
          <a:xfrm>
            <a:off x="5753100" y="5257800"/>
            <a:ext cx="1828800" cy="685800"/>
            <a:chOff x="5753100" y="5257800"/>
            <a:chExt cx="1828800" cy="685800"/>
          </a:xfrm>
        </p:grpSpPr>
        <p:sp>
          <p:nvSpPr>
            <p:cNvPr id="33" name="node08.text"/>
            <p:cNvSpPr/>
            <p:nvPr/>
          </p:nvSpPr>
          <p:spPr>
            <a:xfrm>
              <a:off x="5753100" y="5257800"/>
              <a:ext cx="182880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You keep what works and replace only what drives value.</a:t>
              </a:r>
              <a:endParaRPr lang="en-US" sz="12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59" name="node09"/>
          <p:cNvGrpSpPr/>
          <p:nvPr/>
        </p:nvGrpSpPr>
        <p:grpSpPr>
          <a:xfrm>
            <a:off x="8039100" y="1600200"/>
            <a:ext cx="3429000" cy="3429000"/>
            <a:chOff x="8039100" y="1600200"/>
            <a:chExt cx="3429000" cy="3429000"/>
          </a:xfrm>
        </p:grpSpPr>
        <p:sp>
          <p:nvSpPr>
            <p:cNvPr id="34" name="node09.container"/>
            <p:cNvSpPr/>
            <p:nvPr/>
          </p:nvSpPr>
          <p:spPr>
            <a:xfrm>
              <a:off x="8039100" y="1600200"/>
              <a:ext cx="3429000" cy="3429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grpSp>
          <p:nvGrpSpPr>
            <p:cNvPr id="58" name="node09.icon"/>
            <p:cNvGrpSpPr/>
            <p:nvPr/>
          </p:nvGrpSpPr>
          <p:grpSpPr>
            <a:xfrm>
              <a:off x="8267700" y="1828800"/>
              <a:ext cx="457200" cy="457200"/>
              <a:chOff x="8267700" y="1828800"/>
              <a:chExt cx="457200" cy="457200"/>
            </a:xfrm>
          </p:grpSpPr>
          <p:pic>
            <p:nvPicPr>
              <p:cNvPr id="35" name="node09.icon.image" descr="icon/ai-chip-orbit/navy; canonical SHA256=14a43f66d8a5b8ac5942dde8e905dedb2ae681de3a803ebf66fb1cacc34ccd3a">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267700" y="1828800"/>
                <a:ext cx="457200" cy="457200"/>
              </a:xfrm>
              <a:prstGeom prst="rect">
                <a:avLst/>
              </a:prstGeom>
            </p:spPr>
          </p:pic>
        </p:grpSp>
        <p:sp>
          <p:nvSpPr>
            <p:cNvPr id="36" name="node09.title"/>
            <p:cNvSpPr/>
            <p:nvPr/>
          </p:nvSpPr>
          <p:spPr>
            <a:xfrm>
              <a:off x="8877300" y="1828800"/>
              <a:ext cx="23622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047FF"/>
                  </a:solidFill>
                  <a:latin typeface="IBM Plex Sans SemiBold"/>
                  <a:ea typeface="IBM Plex Sans SemiBold"/>
                  <a:cs typeface="IBM Plex Sans SemiBold"/>
                </a:rPr>
                <a:t>AI accelerated</a:t>
              </a:r>
              <a:endParaRPr lang="en-US" sz="1800" spc="-18" kern="0" b="0" i="0" dirty="0">
                <a:solidFill>
                  <a:srgbClr val="0047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37" name="node09.body.item-001.bullets.item-001.marker"/>
            <p:cNvSpPr/>
            <p:nvPr/>
          </p:nvSpPr>
          <p:spPr>
            <a:xfrm>
              <a:off x="8267700" y="2546350"/>
              <a:ext cx="50800" cy="50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8" name="node09.body.item-001.bullets.item-001.text"/>
            <p:cNvSpPr/>
            <p:nvPr/>
          </p:nvSpPr>
          <p:spPr>
            <a:xfrm>
              <a:off x="8458200" y="2438400"/>
              <a:ext cx="27813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Agents scan and map codebases at scale.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9" name="node09.body.item-001.bullets.item-002.marker"/>
            <p:cNvSpPr/>
            <p:nvPr/>
          </p:nvSpPr>
          <p:spPr>
            <a:xfrm>
              <a:off x="8267700" y="3155950"/>
              <a:ext cx="50800" cy="50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0" name="node09.body.item-001.bullets.item-002.text"/>
            <p:cNvSpPr/>
            <p:nvPr/>
          </p:nvSpPr>
          <p:spPr>
            <a:xfrm>
              <a:off x="8458200" y="3048000"/>
              <a:ext cx="27813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Dependencies and dead code surface in days.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1" name="node09.body.item-001.bullets.item-003.marker"/>
            <p:cNvSpPr/>
            <p:nvPr/>
          </p:nvSpPr>
          <p:spPr>
            <a:xfrm>
              <a:off x="8267700" y="3765550"/>
              <a:ext cx="50800" cy="50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2" name="node09.body.item-001.bullets.item-003.text"/>
            <p:cNvSpPr/>
            <p:nvPr/>
          </p:nvSpPr>
          <p:spPr>
            <a:xfrm>
              <a:off x="8458200" y="3657600"/>
              <a:ext cx="27813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Generated tests and docs back each change.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3" name="node09.body.item-001.bullets.item-004.marker"/>
            <p:cNvSpPr/>
            <p:nvPr/>
          </p:nvSpPr>
          <p:spPr>
            <a:xfrm>
              <a:off x="8267700" y="4375150"/>
              <a:ext cx="50800" cy="50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4" name="node09.body.item-001.bullets.item-004.text"/>
            <p:cNvSpPr/>
            <p:nvPr/>
          </p:nvSpPr>
          <p:spPr>
            <a:xfrm>
              <a:off x="8458200" y="4267200"/>
              <a:ext cx="27813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Engineers approve every merge.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0" name="node10"/>
          <p:cNvGrpSpPr/>
          <p:nvPr/>
        </p:nvGrpSpPr>
        <p:grpSpPr>
          <a:xfrm>
            <a:off x="9182100" y="4800600"/>
            <a:ext cx="2286000" cy="1371600"/>
            <a:chOff x="9182100" y="4800600"/>
            <a:chExt cx="2286000" cy="1371600"/>
          </a:xfrm>
        </p:grpSpPr>
        <p:sp>
          <p:nvSpPr>
            <p:cNvPr id="45" name="node10.surface"/>
            <p:cNvSpPr/>
            <p:nvPr/>
          </p:nvSpPr>
          <p:spPr>
            <a:xfrm>
              <a:off x="9182100" y="4800600"/>
              <a:ext cx="2286000" cy="13716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61" name="node11"/>
          <p:cNvGrpSpPr/>
          <p:nvPr/>
        </p:nvGrpSpPr>
        <p:grpSpPr>
          <a:xfrm>
            <a:off x="9410700" y="5029200"/>
            <a:ext cx="1828800" cy="152400"/>
            <a:chOff x="9410700" y="5029200"/>
            <a:chExt cx="1828800" cy="152400"/>
          </a:xfrm>
        </p:grpSpPr>
        <p:sp>
          <p:nvSpPr>
            <p:cNvPr id="46" name="node11.text"/>
            <p:cNvSpPr/>
            <p:nvPr/>
          </p:nvSpPr>
          <p:spPr>
            <a:xfrm>
              <a:off x="9410700" y="5029200"/>
              <a:ext cx="18288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F900D3"/>
                  </a:solidFill>
                  <a:latin typeface="IBM Plex Mono Medium"/>
                  <a:ea typeface="IBM Plex Mono Medium"/>
                  <a:cs typeface="IBM Plex Mono Medium"/>
                </a:rPr>
                <a:t>WHY THIS MATTERS</a:t>
              </a:r>
              <a:endParaRPr lang="en-US" sz="900" spc="54" kern="0" b="0" i="0" dirty="0">
                <a:solidFill>
                  <a:srgbClr val="F900D3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62" name="node12"/>
          <p:cNvGrpSpPr/>
          <p:nvPr/>
        </p:nvGrpSpPr>
        <p:grpSpPr>
          <a:xfrm>
            <a:off x="9410700" y="5257800"/>
            <a:ext cx="1828800" cy="685800"/>
            <a:chOff x="9410700" y="5257800"/>
            <a:chExt cx="1828800" cy="685800"/>
          </a:xfrm>
        </p:grpSpPr>
        <p:sp>
          <p:nvSpPr>
            <p:cNvPr id="47" name="node12.text"/>
            <p:cNvSpPr/>
            <p:nvPr/>
          </p:nvSpPr>
          <p:spPr>
            <a:xfrm>
              <a:off x="9410700" y="5257800"/>
              <a:ext cx="182880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Months of analysis shrink to days, with less tribal knowledge.</a:t>
              </a:r>
              <a:endParaRPr lang="en-US" sz="12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3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OUR APPROACH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AI-powered modernization compresses time and risk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410325"/>
            <a:ext cx="3048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2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67" name="node01"/>
          <p:cNvGrpSpPr/>
          <p:nvPr/>
        </p:nvGrpSpPr>
        <p:grpSpPr>
          <a:xfrm>
            <a:off x="723900" y="1600200"/>
            <a:ext cx="2514600" cy="3429000"/>
            <a:chOff x="723900" y="1600200"/>
            <a:chExt cx="2514600" cy="3429000"/>
          </a:xfrm>
        </p:grpSpPr>
        <p:sp>
          <p:nvSpPr>
            <p:cNvPr id="6" name="node01.container"/>
            <p:cNvSpPr/>
            <p:nvPr/>
          </p:nvSpPr>
          <p:spPr>
            <a:xfrm>
              <a:off x="723900" y="1600200"/>
              <a:ext cx="2514600" cy="3429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grpSp>
          <p:nvGrpSpPr>
            <p:cNvPr id="66" name="node01.icon"/>
            <p:cNvGrpSpPr/>
            <p:nvPr/>
          </p:nvGrpSpPr>
          <p:grpSpPr>
            <a:xfrm>
              <a:off x="952500" y="1828800"/>
              <a:ext cx="457200" cy="457200"/>
              <a:chOff x="952500" y="1828800"/>
              <a:chExt cx="457200" cy="457200"/>
            </a:xfrm>
          </p:grpSpPr>
          <p:pic>
            <p:nvPicPr>
              <p:cNvPr id="7" name="node01.icon.image" descr="icon/target-arrow/navy; canonical SHA256=d7be3489d4c720d338cad319f07d0f5d4613e221b5ae04fe7e8f497c9849348f">    </p:cNvPr>
              <p:cNvPicPr>
                <a:picLocks noChangeAspect="1"/>
              </p:cNvPicPr>
              <p:nvPr/>
            </p:nvPicPr>
            <p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952500" y="1828800"/>
                <a:ext cx="457200" cy="457200"/>
              </a:xfrm>
              <a:prstGeom prst="rect">
                <a:avLst/>
              </a:prstGeom>
            </p:spPr>
          </p:pic>
        </p:grpSp>
        <p:sp>
          <p:nvSpPr>
            <p:cNvPr id="8" name="node01.title"/>
            <p:cNvSpPr/>
            <p:nvPr/>
          </p:nvSpPr>
          <p:spPr>
            <a:xfrm>
              <a:off x="1562100" y="1828800"/>
              <a:ext cx="1447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047FF"/>
                  </a:solidFill>
                  <a:latin typeface="IBM Plex Sans SemiBold"/>
                  <a:ea typeface="IBM Plex Sans SemiBold"/>
                  <a:cs typeface="IBM Plex Sans SemiBold"/>
                </a:rPr>
                <a:t>Value first</a:t>
              </a:r>
              <a:endParaRPr lang="en-US" sz="1800" spc="-18" kern="0" b="0" i="0" dirty="0">
                <a:solidFill>
                  <a:srgbClr val="0047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9" name="node01.body.item-001.bullets.item-001.marker"/>
            <p:cNvSpPr/>
            <p:nvPr/>
          </p:nvSpPr>
          <p:spPr>
            <a:xfrm>
              <a:off x="952500" y="24892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0" name="node01.body.item-001.bullets.item-001.text"/>
            <p:cNvSpPr/>
            <p:nvPr/>
          </p:nvSpPr>
          <p:spPr>
            <a:xfrm>
              <a:off x="1104900" y="2400300"/>
              <a:ext cx="1905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Rank work by business value.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1" name="node01.body.item-001.bullets.item-002.marker"/>
            <p:cNvSpPr/>
            <p:nvPr/>
          </p:nvSpPr>
          <p:spPr>
            <a:xfrm>
              <a:off x="952500" y="29845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2" name="node01.body.item-001.bullets.item-002.text"/>
            <p:cNvSpPr/>
            <p:nvPr/>
          </p:nvSpPr>
          <p:spPr>
            <a:xfrm>
              <a:off x="1104900" y="2895600"/>
              <a:ext cx="1905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Weigh cost, risk and revenue together.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3" name="node01.body.item-001.bullets.item-003.marker"/>
            <p:cNvSpPr/>
            <p:nvPr/>
          </p:nvSpPr>
          <p:spPr>
            <a:xfrm>
              <a:off x="952500" y="34798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4" name="node01.body.item-001.bullets.item-003.text"/>
            <p:cNvSpPr/>
            <p:nvPr/>
          </p:nvSpPr>
          <p:spPr>
            <a:xfrm>
              <a:off x="1104900" y="3390900"/>
              <a:ext cx="19050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Fund quick wins first.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5" name="node01.body.item-001.bullets.item-004.marker"/>
            <p:cNvSpPr/>
            <p:nvPr/>
          </p:nvSpPr>
          <p:spPr>
            <a:xfrm>
              <a:off x="952500" y="37465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6" name="node01.body.item-001.bullets.item-004.text"/>
            <p:cNvSpPr/>
            <p:nvPr/>
          </p:nvSpPr>
          <p:spPr>
            <a:xfrm>
              <a:off x="1104900" y="3657600"/>
              <a:ext cx="19050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Track value per release.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7" name="node01.body.item-001.bullets.item-005.marker"/>
            <p:cNvSpPr/>
            <p:nvPr/>
          </p:nvSpPr>
          <p:spPr>
            <a:xfrm>
              <a:off x="952500" y="40132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8" name="node01.body.item-001.bullets.item-005.text"/>
            <p:cNvSpPr/>
            <p:nvPr/>
          </p:nvSpPr>
          <p:spPr>
            <a:xfrm>
              <a:off x="1104900" y="3924300"/>
              <a:ext cx="1905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Review progress with sponsors each quarter.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8" name="node02"/>
          <p:cNvGrpSpPr/>
          <p:nvPr/>
        </p:nvGrpSpPr>
        <p:grpSpPr>
          <a:xfrm>
            <a:off x="1409700" y="4800600"/>
            <a:ext cx="1828800" cy="1371600"/>
            <a:chOff x="1409700" y="4800600"/>
            <a:chExt cx="1828800" cy="1371600"/>
          </a:xfrm>
        </p:grpSpPr>
        <p:sp>
          <p:nvSpPr>
            <p:cNvPr id="19" name="node02.surface"/>
            <p:cNvSpPr/>
            <p:nvPr/>
          </p:nvSpPr>
          <p:spPr>
            <a:xfrm>
              <a:off x="1409700" y="4800600"/>
              <a:ext cx="1828800" cy="13716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69" name="node03"/>
          <p:cNvGrpSpPr/>
          <p:nvPr/>
        </p:nvGrpSpPr>
        <p:grpSpPr>
          <a:xfrm>
            <a:off x="1638300" y="5029200"/>
            <a:ext cx="1371600" cy="152400"/>
            <a:chOff x="1638300" y="5029200"/>
            <a:chExt cx="1371600" cy="152400"/>
          </a:xfrm>
        </p:grpSpPr>
        <p:sp>
          <p:nvSpPr>
            <p:cNvPr id="20" name="node03.text"/>
            <p:cNvSpPr/>
            <p:nvPr/>
          </p:nvSpPr>
          <p:spPr>
            <a:xfrm>
              <a:off x="1638300" y="5029200"/>
              <a:ext cx="13716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F900D3"/>
                  </a:solidFill>
                  <a:latin typeface="IBM Plex Mono Medium"/>
                  <a:ea typeface="IBM Plex Mono Medium"/>
                  <a:cs typeface="IBM Plex Mono Medium"/>
                </a:rPr>
                <a:t>WHY THIS MATTERS</a:t>
              </a:r>
              <a:endParaRPr lang="en-US" sz="900" spc="54" kern="0" b="0" i="0" dirty="0">
                <a:solidFill>
                  <a:srgbClr val="F900D3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70" name="node04"/>
          <p:cNvGrpSpPr/>
          <p:nvPr/>
        </p:nvGrpSpPr>
        <p:grpSpPr>
          <a:xfrm>
            <a:off x="1638300" y="5257800"/>
            <a:ext cx="1371600" cy="457200"/>
            <a:chOff x="1638300" y="5257800"/>
            <a:chExt cx="1371600" cy="457200"/>
          </a:xfrm>
        </p:grpSpPr>
        <p:sp>
          <p:nvSpPr>
            <p:cNvPr id="21" name="node04.text"/>
            <p:cNvSpPr/>
            <p:nvPr/>
          </p:nvSpPr>
          <p:spPr>
            <a:xfrm>
              <a:off x="1638300" y="5257800"/>
              <a:ext cx="13716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Effort goes where return is highest.</a:t>
              </a:r>
              <a:endParaRPr lang="en-US" sz="12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72" name="node05"/>
          <p:cNvGrpSpPr/>
          <p:nvPr/>
        </p:nvGrpSpPr>
        <p:grpSpPr>
          <a:xfrm>
            <a:off x="3467100" y="1600200"/>
            <a:ext cx="2514600" cy="3429000"/>
            <a:chOff x="3467100" y="1600200"/>
            <a:chExt cx="2514600" cy="3429000"/>
          </a:xfrm>
        </p:grpSpPr>
        <p:sp>
          <p:nvSpPr>
            <p:cNvPr id="22" name="node05.container"/>
            <p:cNvSpPr/>
            <p:nvPr/>
          </p:nvSpPr>
          <p:spPr>
            <a:xfrm>
              <a:off x="3467100" y="1600200"/>
              <a:ext cx="2514600" cy="3429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grpSp>
          <p:nvGrpSpPr>
            <p:cNvPr id="71" name="node05.icon"/>
            <p:cNvGrpSpPr/>
            <p:nvPr/>
          </p:nvGrpSpPr>
          <p:grpSpPr>
            <a:xfrm>
              <a:off x="3695700" y="1828800"/>
              <a:ext cx="457200" cy="457200"/>
              <a:chOff x="3695700" y="1828800"/>
              <a:chExt cx="457200" cy="457200"/>
            </a:xfrm>
          </p:grpSpPr>
          <p:pic>
            <p:nvPicPr>
              <p:cNvPr id="23" name="node05.icon.image" descr="icon/strategy-route/navy; canonical SHA256=763a15166fefc06f84edb42452bdf8fbb13cc97295a2599a2fc99a950f7f95d4">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695700" y="1828800"/>
                <a:ext cx="457200" cy="457200"/>
              </a:xfrm>
              <a:prstGeom prst="rect">
                <a:avLst/>
              </a:prstGeom>
            </p:spPr>
          </p:pic>
        </p:grpSp>
        <p:sp>
          <p:nvSpPr>
            <p:cNvPr id="24" name="node05.title"/>
            <p:cNvSpPr/>
            <p:nvPr/>
          </p:nvSpPr>
          <p:spPr>
            <a:xfrm>
              <a:off x="4305300" y="1828800"/>
              <a:ext cx="1447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047FF"/>
                  </a:solidFill>
                  <a:latin typeface="IBM Plex Sans SemiBold"/>
                  <a:ea typeface="IBM Plex Sans SemiBold"/>
                  <a:cs typeface="IBM Plex Sans SemiBold"/>
                </a:rPr>
                <a:t>Purpose built</a:t>
              </a:r>
              <a:endParaRPr lang="en-US" sz="1800" spc="-18" kern="0" b="0" i="0" dirty="0">
                <a:solidFill>
                  <a:srgbClr val="0047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25" name="node05.body.item-001.bullets.item-001.marker"/>
            <p:cNvSpPr/>
            <p:nvPr/>
          </p:nvSpPr>
          <p:spPr>
            <a:xfrm>
              <a:off x="3695700" y="24892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6" name="node05.body.item-001.bullets.item-001.text"/>
            <p:cNvSpPr/>
            <p:nvPr/>
          </p:nvSpPr>
          <p:spPr>
            <a:xfrm>
              <a:off x="3848100" y="2400300"/>
              <a:ext cx="1905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Choose retain, replatform, rewrite or retire.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7" name="node05.body.item-001.bullets.item-002.marker"/>
            <p:cNvSpPr/>
            <p:nvPr/>
          </p:nvSpPr>
          <p:spPr>
            <a:xfrm>
              <a:off x="3695700" y="29845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8" name="node05.body.item-001.bullets.item-002.text"/>
            <p:cNvSpPr/>
            <p:nvPr/>
          </p:nvSpPr>
          <p:spPr>
            <a:xfrm>
              <a:off x="3848100" y="2895600"/>
              <a:ext cx="1905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Keep stable components in place.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9" name="node05.body.item-001.bullets.item-003.marker"/>
            <p:cNvSpPr/>
            <p:nvPr/>
          </p:nvSpPr>
          <p:spPr>
            <a:xfrm>
              <a:off x="3695700" y="34798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0" name="node05.body.item-001.bullets.item-003.text"/>
            <p:cNvSpPr/>
            <p:nvPr/>
          </p:nvSpPr>
          <p:spPr>
            <a:xfrm>
              <a:off x="3848100" y="3390900"/>
              <a:ext cx="1905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Fit the target to your portfolio.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1" name="node05.body.item-001.bullets.item-004.marker"/>
            <p:cNvSpPr/>
            <p:nvPr/>
          </p:nvSpPr>
          <p:spPr>
            <a:xfrm>
              <a:off x="3695700" y="39751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2" name="node05.body.item-001.bullets.item-004.text"/>
            <p:cNvSpPr/>
            <p:nvPr/>
          </p:nvSpPr>
          <p:spPr>
            <a:xfrm>
              <a:off x="3848100" y="3886200"/>
              <a:ext cx="19050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Nothing rebuilt for show.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3" name="node05.body.item-001.bullets.item-005.marker"/>
            <p:cNvSpPr/>
            <p:nvPr/>
          </p:nvSpPr>
          <p:spPr>
            <a:xfrm>
              <a:off x="3695700" y="42418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4" name="node05.body.item-001.bullets.item-005.text"/>
            <p:cNvSpPr/>
            <p:nvPr/>
          </p:nvSpPr>
          <p:spPr>
            <a:xfrm>
              <a:off x="3848100" y="4152900"/>
              <a:ext cx="19050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Plan system by system.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73" name="node06"/>
          <p:cNvGrpSpPr/>
          <p:nvPr/>
        </p:nvGrpSpPr>
        <p:grpSpPr>
          <a:xfrm>
            <a:off x="4152900" y="4800600"/>
            <a:ext cx="1828800" cy="1371600"/>
            <a:chOff x="4152900" y="4800600"/>
            <a:chExt cx="1828800" cy="1371600"/>
          </a:xfrm>
        </p:grpSpPr>
        <p:sp>
          <p:nvSpPr>
            <p:cNvPr id="35" name="node06.surface"/>
            <p:cNvSpPr/>
            <p:nvPr/>
          </p:nvSpPr>
          <p:spPr>
            <a:xfrm>
              <a:off x="4152900" y="4800600"/>
              <a:ext cx="1828800" cy="13716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74" name="node07"/>
          <p:cNvGrpSpPr/>
          <p:nvPr/>
        </p:nvGrpSpPr>
        <p:grpSpPr>
          <a:xfrm>
            <a:off x="4381500" y="5029200"/>
            <a:ext cx="1371600" cy="152400"/>
            <a:chOff x="4381500" y="5029200"/>
            <a:chExt cx="1371600" cy="152400"/>
          </a:xfrm>
        </p:grpSpPr>
        <p:sp>
          <p:nvSpPr>
            <p:cNvPr id="36" name="node07.text"/>
            <p:cNvSpPr/>
            <p:nvPr/>
          </p:nvSpPr>
          <p:spPr>
            <a:xfrm>
              <a:off x="4381500" y="5029200"/>
              <a:ext cx="13716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F900D3"/>
                  </a:solidFill>
                  <a:latin typeface="IBM Plex Mono Medium"/>
                  <a:ea typeface="IBM Plex Mono Medium"/>
                  <a:cs typeface="IBM Plex Mono Medium"/>
                </a:rPr>
                <a:t>WHY THIS MATTERS</a:t>
              </a:r>
              <a:endParaRPr lang="en-US" sz="900" spc="54" kern="0" b="0" i="0" dirty="0">
                <a:solidFill>
                  <a:srgbClr val="F900D3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75" name="node08"/>
          <p:cNvGrpSpPr/>
          <p:nvPr/>
        </p:nvGrpSpPr>
        <p:grpSpPr>
          <a:xfrm>
            <a:off x="4381500" y="5257800"/>
            <a:ext cx="1371600" cy="685800"/>
            <a:chOff x="4381500" y="5257800"/>
            <a:chExt cx="1371600" cy="685800"/>
          </a:xfrm>
        </p:grpSpPr>
        <p:sp>
          <p:nvSpPr>
            <p:cNvPr id="37" name="node08.text"/>
            <p:cNvSpPr/>
            <p:nvPr/>
          </p:nvSpPr>
          <p:spPr>
            <a:xfrm>
              <a:off x="4381500" y="5257800"/>
              <a:ext cx="137160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You keep what works, replace what drives value.</a:t>
              </a:r>
              <a:endParaRPr lang="en-US" sz="12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77" name="node09"/>
          <p:cNvGrpSpPr/>
          <p:nvPr/>
        </p:nvGrpSpPr>
        <p:grpSpPr>
          <a:xfrm>
            <a:off x="6210300" y="1600200"/>
            <a:ext cx="2514600" cy="3429000"/>
            <a:chOff x="6210300" y="1600200"/>
            <a:chExt cx="2514600" cy="3429000"/>
          </a:xfrm>
        </p:grpSpPr>
        <p:sp>
          <p:nvSpPr>
            <p:cNvPr id="38" name="node09.container"/>
            <p:cNvSpPr/>
            <p:nvPr/>
          </p:nvSpPr>
          <p:spPr>
            <a:xfrm>
              <a:off x="6210300" y="1600200"/>
              <a:ext cx="2514600" cy="3429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grpSp>
          <p:nvGrpSpPr>
            <p:cNvPr id="76" name="node09.icon"/>
            <p:cNvGrpSpPr/>
            <p:nvPr/>
          </p:nvGrpSpPr>
          <p:grpSpPr>
            <a:xfrm>
              <a:off x="6438900" y="1828800"/>
              <a:ext cx="457200" cy="457200"/>
              <a:chOff x="6438900" y="1828800"/>
              <a:chExt cx="457200" cy="457200"/>
            </a:xfrm>
          </p:grpSpPr>
          <p:pic>
            <p:nvPicPr>
              <p:cNvPr id="39" name="node09.icon.image" descr="icon/ai-chip-orbit/navy; canonical SHA256=14a43f66d8a5b8ac5942dde8e905dedb2ae681de3a803ebf66fb1cacc34ccd3a">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6438900" y="1828800"/>
                <a:ext cx="457200" cy="457200"/>
              </a:xfrm>
              <a:prstGeom prst="rect">
                <a:avLst/>
              </a:prstGeom>
            </p:spPr>
          </p:pic>
        </p:grpSp>
        <p:sp>
          <p:nvSpPr>
            <p:cNvPr id="40" name="node09.title"/>
            <p:cNvSpPr/>
            <p:nvPr/>
          </p:nvSpPr>
          <p:spPr>
            <a:xfrm>
              <a:off x="7048500" y="1828800"/>
              <a:ext cx="1447800" cy="609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047FF"/>
                  </a:solidFill>
                  <a:latin typeface="IBM Plex Sans SemiBold"/>
                  <a:ea typeface="IBM Plex Sans SemiBold"/>
                  <a:cs typeface="IBM Plex Sans SemiBold"/>
                </a:rPr>
                <a:t>AI accelerated</a:t>
              </a:r>
              <a:endParaRPr lang="en-US" sz="1800" spc="-18" kern="0" b="0" i="0" dirty="0">
                <a:solidFill>
                  <a:srgbClr val="0047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41" name="node09.body.item-001.bullets.item-001.marker"/>
            <p:cNvSpPr/>
            <p:nvPr/>
          </p:nvSpPr>
          <p:spPr>
            <a:xfrm>
              <a:off x="6438900" y="26416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2" name="node09.body.item-001.bullets.item-001.text"/>
            <p:cNvSpPr/>
            <p:nvPr/>
          </p:nvSpPr>
          <p:spPr>
            <a:xfrm>
              <a:off x="6591300" y="2552700"/>
              <a:ext cx="1905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Agents scan and map codebases.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3" name="node09.body.item-001.bullets.item-002.marker"/>
            <p:cNvSpPr/>
            <p:nvPr/>
          </p:nvSpPr>
          <p:spPr>
            <a:xfrm>
              <a:off x="6438900" y="31369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4" name="node09.body.item-001.bullets.item-002.text"/>
            <p:cNvSpPr/>
            <p:nvPr/>
          </p:nvSpPr>
          <p:spPr>
            <a:xfrm>
              <a:off x="6591300" y="3048000"/>
              <a:ext cx="1905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Dependencies surface in days.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5" name="node09.body.item-001.bullets.item-003.marker"/>
            <p:cNvSpPr/>
            <p:nvPr/>
          </p:nvSpPr>
          <p:spPr>
            <a:xfrm>
              <a:off x="6438900" y="36322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6" name="node09.body.item-001.bullets.item-003.text"/>
            <p:cNvSpPr/>
            <p:nvPr/>
          </p:nvSpPr>
          <p:spPr>
            <a:xfrm>
              <a:off x="6591300" y="3543300"/>
              <a:ext cx="1905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Generated tests back each change.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7" name="node09.body.item-001.bullets.item-004.marker"/>
            <p:cNvSpPr/>
            <p:nvPr/>
          </p:nvSpPr>
          <p:spPr>
            <a:xfrm>
              <a:off x="6438900" y="41275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8" name="node09.body.item-001.bullets.item-004.text"/>
            <p:cNvSpPr/>
            <p:nvPr/>
          </p:nvSpPr>
          <p:spPr>
            <a:xfrm>
              <a:off x="6591300" y="4038600"/>
              <a:ext cx="1905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Engineers approve every merge.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78" name="node10"/>
          <p:cNvGrpSpPr/>
          <p:nvPr/>
        </p:nvGrpSpPr>
        <p:grpSpPr>
          <a:xfrm>
            <a:off x="6896100" y="4800600"/>
            <a:ext cx="1828800" cy="1371600"/>
            <a:chOff x="6896100" y="4800600"/>
            <a:chExt cx="1828800" cy="1371600"/>
          </a:xfrm>
        </p:grpSpPr>
        <p:sp>
          <p:nvSpPr>
            <p:cNvPr id="49" name="node10.surface"/>
            <p:cNvSpPr/>
            <p:nvPr/>
          </p:nvSpPr>
          <p:spPr>
            <a:xfrm>
              <a:off x="6896100" y="4800600"/>
              <a:ext cx="1828800" cy="13716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79" name="node11"/>
          <p:cNvGrpSpPr/>
          <p:nvPr/>
        </p:nvGrpSpPr>
        <p:grpSpPr>
          <a:xfrm>
            <a:off x="7124700" y="5029200"/>
            <a:ext cx="1371600" cy="152400"/>
            <a:chOff x="7124700" y="5029200"/>
            <a:chExt cx="1371600" cy="152400"/>
          </a:xfrm>
        </p:grpSpPr>
        <p:sp>
          <p:nvSpPr>
            <p:cNvPr id="50" name="node11.text"/>
            <p:cNvSpPr/>
            <p:nvPr/>
          </p:nvSpPr>
          <p:spPr>
            <a:xfrm>
              <a:off x="7124700" y="5029200"/>
              <a:ext cx="13716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F900D3"/>
                  </a:solidFill>
                  <a:latin typeface="IBM Plex Mono Medium"/>
                  <a:ea typeface="IBM Plex Mono Medium"/>
                  <a:cs typeface="IBM Plex Mono Medium"/>
                </a:rPr>
                <a:t>WHY THIS MATTERS</a:t>
              </a:r>
              <a:endParaRPr lang="en-US" sz="900" spc="54" kern="0" b="0" i="0" dirty="0">
                <a:solidFill>
                  <a:srgbClr val="F900D3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80" name="node12"/>
          <p:cNvGrpSpPr/>
          <p:nvPr/>
        </p:nvGrpSpPr>
        <p:grpSpPr>
          <a:xfrm>
            <a:off x="7124700" y="5257800"/>
            <a:ext cx="1371600" cy="457200"/>
            <a:chOff x="7124700" y="5257800"/>
            <a:chExt cx="1371600" cy="457200"/>
          </a:xfrm>
        </p:grpSpPr>
        <p:sp>
          <p:nvSpPr>
            <p:cNvPr id="51" name="node12.text"/>
            <p:cNvSpPr/>
            <p:nvPr/>
          </p:nvSpPr>
          <p:spPr>
            <a:xfrm>
              <a:off x="7124700" y="5257800"/>
              <a:ext cx="13716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Months of analysis done in days.</a:t>
              </a:r>
              <a:endParaRPr lang="en-US" sz="12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2" name="node13"/>
          <p:cNvGrpSpPr/>
          <p:nvPr/>
        </p:nvGrpSpPr>
        <p:grpSpPr>
          <a:xfrm>
            <a:off x="8953500" y="1600200"/>
            <a:ext cx="2514600" cy="3429000"/>
            <a:chOff x="8953500" y="1600200"/>
            <a:chExt cx="2514600" cy="3429000"/>
          </a:xfrm>
        </p:grpSpPr>
        <p:sp>
          <p:nvSpPr>
            <p:cNvPr id="52" name="node13.container"/>
            <p:cNvSpPr/>
            <p:nvPr/>
          </p:nvSpPr>
          <p:spPr>
            <a:xfrm>
              <a:off x="8953500" y="1600200"/>
              <a:ext cx="2514600" cy="3429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grpSp>
          <p:nvGrpSpPr>
            <p:cNvPr id="81" name="node13.icon"/>
            <p:cNvGrpSpPr/>
            <p:nvPr/>
          </p:nvGrpSpPr>
          <p:grpSpPr>
            <a:xfrm>
              <a:off x="9182100" y="1828800"/>
              <a:ext cx="457200" cy="457200"/>
              <a:chOff x="9182100" y="1828800"/>
              <a:chExt cx="457200" cy="457200"/>
            </a:xfrm>
          </p:grpSpPr>
          <p:pic>
            <p:nvPicPr>
              <p:cNvPr id="53" name="node13.icon.image" descr="icon/team-huddle/navy; canonical SHA256=0810b0327bab4c67b9ad5494cd579ab1166b6cab738efd10be95638de3481f2f">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9182100" y="1828800"/>
                <a:ext cx="457200" cy="457200"/>
              </a:xfrm>
              <a:prstGeom prst="rect">
                <a:avLst/>
              </a:prstGeom>
            </p:spPr>
          </p:pic>
        </p:grpSp>
        <p:sp>
          <p:nvSpPr>
            <p:cNvPr id="54" name="node13.title"/>
            <p:cNvSpPr/>
            <p:nvPr/>
          </p:nvSpPr>
          <p:spPr>
            <a:xfrm>
              <a:off x="9791700" y="1828800"/>
              <a:ext cx="1447800" cy="609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047FF"/>
                  </a:solidFill>
                  <a:latin typeface="IBM Plex Sans SemiBold"/>
                  <a:ea typeface="IBM Plex Sans SemiBold"/>
                  <a:cs typeface="IBM Plex Sans SemiBold"/>
                </a:rPr>
                <a:t>Co-build and scale</a:t>
              </a:r>
              <a:endParaRPr lang="en-US" sz="1800" spc="-18" kern="0" b="0" i="0" dirty="0">
                <a:solidFill>
                  <a:srgbClr val="0047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55" name="node13.body.item-001.bullets.item-001.marker"/>
            <p:cNvSpPr/>
            <p:nvPr/>
          </p:nvSpPr>
          <p:spPr>
            <a:xfrm>
              <a:off x="9182100" y="26416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6" name="node13.body.item-001.bullets.item-001.text"/>
            <p:cNvSpPr/>
            <p:nvPr/>
          </p:nvSpPr>
          <p:spPr>
            <a:xfrm>
              <a:off x="9334500" y="2552700"/>
              <a:ext cx="1905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Co-sourced teams sit with stakeholders.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7" name="node13.body.item-001.bullets.item-002.marker"/>
            <p:cNvSpPr/>
            <p:nvPr/>
          </p:nvSpPr>
          <p:spPr>
            <a:xfrm>
              <a:off x="9182100" y="31369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8" name="node13.body.item-001.bullets.item-002.text"/>
            <p:cNvSpPr/>
            <p:nvPr/>
          </p:nvSpPr>
          <p:spPr>
            <a:xfrm>
              <a:off x="9334500" y="3048000"/>
              <a:ext cx="1905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Onshore and nearshore flex with demand.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9" name="node13.body.item-001.bullets.item-003.marker"/>
            <p:cNvSpPr/>
            <p:nvPr/>
          </p:nvSpPr>
          <p:spPr>
            <a:xfrm>
              <a:off x="9182100" y="36322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60" name="node13.body.item-001.bullets.item-003.text"/>
            <p:cNvSpPr/>
            <p:nvPr/>
          </p:nvSpPr>
          <p:spPr>
            <a:xfrm>
              <a:off x="9334500" y="3543300"/>
              <a:ext cx="1905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Pairing builds your team's skills.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1" name="node13.body.item-001.bullets.item-004.marker"/>
            <p:cNvSpPr/>
            <p:nvPr/>
          </p:nvSpPr>
          <p:spPr>
            <a:xfrm>
              <a:off x="9182100" y="41275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62" name="node13.body.item-001.bullets.item-004.text"/>
            <p:cNvSpPr/>
            <p:nvPr/>
          </p:nvSpPr>
          <p:spPr>
            <a:xfrm>
              <a:off x="9334500" y="4038600"/>
              <a:ext cx="1905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Handover is planned from day one.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3" name="node14"/>
          <p:cNvGrpSpPr/>
          <p:nvPr/>
        </p:nvGrpSpPr>
        <p:grpSpPr>
          <a:xfrm>
            <a:off x="9639300" y="4800600"/>
            <a:ext cx="1828800" cy="1371600"/>
            <a:chOff x="9639300" y="4800600"/>
            <a:chExt cx="1828800" cy="1371600"/>
          </a:xfrm>
        </p:grpSpPr>
        <p:sp>
          <p:nvSpPr>
            <p:cNvPr id="63" name="node14.surface"/>
            <p:cNvSpPr/>
            <p:nvPr/>
          </p:nvSpPr>
          <p:spPr>
            <a:xfrm>
              <a:off x="9639300" y="4800600"/>
              <a:ext cx="1828800" cy="13716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84" name="node15"/>
          <p:cNvGrpSpPr/>
          <p:nvPr/>
        </p:nvGrpSpPr>
        <p:grpSpPr>
          <a:xfrm>
            <a:off x="9867900" y="5029200"/>
            <a:ext cx="1371600" cy="152400"/>
            <a:chOff x="9867900" y="5029200"/>
            <a:chExt cx="1371600" cy="152400"/>
          </a:xfrm>
        </p:grpSpPr>
        <p:sp>
          <p:nvSpPr>
            <p:cNvPr id="64" name="node15.text"/>
            <p:cNvSpPr/>
            <p:nvPr/>
          </p:nvSpPr>
          <p:spPr>
            <a:xfrm>
              <a:off x="9867900" y="5029200"/>
              <a:ext cx="13716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F900D3"/>
                  </a:solidFill>
                  <a:latin typeface="IBM Plex Mono Medium"/>
                  <a:ea typeface="IBM Plex Mono Medium"/>
                  <a:cs typeface="IBM Plex Mono Medium"/>
                </a:rPr>
                <a:t>WHY THIS MATTERS</a:t>
              </a:r>
              <a:endParaRPr lang="en-US" sz="900" spc="54" kern="0" b="0" i="0" dirty="0">
                <a:solidFill>
                  <a:srgbClr val="F900D3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85" name="node16"/>
          <p:cNvGrpSpPr/>
          <p:nvPr/>
        </p:nvGrpSpPr>
        <p:grpSpPr>
          <a:xfrm>
            <a:off x="9867900" y="5257800"/>
            <a:ext cx="1371600" cy="457200"/>
            <a:chOff x="9867900" y="5257800"/>
            <a:chExt cx="1371600" cy="457200"/>
          </a:xfrm>
        </p:grpSpPr>
        <p:sp>
          <p:nvSpPr>
            <p:cNvPr id="65" name="node16.text"/>
            <p:cNvSpPr/>
            <p:nvPr/>
          </p:nvSpPr>
          <p:spPr>
            <a:xfrm>
              <a:off x="9867900" y="5257800"/>
              <a:ext cx="13716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Capacity without disruption.</a:t>
              </a:r>
              <a:endParaRPr lang="en-US" sz="12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3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OUR APPROACH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AI-powered modernization compresses time and risk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410325"/>
            <a:ext cx="3048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3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46" name="node01"/>
          <p:cNvGrpSpPr/>
          <p:nvPr/>
        </p:nvGrpSpPr>
        <p:grpSpPr>
          <a:xfrm>
            <a:off x="723900" y="1600200"/>
            <a:ext cx="3429000" cy="2971800"/>
            <a:chOff x="723900" y="1600200"/>
            <a:chExt cx="3429000" cy="2971800"/>
          </a:xfrm>
        </p:grpSpPr>
        <p:sp>
          <p:nvSpPr>
            <p:cNvPr id="6" name="node01.container"/>
            <p:cNvSpPr/>
            <p:nvPr/>
          </p:nvSpPr>
          <p:spPr>
            <a:xfrm>
              <a:off x="723900" y="1600200"/>
              <a:ext cx="3429000" cy="29718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grpSp>
          <p:nvGrpSpPr>
            <p:cNvPr id="45" name="node01.icon"/>
            <p:cNvGrpSpPr/>
            <p:nvPr/>
          </p:nvGrpSpPr>
          <p:grpSpPr>
            <a:xfrm>
              <a:off x="952500" y="1828800"/>
              <a:ext cx="457200" cy="457200"/>
              <a:chOff x="952500" y="1828800"/>
              <a:chExt cx="457200" cy="457200"/>
            </a:xfrm>
          </p:grpSpPr>
          <p:pic>
            <p:nvPicPr>
              <p:cNvPr id="7" name="node01.icon.image" descr="icon/target-arrow/navy; canonical SHA256=d7be3489d4c720d338cad319f07d0f5d4613e221b5ae04fe7e8f497c9849348f">    </p:cNvPr>
              <p:cNvPicPr>
                <a:picLocks noChangeAspect="1"/>
              </p:cNvPicPr>
              <p:nvPr/>
            </p:nvPicPr>
            <p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952500" y="1828800"/>
                <a:ext cx="457200" cy="457200"/>
              </a:xfrm>
              <a:prstGeom prst="rect">
                <a:avLst/>
              </a:prstGeom>
            </p:spPr>
          </p:pic>
        </p:grpSp>
        <p:sp>
          <p:nvSpPr>
            <p:cNvPr id="8" name="node01.title"/>
            <p:cNvSpPr/>
            <p:nvPr/>
          </p:nvSpPr>
          <p:spPr>
            <a:xfrm>
              <a:off x="1562100" y="1828800"/>
              <a:ext cx="23622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047FF"/>
                  </a:solidFill>
                  <a:latin typeface="IBM Plex Sans SemiBold"/>
                  <a:ea typeface="IBM Plex Sans SemiBold"/>
                  <a:cs typeface="IBM Plex Sans SemiBold"/>
                </a:rPr>
                <a:t>Value first</a:t>
              </a:r>
              <a:endParaRPr lang="en-US" sz="1800" spc="-18" kern="0" b="0" i="0" dirty="0">
                <a:solidFill>
                  <a:srgbClr val="0047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9" name="node01.body.item-001.bullets.item-001.marker"/>
            <p:cNvSpPr/>
            <p:nvPr/>
          </p:nvSpPr>
          <p:spPr>
            <a:xfrm>
              <a:off x="952500" y="2546350"/>
              <a:ext cx="50800" cy="50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0" name="node01.body.item-001.bullets.item-001.text"/>
            <p:cNvSpPr/>
            <p:nvPr/>
          </p:nvSpPr>
          <p:spPr>
            <a:xfrm>
              <a:off x="1143000" y="2438400"/>
              <a:ext cx="27813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We rank every system by business value, not technical elegance.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1" name="node01.body.item-001.bullets.item-002.marker"/>
            <p:cNvSpPr/>
            <p:nvPr/>
          </p:nvSpPr>
          <p:spPr>
            <a:xfrm>
              <a:off x="952500" y="3155950"/>
              <a:ext cx="50800" cy="50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2" name="node01.body.item-001.bullets.item-002.text"/>
            <p:cNvSpPr/>
            <p:nvPr/>
          </p:nvSpPr>
          <p:spPr>
            <a:xfrm>
              <a:off x="1143000" y="3048000"/>
              <a:ext cx="27813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Cost, risk and revenue exposure scored side by side.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3" name="node01.body.item-001.bullets.item-003.marker"/>
            <p:cNvSpPr/>
            <p:nvPr/>
          </p:nvSpPr>
          <p:spPr>
            <a:xfrm>
              <a:off x="952500" y="3765550"/>
              <a:ext cx="50800" cy="50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4" name="node01.body.item-001.bullets.item-003.text"/>
            <p:cNvSpPr/>
            <p:nvPr/>
          </p:nvSpPr>
          <p:spPr>
            <a:xfrm>
              <a:off x="1143000" y="3657600"/>
              <a:ext cx="27813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Quick wins funded first, so savings pay for later waves.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47" name="node02"/>
          <p:cNvGrpSpPr/>
          <p:nvPr/>
        </p:nvGrpSpPr>
        <p:grpSpPr>
          <a:xfrm>
            <a:off x="1866900" y="4800600"/>
            <a:ext cx="2286000" cy="1371600"/>
            <a:chOff x="1866900" y="4800600"/>
            <a:chExt cx="2286000" cy="1371600"/>
          </a:xfrm>
        </p:grpSpPr>
        <p:sp>
          <p:nvSpPr>
            <p:cNvPr id="15" name="node02.surface"/>
            <p:cNvSpPr/>
            <p:nvPr/>
          </p:nvSpPr>
          <p:spPr>
            <a:xfrm>
              <a:off x="1866900" y="4800600"/>
              <a:ext cx="2286000" cy="13716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48" name="node03"/>
          <p:cNvGrpSpPr/>
          <p:nvPr/>
        </p:nvGrpSpPr>
        <p:grpSpPr>
          <a:xfrm>
            <a:off x="2095500" y="5029200"/>
            <a:ext cx="1828800" cy="152400"/>
            <a:chOff x="2095500" y="5029200"/>
            <a:chExt cx="1828800" cy="152400"/>
          </a:xfrm>
        </p:grpSpPr>
        <p:sp>
          <p:nvSpPr>
            <p:cNvPr id="16" name="node03.text"/>
            <p:cNvSpPr/>
            <p:nvPr/>
          </p:nvSpPr>
          <p:spPr>
            <a:xfrm>
              <a:off x="2095500" y="5029200"/>
              <a:ext cx="18288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F900D3"/>
                  </a:solidFill>
                  <a:latin typeface="IBM Plex Mono Medium"/>
                  <a:ea typeface="IBM Plex Mono Medium"/>
                  <a:cs typeface="IBM Plex Mono Medium"/>
                </a:rPr>
                <a:t>WHY THIS MATTERS</a:t>
              </a:r>
              <a:endParaRPr lang="en-US" sz="900" spc="54" kern="0" b="0" i="0" dirty="0">
                <a:solidFill>
                  <a:srgbClr val="F900D3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49" name="node04"/>
          <p:cNvGrpSpPr/>
          <p:nvPr/>
        </p:nvGrpSpPr>
        <p:grpSpPr>
          <a:xfrm>
            <a:off x="2095500" y="5257800"/>
            <a:ext cx="1828800" cy="685800"/>
            <a:chOff x="2095500" y="5257800"/>
            <a:chExt cx="1828800" cy="685800"/>
          </a:xfrm>
        </p:grpSpPr>
        <p:sp>
          <p:nvSpPr>
            <p:cNvPr id="17" name="node04.text"/>
            <p:cNvSpPr/>
            <p:nvPr/>
          </p:nvSpPr>
          <p:spPr>
            <a:xfrm>
              <a:off x="2095500" y="5257800"/>
              <a:ext cx="182880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Effort goes where return is highest, so promised value lands.</a:t>
              </a:r>
              <a:endParaRPr lang="en-US" sz="12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50" name="node05"/>
          <p:cNvGrpSpPr/>
          <p:nvPr/>
        </p:nvGrpSpPr>
        <p:grpSpPr>
          <a:xfrm>
            <a:off x="723900" y="4597400"/>
            <a:ext cx="685800" cy="842827"/>
            <a:chOff x="723900" y="4597400"/>
            <a:chExt cx="685800" cy="842827"/>
          </a:xfrm>
        </p:grpSpPr>
        <p:pic>
          <p:nvPicPr>
            <p:cNvPr id="18" name="node05.mark" descr="arrow-right-angle; canonical SHA256=40758c6ab857749af6c80f96e495dbdf2a4d76e38bc96cc28fa877b01fcb9c03; resolved ink=070154">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23900" y="4597400"/>
              <a:ext cx="685800" cy="842827"/>
            </a:xfrm>
            <a:prstGeom prst="rect">
              <a:avLst/>
            </a:prstGeom>
          </p:spPr>
        </p:pic>
      </p:grpSp>
      <p:grpSp>
        <p:nvGrpSpPr>
          <p:cNvPr id="52" name="node06"/>
          <p:cNvGrpSpPr/>
          <p:nvPr/>
        </p:nvGrpSpPr>
        <p:grpSpPr>
          <a:xfrm>
            <a:off x="4381500" y="1600200"/>
            <a:ext cx="3429000" cy="2971800"/>
            <a:chOff x="4381500" y="1600200"/>
            <a:chExt cx="3429000" cy="2971800"/>
          </a:xfrm>
        </p:grpSpPr>
        <p:sp>
          <p:nvSpPr>
            <p:cNvPr id="19" name="node06.container"/>
            <p:cNvSpPr/>
            <p:nvPr/>
          </p:nvSpPr>
          <p:spPr>
            <a:xfrm>
              <a:off x="4381500" y="1600200"/>
              <a:ext cx="3429000" cy="29718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grpSp>
          <p:nvGrpSpPr>
            <p:cNvPr id="51" name="node06.icon"/>
            <p:cNvGrpSpPr/>
            <p:nvPr/>
          </p:nvGrpSpPr>
          <p:grpSpPr>
            <a:xfrm>
              <a:off x="4610100" y="1828800"/>
              <a:ext cx="457200" cy="457200"/>
              <a:chOff x="4610100" y="1828800"/>
              <a:chExt cx="457200" cy="457200"/>
            </a:xfrm>
          </p:grpSpPr>
          <p:pic>
            <p:nvPicPr>
              <p:cNvPr id="20" name="node06.icon.image" descr="icon/strategy-route/navy; canonical SHA256=763a15166fefc06f84edb42452bdf8fbb13cc97295a2599a2fc99a950f7f95d4">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4610100" y="1828800"/>
                <a:ext cx="457200" cy="457200"/>
              </a:xfrm>
              <a:prstGeom prst="rect">
                <a:avLst/>
              </a:prstGeom>
            </p:spPr>
          </p:pic>
        </p:grpSp>
        <p:sp>
          <p:nvSpPr>
            <p:cNvPr id="21" name="node06.title"/>
            <p:cNvSpPr/>
            <p:nvPr/>
          </p:nvSpPr>
          <p:spPr>
            <a:xfrm>
              <a:off x="5219700" y="1828800"/>
              <a:ext cx="23622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047FF"/>
                  </a:solidFill>
                  <a:latin typeface="IBM Plex Sans SemiBold"/>
                  <a:ea typeface="IBM Plex Sans SemiBold"/>
                  <a:cs typeface="IBM Plex Sans SemiBold"/>
                </a:rPr>
                <a:t>Purpose built</a:t>
              </a:r>
              <a:endParaRPr lang="en-US" sz="1800" spc="-18" kern="0" b="0" i="0" dirty="0">
                <a:solidFill>
                  <a:srgbClr val="0047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22" name="node06.body.item-001.bullets.item-001.marker"/>
            <p:cNvSpPr/>
            <p:nvPr/>
          </p:nvSpPr>
          <p:spPr>
            <a:xfrm>
              <a:off x="4610100" y="2546350"/>
              <a:ext cx="50800" cy="50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3" name="node06.body.item-001.bullets.item-001.text"/>
            <p:cNvSpPr/>
            <p:nvPr/>
          </p:nvSpPr>
          <p:spPr>
            <a:xfrm>
              <a:off x="4800600" y="2438400"/>
              <a:ext cx="27813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Retain, replatform, rewrite or retire, chosen per system.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4" name="node06.body.item-001.bullets.item-002.marker"/>
            <p:cNvSpPr/>
            <p:nvPr/>
          </p:nvSpPr>
          <p:spPr>
            <a:xfrm>
              <a:off x="4610100" y="3155950"/>
              <a:ext cx="50800" cy="50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5" name="node06.body.item-001.bullets.item-002.text"/>
            <p:cNvSpPr/>
            <p:nvPr/>
          </p:nvSpPr>
          <p:spPr>
            <a:xfrm>
              <a:off x="4800600" y="3048000"/>
              <a:ext cx="27813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Stable components stay in place, untouched.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6" name="node06.body.item-001.bullets.item-003.marker"/>
            <p:cNvSpPr/>
            <p:nvPr/>
          </p:nvSpPr>
          <p:spPr>
            <a:xfrm>
              <a:off x="4610100" y="3765550"/>
              <a:ext cx="50800" cy="50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7" name="node06.body.item-001.bullets.item-003.text"/>
            <p:cNvSpPr/>
            <p:nvPr/>
          </p:nvSpPr>
          <p:spPr>
            <a:xfrm>
              <a:off x="4800600" y="3657600"/>
              <a:ext cx="27813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Target architecture fits your portfolio and skills.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53" name="node07"/>
          <p:cNvGrpSpPr/>
          <p:nvPr/>
        </p:nvGrpSpPr>
        <p:grpSpPr>
          <a:xfrm>
            <a:off x="5524500" y="4800600"/>
            <a:ext cx="2286000" cy="1371600"/>
            <a:chOff x="5524500" y="4800600"/>
            <a:chExt cx="2286000" cy="1371600"/>
          </a:xfrm>
        </p:grpSpPr>
        <p:sp>
          <p:nvSpPr>
            <p:cNvPr id="28" name="node07.surface"/>
            <p:cNvSpPr/>
            <p:nvPr/>
          </p:nvSpPr>
          <p:spPr>
            <a:xfrm>
              <a:off x="5524500" y="4800600"/>
              <a:ext cx="2286000" cy="13716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54" name="node08"/>
          <p:cNvGrpSpPr/>
          <p:nvPr/>
        </p:nvGrpSpPr>
        <p:grpSpPr>
          <a:xfrm>
            <a:off x="5753100" y="5029200"/>
            <a:ext cx="1828800" cy="152400"/>
            <a:chOff x="5753100" y="5029200"/>
            <a:chExt cx="1828800" cy="152400"/>
          </a:xfrm>
        </p:grpSpPr>
        <p:sp>
          <p:nvSpPr>
            <p:cNvPr id="29" name="node08.text"/>
            <p:cNvSpPr/>
            <p:nvPr/>
          </p:nvSpPr>
          <p:spPr>
            <a:xfrm>
              <a:off x="5753100" y="5029200"/>
              <a:ext cx="18288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F900D3"/>
                  </a:solidFill>
                  <a:latin typeface="IBM Plex Mono Medium"/>
                  <a:ea typeface="IBM Plex Mono Medium"/>
                  <a:cs typeface="IBM Plex Mono Medium"/>
                </a:rPr>
                <a:t>WHY THIS MATTERS</a:t>
              </a:r>
              <a:endParaRPr lang="en-US" sz="900" spc="54" kern="0" b="0" i="0" dirty="0">
                <a:solidFill>
                  <a:srgbClr val="F900D3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55" name="node09"/>
          <p:cNvGrpSpPr/>
          <p:nvPr/>
        </p:nvGrpSpPr>
        <p:grpSpPr>
          <a:xfrm>
            <a:off x="5753100" y="5257800"/>
            <a:ext cx="1828800" cy="685800"/>
            <a:chOff x="5753100" y="5257800"/>
            <a:chExt cx="1828800" cy="685800"/>
          </a:xfrm>
        </p:grpSpPr>
        <p:sp>
          <p:nvSpPr>
            <p:cNvPr id="30" name="node09.text"/>
            <p:cNvSpPr/>
            <p:nvPr/>
          </p:nvSpPr>
          <p:spPr>
            <a:xfrm>
              <a:off x="5753100" y="5257800"/>
              <a:ext cx="182880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You keep what works and replace only what drives value.</a:t>
              </a:r>
              <a:endParaRPr lang="en-US" sz="12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56" name="node10"/>
          <p:cNvGrpSpPr/>
          <p:nvPr/>
        </p:nvGrpSpPr>
        <p:grpSpPr>
          <a:xfrm>
            <a:off x="4381500" y="4597400"/>
            <a:ext cx="685800" cy="842827"/>
            <a:chOff x="4381500" y="4597400"/>
            <a:chExt cx="685800" cy="842827"/>
          </a:xfrm>
        </p:grpSpPr>
        <p:pic>
          <p:nvPicPr>
            <p:cNvPr id="31" name="node10.mark" descr="arrow-right-angle; canonical SHA256=40758c6ab857749af6c80f96e495dbdf2a4d76e38bc96cc28fa877b01fcb9c03; resolved ink=070154">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381500" y="4597400"/>
              <a:ext cx="685800" cy="842827"/>
            </a:xfrm>
            <a:prstGeom prst="rect">
              <a:avLst/>
            </a:prstGeom>
          </p:spPr>
        </p:pic>
      </p:grpSp>
      <p:grpSp>
        <p:nvGrpSpPr>
          <p:cNvPr id="58" name="node11"/>
          <p:cNvGrpSpPr/>
          <p:nvPr/>
        </p:nvGrpSpPr>
        <p:grpSpPr>
          <a:xfrm>
            <a:off x="8039100" y="1600200"/>
            <a:ext cx="3429000" cy="2971800"/>
            <a:chOff x="8039100" y="1600200"/>
            <a:chExt cx="3429000" cy="2971800"/>
          </a:xfrm>
        </p:grpSpPr>
        <p:sp>
          <p:nvSpPr>
            <p:cNvPr id="32" name="node11.container"/>
            <p:cNvSpPr/>
            <p:nvPr/>
          </p:nvSpPr>
          <p:spPr>
            <a:xfrm>
              <a:off x="8039100" y="1600200"/>
              <a:ext cx="3429000" cy="29718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grpSp>
          <p:nvGrpSpPr>
            <p:cNvPr id="57" name="node11.icon"/>
            <p:cNvGrpSpPr/>
            <p:nvPr/>
          </p:nvGrpSpPr>
          <p:grpSpPr>
            <a:xfrm>
              <a:off x="8267700" y="1828800"/>
              <a:ext cx="457200" cy="457200"/>
              <a:chOff x="8267700" y="1828800"/>
              <a:chExt cx="457200" cy="457200"/>
            </a:xfrm>
          </p:grpSpPr>
          <p:pic>
            <p:nvPicPr>
              <p:cNvPr id="33" name="node11.icon.image" descr="icon/ai-chip-orbit/navy; canonical SHA256=14a43f66d8a5b8ac5942dde8e905dedb2ae681de3a803ebf66fb1cacc34ccd3a">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8267700" y="1828800"/>
                <a:ext cx="457200" cy="457200"/>
              </a:xfrm>
              <a:prstGeom prst="rect">
                <a:avLst/>
              </a:prstGeom>
            </p:spPr>
          </p:pic>
        </p:grpSp>
        <p:sp>
          <p:nvSpPr>
            <p:cNvPr id="34" name="node11.title"/>
            <p:cNvSpPr/>
            <p:nvPr/>
          </p:nvSpPr>
          <p:spPr>
            <a:xfrm>
              <a:off x="8877300" y="1828800"/>
              <a:ext cx="23622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047FF"/>
                  </a:solidFill>
                  <a:latin typeface="IBM Plex Sans SemiBold"/>
                  <a:ea typeface="IBM Plex Sans SemiBold"/>
                  <a:cs typeface="IBM Plex Sans SemiBold"/>
                </a:rPr>
                <a:t>AI accelerated</a:t>
              </a:r>
              <a:endParaRPr lang="en-US" sz="1800" spc="-18" kern="0" b="0" i="0" dirty="0">
                <a:solidFill>
                  <a:srgbClr val="0047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35" name="node11.body.item-001.bullets.item-001.marker"/>
            <p:cNvSpPr/>
            <p:nvPr/>
          </p:nvSpPr>
          <p:spPr>
            <a:xfrm>
              <a:off x="8267700" y="2546350"/>
              <a:ext cx="50800" cy="50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6" name="node11.body.item-001.bullets.item-001.text"/>
            <p:cNvSpPr/>
            <p:nvPr/>
          </p:nvSpPr>
          <p:spPr>
            <a:xfrm>
              <a:off x="8458200" y="2438400"/>
              <a:ext cx="27813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Agents scan and map codebases at scale.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7" name="node11.body.item-001.bullets.item-002.marker"/>
            <p:cNvSpPr/>
            <p:nvPr/>
          </p:nvSpPr>
          <p:spPr>
            <a:xfrm>
              <a:off x="8267700" y="3155950"/>
              <a:ext cx="50800" cy="50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8" name="node11.body.item-001.bullets.item-002.text"/>
            <p:cNvSpPr/>
            <p:nvPr/>
          </p:nvSpPr>
          <p:spPr>
            <a:xfrm>
              <a:off x="8458200" y="3048000"/>
              <a:ext cx="27813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Dependencies and dead code surface in days.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9" name="node11.body.item-001.bullets.item-003.marker"/>
            <p:cNvSpPr/>
            <p:nvPr/>
          </p:nvSpPr>
          <p:spPr>
            <a:xfrm>
              <a:off x="8267700" y="3765550"/>
              <a:ext cx="50800" cy="50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0" name="node11.body.item-001.bullets.item-003.text"/>
            <p:cNvSpPr/>
            <p:nvPr/>
          </p:nvSpPr>
          <p:spPr>
            <a:xfrm>
              <a:off x="8458200" y="3657600"/>
              <a:ext cx="27813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Generated tests and docs back each change.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59" name="node12"/>
          <p:cNvGrpSpPr/>
          <p:nvPr/>
        </p:nvGrpSpPr>
        <p:grpSpPr>
          <a:xfrm>
            <a:off x="9182100" y="4800600"/>
            <a:ext cx="2286000" cy="1371600"/>
            <a:chOff x="9182100" y="4800600"/>
            <a:chExt cx="2286000" cy="1371600"/>
          </a:xfrm>
        </p:grpSpPr>
        <p:sp>
          <p:nvSpPr>
            <p:cNvPr id="41" name="node12.surface"/>
            <p:cNvSpPr/>
            <p:nvPr/>
          </p:nvSpPr>
          <p:spPr>
            <a:xfrm>
              <a:off x="9182100" y="4800600"/>
              <a:ext cx="2286000" cy="13716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60" name="node13"/>
          <p:cNvGrpSpPr/>
          <p:nvPr/>
        </p:nvGrpSpPr>
        <p:grpSpPr>
          <a:xfrm>
            <a:off x="9410700" y="5029200"/>
            <a:ext cx="1828800" cy="152400"/>
            <a:chOff x="9410700" y="5029200"/>
            <a:chExt cx="1828800" cy="152400"/>
          </a:xfrm>
        </p:grpSpPr>
        <p:sp>
          <p:nvSpPr>
            <p:cNvPr id="42" name="node13.text"/>
            <p:cNvSpPr/>
            <p:nvPr/>
          </p:nvSpPr>
          <p:spPr>
            <a:xfrm>
              <a:off x="9410700" y="5029200"/>
              <a:ext cx="18288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F900D3"/>
                  </a:solidFill>
                  <a:latin typeface="IBM Plex Mono Medium"/>
                  <a:ea typeface="IBM Plex Mono Medium"/>
                  <a:cs typeface="IBM Plex Mono Medium"/>
                </a:rPr>
                <a:t>WHY THIS MATTERS</a:t>
              </a:r>
              <a:endParaRPr lang="en-US" sz="900" spc="54" kern="0" b="0" i="0" dirty="0">
                <a:solidFill>
                  <a:srgbClr val="F900D3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61" name="node14"/>
          <p:cNvGrpSpPr/>
          <p:nvPr/>
        </p:nvGrpSpPr>
        <p:grpSpPr>
          <a:xfrm>
            <a:off x="9410700" y="5257800"/>
            <a:ext cx="1828800" cy="685800"/>
            <a:chOff x="9410700" y="5257800"/>
            <a:chExt cx="1828800" cy="685800"/>
          </a:xfrm>
        </p:grpSpPr>
        <p:sp>
          <p:nvSpPr>
            <p:cNvPr id="43" name="node14.text"/>
            <p:cNvSpPr/>
            <p:nvPr/>
          </p:nvSpPr>
          <p:spPr>
            <a:xfrm>
              <a:off x="9410700" y="5257800"/>
              <a:ext cx="182880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Months of analysis shrink to days, with less tribal knowledge.</a:t>
              </a:r>
              <a:endParaRPr lang="en-US" sz="12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2" name="node15"/>
          <p:cNvGrpSpPr/>
          <p:nvPr/>
        </p:nvGrpSpPr>
        <p:grpSpPr>
          <a:xfrm>
            <a:off x="8039100" y="4597400"/>
            <a:ext cx="685800" cy="842827"/>
            <a:chOff x="8039100" y="4597400"/>
            <a:chExt cx="685800" cy="842827"/>
          </a:xfrm>
        </p:grpSpPr>
        <p:pic>
          <p:nvPicPr>
            <p:cNvPr id="44" name="node15.mark" descr="arrow-right-angle; canonical SHA256=40758c6ab857749af6c80f96e495dbdf2a4d76e38bc96cc28fa877b01fcb9c03; resolved ink=070154">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039100" y="4597400"/>
              <a:ext cx="685800" cy="84282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3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OUR APPROACH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AI-powered modernization compresses time and risk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410325"/>
            <a:ext cx="3048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4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55" name="node01"/>
          <p:cNvGrpSpPr/>
          <p:nvPr/>
        </p:nvGrpSpPr>
        <p:grpSpPr>
          <a:xfrm>
            <a:off x="723900" y="1600200"/>
            <a:ext cx="3429000" cy="3429000"/>
            <a:chOff x="723900" y="1600200"/>
            <a:chExt cx="3429000" cy="3429000"/>
          </a:xfrm>
        </p:grpSpPr>
        <p:sp>
          <p:nvSpPr>
            <p:cNvPr id="6" name="node01.container"/>
            <p:cNvSpPr/>
            <p:nvPr/>
          </p:nvSpPr>
          <p:spPr>
            <a:xfrm>
              <a:off x="723900" y="1600200"/>
              <a:ext cx="3429000" cy="3429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grpSp>
          <p:nvGrpSpPr>
            <p:cNvPr id="54" name="node01.icon"/>
            <p:cNvGrpSpPr/>
            <p:nvPr/>
          </p:nvGrpSpPr>
          <p:grpSpPr>
            <a:xfrm>
              <a:off x="952500" y="1828800"/>
              <a:ext cx="457200" cy="457200"/>
              <a:chOff x="952500" y="1828800"/>
              <a:chExt cx="457200" cy="457200"/>
            </a:xfrm>
          </p:grpSpPr>
          <p:pic>
            <p:nvPicPr>
              <p:cNvPr id="7" name="node01.icon.image" descr="icon/target-arrow/navy; canonical SHA256=d7be3489d4c720d338cad319f07d0f5d4613e221b5ae04fe7e8f497c9849348f">    </p:cNvPr>
              <p:cNvPicPr>
                <a:picLocks noChangeAspect="1"/>
              </p:cNvPicPr>
              <p:nvPr/>
            </p:nvPicPr>
            <p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952500" y="1828800"/>
                <a:ext cx="457200" cy="457200"/>
              </a:xfrm>
              <a:prstGeom prst="rect">
                <a:avLst/>
              </a:prstGeom>
            </p:spPr>
          </p:pic>
        </p:grpSp>
        <p:sp>
          <p:nvSpPr>
            <p:cNvPr id="8" name="node01.title"/>
            <p:cNvSpPr/>
            <p:nvPr/>
          </p:nvSpPr>
          <p:spPr>
            <a:xfrm>
              <a:off x="1562100" y="1828800"/>
              <a:ext cx="23622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047FF"/>
                  </a:solidFill>
                  <a:latin typeface="IBM Plex Sans SemiBold"/>
                  <a:ea typeface="IBM Plex Sans SemiBold"/>
                  <a:cs typeface="IBM Plex Sans SemiBold"/>
                </a:rPr>
                <a:t>Value first</a:t>
              </a:r>
              <a:endParaRPr lang="en-US" sz="1800" spc="-18" kern="0" b="0" i="0" dirty="0">
                <a:solidFill>
                  <a:srgbClr val="0047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9" name="node01.body.item-001.bullets.item-001.marker"/>
            <p:cNvSpPr/>
            <p:nvPr/>
          </p:nvSpPr>
          <p:spPr>
            <a:xfrm>
              <a:off x="952500" y="24892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0" name="node01.body.item-001.bullets.item-001.text"/>
            <p:cNvSpPr/>
            <p:nvPr/>
          </p:nvSpPr>
          <p:spPr>
            <a:xfrm>
              <a:off x="1104900" y="2400300"/>
              <a:ext cx="28194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Ranked by value.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Cost, risk and revenue exposure scored per system.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1" name="node01.body.item-001.bullets.item-002.marker"/>
            <p:cNvSpPr/>
            <p:nvPr/>
          </p:nvSpPr>
          <p:spPr>
            <a:xfrm>
              <a:off x="952500" y="29845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2" name="node01.body.item-001.bullets.item-002.text"/>
            <p:cNvSpPr/>
            <p:nvPr/>
          </p:nvSpPr>
          <p:spPr>
            <a:xfrm>
              <a:off x="1104900" y="2895600"/>
              <a:ext cx="2819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Quick wins first.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Fund later waves.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3" name="node01.body.item-001.bullets.item-003.marker"/>
            <p:cNvSpPr/>
            <p:nvPr/>
          </p:nvSpPr>
          <p:spPr>
            <a:xfrm>
              <a:off x="952500" y="32512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4" name="node01.body.item-001.bullets.item-003.text"/>
            <p:cNvSpPr/>
            <p:nvPr/>
          </p:nvSpPr>
          <p:spPr>
            <a:xfrm>
              <a:off x="1104900" y="3162300"/>
              <a:ext cx="28194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Dependencies weighed.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Complexity enters every sequencing call.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5" name="node01.body.item-001.bullets.item-004.marker"/>
            <p:cNvSpPr/>
            <p:nvPr/>
          </p:nvSpPr>
          <p:spPr>
            <a:xfrm>
              <a:off x="952500" y="37465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6" name="node01.body.item-001.bullets.item-004.text"/>
            <p:cNvSpPr/>
            <p:nvPr/>
          </p:nvSpPr>
          <p:spPr>
            <a:xfrm>
              <a:off x="1104900" y="3657600"/>
              <a:ext cx="2819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Per release.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Value measured.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7" name="node01.body.item-001.bullets.item-005.marker"/>
            <p:cNvSpPr/>
            <p:nvPr/>
          </p:nvSpPr>
          <p:spPr>
            <a:xfrm>
              <a:off x="952500" y="40132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8" name="node01.body.item-001.bullets.item-005.text"/>
            <p:cNvSpPr/>
            <p:nvPr/>
          </p:nvSpPr>
          <p:spPr>
            <a:xfrm>
              <a:off x="1104900" y="3924300"/>
              <a:ext cx="2819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Business owned.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Quarterly sign-off.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56" name="node02"/>
          <p:cNvGrpSpPr/>
          <p:nvPr/>
        </p:nvGrpSpPr>
        <p:grpSpPr>
          <a:xfrm>
            <a:off x="1866900" y="4800600"/>
            <a:ext cx="2286000" cy="1371600"/>
            <a:chOff x="1866900" y="4800600"/>
            <a:chExt cx="2286000" cy="1371600"/>
          </a:xfrm>
        </p:grpSpPr>
        <p:sp>
          <p:nvSpPr>
            <p:cNvPr id="19" name="node02.surface"/>
            <p:cNvSpPr/>
            <p:nvPr/>
          </p:nvSpPr>
          <p:spPr>
            <a:xfrm>
              <a:off x="1866900" y="4800600"/>
              <a:ext cx="2286000" cy="13716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57" name="node03"/>
          <p:cNvGrpSpPr/>
          <p:nvPr/>
        </p:nvGrpSpPr>
        <p:grpSpPr>
          <a:xfrm>
            <a:off x="2095500" y="5029200"/>
            <a:ext cx="1828800" cy="152400"/>
            <a:chOff x="2095500" y="5029200"/>
            <a:chExt cx="1828800" cy="152400"/>
          </a:xfrm>
        </p:grpSpPr>
        <p:sp>
          <p:nvSpPr>
            <p:cNvPr id="20" name="node03.text"/>
            <p:cNvSpPr/>
            <p:nvPr/>
          </p:nvSpPr>
          <p:spPr>
            <a:xfrm>
              <a:off x="2095500" y="5029200"/>
              <a:ext cx="18288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F900D3"/>
                  </a:solidFill>
                  <a:latin typeface="IBM Plex Mono Medium"/>
                  <a:ea typeface="IBM Plex Mono Medium"/>
                  <a:cs typeface="IBM Plex Mono Medium"/>
                </a:rPr>
                <a:t>WHY THIS MATTERS</a:t>
              </a:r>
              <a:endParaRPr lang="en-US" sz="900" spc="54" kern="0" b="0" i="0" dirty="0">
                <a:solidFill>
                  <a:srgbClr val="F900D3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58" name="node04"/>
          <p:cNvGrpSpPr/>
          <p:nvPr/>
        </p:nvGrpSpPr>
        <p:grpSpPr>
          <a:xfrm>
            <a:off x="2095500" y="5257800"/>
            <a:ext cx="1828800" cy="685800"/>
            <a:chOff x="2095500" y="5257800"/>
            <a:chExt cx="1828800" cy="685800"/>
          </a:xfrm>
        </p:grpSpPr>
        <p:sp>
          <p:nvSpPr>
            <p:cNvPr id="21" name="node04.text"/>
            <p:cNvSpPr/>
            <p:nvPr/>
          </p:nvSpPr>
          <p:spPr>
            <a:xfrm>
              <a:off x="2095500" y="5257800"/>
              <a:ext cx="182880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Effort goes where return is highest, so promised value lands.</a:t>
              </a:r>
              <a:endParaRPr lang="en-US" sz="12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0" name="node05"/>
          <p:cNvGrpSpPr/>
          <p:nvPr/>
        </p:nvGrpSpPr>
        <p:grpSpPr>
          <a:xfrm>
            <a:off x="4381500" y="1600200"/>
            <a:ext cx="3429000" cy="3429000"/>
            <a:chOff x="4381500" y="1600200"/>
            <a:chExt cx="3429000" cy="3429000"/>
          </a:xfrm>
        </p:grpSpPr>
        <p:sp>
          <p:nvSpPr>
            <p:cNvPr id="22" name="node05.container"/>
            <p:cNvSpPr/>
            <p:nvPr/>
          </p:nvSpPr>
          <p:spPr>
            <a:xfrm>
              <a:off x="4381500" y="1600200"/>
              <a:ext cx="3429000" cy="3429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grpSp>
          <p:nvGrpSpPr>
            <p:cNvPr id="59" name="node05.icon"/>
            <p:cNvGrpSpPr/>
            <p:nvPr/>
          </p:nvGrpSpPr>
          <p:grpSpPr>
            <a:xfrm>
              <a:off x="4610100" y="1828800"/>
              <a:ext cx="457200" cy="457200"/>
              <a:chOff x="4610100" y="1828800"/>
              <a:chExt cx="457200" cy="457200"/>
            </a:xfrm>
          </p:grpSpPr>
          <p:pic>
            <p:nvPicPr>
              <p:cNvPr id="23" name="node05.icon.image" descr="icon/strategy-route/navy; canonical SHA256=763a15166fefc06f84edb42452bdf8fbb13cc97295a2599a2fc99a950f7f95d4">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610100" y="1828800"/>
                <a:ext cx="457200" cy="457200"/>
              </a:xfrm>
              <a:prstGeom prst="rect">
                <a:avLst/>
              </a:prstGeom>
            </p:spPr>
          </p:pic>
        </p:grpSp>
        <p:sp>
          <p:nvSpPr>
            <p:cNvPr id="24" name="node05.title"/>
            <p:cNvSpPr/>
            <p:nvPr/>
          </p:nvSpPr>
          <p:spPr>
            <a:xfrm>
              <a:off x="5219700" y="1828800"/>
              <a:ext cx="23622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047FF"/>
                  </a:solidFill>
                  <a:latin typeface="IBM Plex Sans SemiBold"/>
                  <a:ea typeface="IBM Plex Sans SemiBold"/>
                  <a:cs typeface="IBM Plex Sans SemiBold"/>
                </a:rPr>
                <a:t>Purpose built</a:t>
              </a:r>
              <a:endParaRPr lang="en-US" sz="1800" spc="-18" kern="0" b="0" i="0" dirty="0">
                <a:solidFill>
                  <a:srgbClr val="0047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25" name="node05.body.item-001.bullets.item-001.marker"/>
            <p:cNvSpPr/>
            <p:nvPr/>
          </p:nvSpPr>
          <p:spPr>
            <a:xfrm>
              <a:off x="4610100" y="24892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6" name="node05.body.item-001.bullets.item-001.text"/>
            <p:cNvSpPr/>
            <p:nvPr/>
          </p:nvSpPr>
          <p:spPr>
            <a:xfrm>
              <a:off x="4762500" y="2400300"/>
              <a:ext cx="28194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Four paths.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Retain, replatform, rewrite or retire, per system.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7" name="node05.body.item-001.bullets.item-002.marker"/>
            <p:cNvSpPr/>
            <p:nvPr/>
          </p:nvSpPr>
          <p:spPr>
            <a:xfrm>
              <a:off x="4610100" y="29845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8" name="node05.body.item-001.bullets.item-002.text"/>
            <p:cNvSpPr/>
            <p:nvPr/>
          </p:nvSpPr>
          <p:spPr>
            <a:xfrm>
              <a:off x="4762500" y="2895600"/>
              <a:ext cx="2819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Stable stays put.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Working parts stay.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9" name="node05.body.item-001.bullets.item-003.marker"/>
            <p:cNvSpPr/>
            <p:nvPr/>
          </p:nvSpPr>
          <p:spPr>
            <a:xfrm>
              <a:off x="4610100" y="32512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0" name="node05.body.item-001.bullets.item-003.text"/>
            <p:cNvSpPr/>
            <p:nvPr/>
          </p:nvSpPr>
          <p:spPr>
            <a:xfrm>
              <a:off x="4762500" y="3162300"/>
              <a:ext cx="28194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Fit to portfolio.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Target matches your skills and vendors.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1" name="node05.body.item-001.bullets.item-004.marker"/>
            <p:cNvSpPr/>
            <p:nvPr/>
          </p:nvSpPr>
          <p:spPr>
            <a:xfrm>
              <a:off x="4610100" y="37465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2" name="node05.body.item-001.bullets.item-004.text"/>
            <p:cNvSpPr/>
            <p:nvPr/>
          </p:nvSpPr>
          <p:spPr>
            <a:xfrm>
              <a:off x="4762500" y="3657600"/>
              <a:ext cx="2819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Evidence based.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Usage, defects, cost.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3" name="node05.body.item-001.bullets.item-005.marker"/>
            <p:cNvSpPr/>
            <p:nvPr/>
          </p:nvSpPr>
          <p:spPr>
            <a:xfrm>
              <a:off x="4610100" y="40132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4" name="node05.body.item-001.bullets.item-005.text"/>
            <p:cNvSpPr/>
            <p:nvPr/>
          </p:nvSpPr>
          <p:spPr>
            <a:xfrm>
              <a:off x="4762500" y="3924300"/>
              <a:ext cx="2819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No rebuild for show.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Return first.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1" name="node06"/>
          <p:cNvGrpSpPr/>
          <p:nvPr/>
        </p:nvGrpSpPr>
        <p:grpSpPr>
          <a:xfrm>
            <a:off x="5524500" y="4800600"/>
            <a:ext cx="2286000" cy="1371600"/>
            <a:chOff x="5524500" y="4800600"/>
            <a:chExt cx="2286000" cy="1371600"/>
          </a:xfrm>
        </p:grpSpPr>
        <p:sp>
          <p:nvSpPr>
            <p:cNvPr id="35" name="node06.surface"/>
            <p:cNvSpPr/>
            <p:nvPr/>
          </p:nvSpPr>
          <p:spPr>
            <a:xfrm>
              <a:off x="5524500" y="4800600"/>
              <a:ext cx="2286000" cy="13716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62" name="node07"/>
          <p:cNvGrpSpPr/>
          <p:nvPr/>
        </p:nvGrpSpPr>
        <p:grpSpPr>
          <a:xfrm>
            <a:off x="5753100" y="5029200"/>
            <a:ext cx="1828800" cy="152400"/>
            <a:chOff x="5753100" y="5029200"/>
            <a:chExt cx="1828800" cy="152400"/>
          </a:xfrm>
        </p:grpSpPr>
        <p:sp>
          <p:nvSpPr>
            <p:cNvPr id="36" name="node07.text"/>
            <p:cNvSpPr/>
            <p:nvPr/>
          </p:nvSpPr>
          <p:spPr>
            <a:xfrm>
              <a:off x="5753100" y="5029200"/>
              <a:ext cx="18288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F900D3"/>
                  </a:solidFill>
                  <a:latin typeface="IBM Plex Mono Medium"/>
                  <a:ea typeface="IBM Plex Mono Medium"/>
                  <a:cs typeface="IBM Plex Mono Medium"/>
                </a:rPr>
                <a:t>WHY THIS MATTERS</a:t>
              </a:r>
              <a:endParaRPr lang="en-US" sz="900" spc="54" kern="0" b="0" i="0" dirty="0">
                <a:solidFill>
                  <a:srgbClr val="F900D3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63" name="node08"/>
          <p:cNvGrpSpPr/>
          <p:nvPr/>
        </p:nvGrpSpPr>
        <p:grpSpPr>
          <a:xfrm>
            <a:off x="5753100" y="5257800"/>
            <a:ext cx="1828800" cy="685800"/>
            <a:chOff x="5753100" y="5257800"/>
            <a:chExt cx="1828800" cy="685800"/>
          </a:xfrm>
        </p:grpSpPr>
        <p:sp>
          <p:nvSpPr>
            <p:cNvPr id="37" name="node08.text"/>
            <p:cNvSpPr/>
            <p:nvPr/>
          </p:nvSpPr>
          <p:spPr>
            <a:xfrm>
              <a:off x="5753100" y="5257800"/>
              <a:ext cx="182880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You keep what works and replace only what drives value.</a:t>
              </a:r>
              <a:endParaRPr lang="en-US" sz="12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5" name="node09"/>
          <p:cNvGrpSpPr/>
          <p:nvPr/>
        </p:nvGrpSpPr>
        <p:grpSpPr>
          <a:xfrm>
            <a:off x="8039100" y="1600200"/>
            <a:ext cx="3429000" cy="3429000"/>
            <a:chOff x="8039100" y="1600200"/>
            <a:chExt cx="3429000" cy="3429000"/>
          </a:xfrm>
        </p:grpSpPr>
        <p:sp>
          <p:nvSpPr>
            <p:cNvPr id="38" name="node09.container"/>
            <p:cNvSpPr/>
            <p:nvPr/>
          </p:nvSpPr>
          <p:spPr>
            <a:xfrm>
              <a:off x="8039100" y="1600200"/>
              <a:ext cx="3429000" cy="3429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grpSp>
          <p:nvGrpSpPr>
            <p:cNvPr id="64" name="node09.icon"/>
            <p:cNvGrpSpPr/>
            <p:nvPr/>
          </p:nvGrpSpPr>
          <p:grpSpPr>
            <a:xfrm>
              <a:off x="8267700" y="1828800"/>
              <a:ext cx="457200" cy="457200"/>
              <a:chOff x="8267700" y="1828800"/>
              <a:chExt cx="457200" cy="457200"/>
            </a:xfrm>
          </p:grpSpPr>
          <p:pic>
            <p:nvPicPr>
              <p:cNvPr id="39" name="node09.icon.image" descr="icon/ai-chip-orbit/navy; canonical SHA256=14a43f66d8a5b8ac5942dde8e905dedb2ae681de3a803ebf66fb1cacc34ccd3a">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267700" y="1828800"/>
                <a:ext cx="457200" cy="457200"/>
              </a:xfrm>
              <a:prstGeom prst="rect">
                <a:avLst/>
              </a:prstGeom>
            </p:spPr>
          </p:pic>
        </p:grpSp>
        <p:sp>
          <p:nvSpPr>
            <p:cNvPr id="40" name="node09.title"/>
            <p:cNvSpPr/>
            <p:nvPr/>
          </p:nvSpPr>
          <p:spPr>
            <a:xfrm>
              <a:off x="8877300" y="1828800"/>
              <a:ext cx="23622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047FF"/>
                  </a:solidFill>
                  <a:latin typeface="IBM Plex Sans SemiBold"/>
                  <a:ea typeface="IBM Plex Sans SemiBold"/>
                  <a:cs typeface="IBM Plex Sans SemiBold"/>
                </a:rPr>
                <a:t>AI accelerated</a:t>
              </a:r>
              <a:endParaRPr lang="en-US" sz="1800" spc="-18" kern="0" b="0" i="0" dirty="0">
                <a:solidFill>
                  <a:srgbClr val="0047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41" name="node09.body.item-001.bullets.item-001.marker"/>
            <p:cNvSpPr/>
            <p:nvPr/>
          </p:nvSpPr>
          <p:spPr>
            <a:xfrm>
              <a:off x="8267700" y="24892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2" name="node09.body.item-001.bullets.item-001.text"/>
            <p:cNvSpPr/>
            <p:nvPr/>
          </p:nvSpPr>
          <p:spPr>
            <a:xfrm>
              <a:off x="8420100" y="2400300"/>
              <a:ext cx="28194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Scan at scale.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Agents map code, data flows and dependencies.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3" name="node09.body.item-001.bullets.item-002.marker"/>
            <p:cNvSpPr/>
            <p:nvPr/>
          </p:nvSpPr>
          <p:spPr>
            <a:xfrm>
              <a:off x="8267700" y="29845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4" name="node09.body.item-001.bullets.item-002.text"/>
            <p:cNvSpPr/>
            <p:nvPr/>
          </p:nvSpPr>
          <p:spPr>
            <a:xfrm>
              <a:off x="8420100" y="2895600"/>
              <a:ext cx="2819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Days, not months.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Discovery in weeks.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5" name="node09.body.item-001.bullets.item-003.marker"/>
            <p:cNvSpPr/>
            <p:nvPr/>
          </p:nvSpPr>
          <p:spPr>
            <a:xfrm>
              <a:off x="8267700" y="32512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6" name="node09.body.item-001.bullets.item-003.text"/>
            <p:cNvSpPr/>
            <p:nvPr/>
          </p:nvSpPr>
          <p:spPr>
            <a:xfrm>
              <a:off x="8420100" y="3162300"/>
              <a:ext cx="28194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Tests generated.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Every change ships with tests and docs.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7" name="node09.body.item-001.bullets.item-004.marker"/>
            <p:cNvSpPr/>
            <p:nvPr/>
          </p:nvSpPr>
          <p:spPr>
            <a:xfrm>
              <a:off x="8267700" y="37465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8" name="node09.body.item-001.bullets.item-004.text"/>
            <p:cNvSpPr/>
            <p:nvPr/>
          </p:nvSpPr>
          <p:spPr>
            <a:xfrm>
              <a:off x="8420100" y="3657600"/>
              <a:ext cx="28194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Humans decide.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Engineers review each merge.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9" name="node09.body.item-001.bullets.item-005.marker"/>
            <p:cNvSpPr/>
            <p:nvPr/>
          </p:nvSpPr>
          <p:spPr>
            <a:xfrm>
              <a:off x="8267700" y="42418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0" name="node09.body.item-001.bullets.item-005.text"/>
            <p:cNvSpPr/>
            <p:nvPr/>
          </p:nvSpPr>
          <p:spPr>
            <a:xfrm>
              <a:off x="8420100" y="4152900"/>
              <a:ext cx="28194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Knowledge kept.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Findings in a shared record.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6" name="node10"/>
          <p:cNvGrpSpPr/>
          <p:nvPr/>
        </p:nvGrpSpPr>
        <p:grpSpPr>
          <a:xfrm>
            <a:off x="9182100" y="4800600"/>
            <a:ext cx="2286000" cy="1371600"/>
            <a:chOff x="9182100" y="4800600"/>
            <a:chExt cx="2286000" cy="1371600"/>
          </a:xfrm>
        </p:grpSpPr>
        <p:sp>
          <p:nvSpPr>
            <p:cNvPr id="51" name="node10.surface"/>
            <p:cNvSpPr/>
            <p:nvPr/>
          </p:nvSpPr>
          <p:spPr>
            <a:xfrm>
              <a:off x="9182100" y="4800600"/>
              <a:ext cx="2286000" cy="13716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67" name="node11"/>
          <p:cNvGrpSpPr/>
          <p:nvPr/>
        </p:nvGrpSpPr>
        <p:grpSpPr>
          <a:xfrm>
            <a:off x="9410700" y="5029200"/>
            <a:ext cx="1828800" cy="152400"/>
            <a:chOff x="9410700" y="5029200"/>
            <a:chExt cx="1828800" cy="152400"/>
          </a:xfrm>
        </p:grpSpPr>
        <p:sp>
          <p:nvSpPr>
            <p:cNvPr id="52" name="node11.text"/>
            <p:cNvSpPr/>
            <p:nvPr/>
          </p:nvSpPr>
          <p:spPr>
            <a:xfrm>
              <a:off x="9410700" y="5029200"/>
              <a:ext cx="18288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F900D3"/>
                  </a:solidFill>
                  <a:latin typeface="IBM Plex Mono Medium"/>
                  <a:ea typeface="IBM Plex Mono Medium"/>
                  <a:cs typeface="IBM Plex Mono Medium"/>
                </a:rPr>
                <a:t>WHY THIS MATTERS</a:t>
              </a:r>
              <a:endParaRPr lang="en-US" sz="900" spc="54" kern="0" b="0" i="0" dirty="0">
                <a:solidFill>
                  <a:srgbClr val="F900D3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68" name="node12"/>
          <p:cNvGrpSpPr/>
          <p:nvPr/>
        </p:nvGrpSpPr>
        <p:grpSpPr>
          <a:xfrm>
            <a:off x="9410700" y="5257800"/>
            <a:ext cx="1828800" cy="685800"/>
            <a:chOff x="9410700" y="5257800"/>
            <a:chExt cx="1828800" cy="685800"/>
          </a:xfrm>
        </p:grpSpPr>
        <p:sp>
          <p:nvSpPr>
            <p:cNvPr id="53" name="node12.text"/>
            <p:cNvSpPr/>
            <p:nvPr/>
          </p:nvSpPr>
          <p:spPr>
            <a:xfrm>
              <a:off x="9410700" y="5257800"/>
              <a:ext cx="182880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Months of analysis shrink to days, with less tribal knowledge.</a:t>
              </a:r>
              <a:endParaRPr lang="en-US" sz="12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3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OUR APPROACH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AI-powered modernization compresses time and risk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nav.section-01"/>
          <p:cNvSpPr/>
          <p:nvPr/>
        </p:nvSpPr>
        <p:spPr>
          <a:xfrm>
            <a:off x="266700" y="457200"/>
            <a:ext cx="228600" cy="1082040"/>
          </a:xfrm>
          <a:prstGeom prst="rect">
            <a:avLst/>
          </a:prstGeom>
          <a:solidFill>
            <a:srgbClr val="E8EEF8"/>
          </a:solidFill>
          <a:ln>
            <a:noFill/>
          </a:ln>
        </p:spPr>
      </p:sp>
      <p:sp>
        <p:nvSpPr>
          <p:cNvPr id="6" name="nav.label.section-01"/>
          <p:cNvSpPr/>
          <p:nvPr/>
        </p:nvSpPr>
        <p:spPr>
          <a:xfrm>
            <a:off x="266700" y="457200"/>
            <a:ext cx="228600" cy="108204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rPr>
              <a:t>CONTEXT</a:t>
            </a:r>
            <a:endParaRPr lang="en-US" sz="800" spc="80" kern="0" b="0" i="0" dirty="0">
              <a:solidFill>
                <a:srgbClr val="50658E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7" name="nav.section-02"/>
          <p:cNvSpPr/>
          <p:nvPr/>
        </p:nvSpPr>
        <p:spPr>
          <a:xfrm>
            <a:off x="266700" y="1615440"/>
            <a:ext cx="228600" cy="1082040"/>
          </a:xfrm>
          <a:prstGeom prst="rect">
            <a:avLst/>
          </a:prstGeom>
          <a:solidFill>
            <a:srgbClr val="070154"/>
          </a:solidFill>
          <a:ln>
            <a:noFill/>
          </a:ln>
        </p:spPr>
      </p:sp>
      <p:sp>
        <p:nvSpPr>
          <p:cNvPr id="8" name="nav.label.section-02"/>
          <p:cNvSpPr/>
          <p:nvPr/>
        </p:nvSpPr>
        <p:spPr>
          <a:xfrm>
            <a:off x="266700" y="1615440"/>
            <a:ext cx="228600" cy="108204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rPr>
              <a:t>APPROACH</a:t>
            </a:r>
            <a:endParaRPr lang="en-US" sz="800" spc="80" kern="0" b="0" i="0" dirty="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9" name="nav.section-03"/>
          <p:cNvSpPr/>
          <p:nvPr/>
        </p:nvSpPr>
        <p:spPr>
          <a:xfrm>
            <a:off x="266700" y="2773680"/>
            <a:ext cx="228600" cy="1082040"/>
          </a:xfrm>
          <a:prstGeom prst="rect">
            <a:avLst/>
          </a:prstGeom>
          <a:solidFill>
            <a:srgbClr val="E8EEF8"/>
          </a:solidFill>
          <a:ln>
            <a:noFill/>
          </a:ln>
        </p:spPr>
      </p:sp>
      <p:sp>
        <p:nvSpPr>
          <p:cNvPr id="10" name="nav.label.section-03"/>
          <p:cNvSpPr/>
          <p:nvPr/>
        </p:nvSpPr>
        <p:spPr>
          <a:xfrm>
            <a:off x="266700" y="2773680"/>
            <a:ext cx="228600" cy="108204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rPr>
              <a:t>TEAM</a:t>
            </a:r>
            <a:endParaRPr lang="en-US" sz="800" spc="80" kern="0" b="0" i="0" dirty="0">
              <a:solidFill>
                <a:srgbClr val="50658E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11" name="nav.section-04"/>
          <p:cNvSpPr/>
          <p:nvPr/>
        </p:nvSpPr>
        <p:spPr>
          <a:xfrm>
            <a:off x="266700" y="3931920"/>
            <a:ext cx="228600" cy="1082040"/>
          </a:xfrm>
          <a:prstGeom prst="rect">
            <a:avLst/>
          </a:prstGeom>
          <a:solidFill>
            <a:srgbClr val="E8EEF8"/>
          </a:solidFill>
          <a:ln>
            <a:noFill/>
          </a:ln>
        </p:spPr>
      </p:sp>
      <p:sp>
        <p:nvSpPr>
          <p:cNvPr id="12" name="nav.label.section-04"/>
          <p:cNvSpPr/>
          <p:nvPr/>
        </p:nvSpPr>
        <p:spPr>
          <a:xfrm>
            <a:off x="266700" y="3931920"/>
            <a:ext cx="228600" cy="108204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rPr>
              <a:t>COMMERCIALS</a:t>
            </a:r>
            <a:endParaRPr lang="en-US" sz="800" spc="80" kern="0" b="0" i="0" dirty="0">
              <a:solidFill>
                <a:srgbClr val="50658E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13" name="nav.section-05"/>
          <p:cNvSpPr/>
          <p:nvPr/>
        </p:nvSpPr>
        <p:spPr>
          <a:xfrm>
            <a:off x="266700" y="5090160"/>
            <a:ext cx="228600" cy="1082040"/>
          </a:xfrm>
          <a:prstGeom prst="rect">
            <a:avLst/>
          </a:prstGeom>
          <a:solidFill>
            <a:srgbClr val="E8EEF8"/>
          </a:solidFill>
          <a:ln>
            <a:noFill/>
          </a:ln>
        </p:spPr>
      </p:sp>
      <p:sp>
        <p:nvSpPr>
          <p:cNvPr id="14" name="nav.label.section-05"/>
          <p:cNvSpPr/>
          <p:nvPr/>
        </p:nvSpPr>
        <p:spPr>
          <a:xfrm>
            <a:off x="266700" y="5090160"/>
            <a:ext cx="228600" cy="108204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rPr>
              <a:t>NEXT STEPS</a:t>
            </a:r>
            <a:endParaRPr lang="en-US" sz="800" spc="80" kern="0" b="0" i="0" dirty="0">
              <a:solidFill>
                <a:srgbClr val="50658E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15" name="wm.page"/>
          <p:cNvSpPr/>
          <p:nvPr/>
        </p:nvSpPr>
        <p:spPr>
          <a:xfrm>
            <a:off x="11163300" y="6410325"/>
            <a:ext cx="30480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5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59" name="node01"/>
          <p:cNvGrpSpPr/>
          <p:nvPr/>
        </p:nvGrpSpPr>
        <p:grpSpPr>
          <a:xfrm>
            <a:off x="723900" y="1600200"/>
            <a:ext cx="3429000" cy="3429000"/>
            <a:chOff x="723900" y="1600200"/>
            <a:chExt cx="3429000" cy="3429000"/>
          </a:xfrm>
        </p:grpSpPr>
        <p:sp>
          <p:nvSpPr>
            <p:cNvPr id="16" name="node01.container"/>
            <p:cNvSpPr/>
            <p:nvPr/>
          </p:nvSpPr>
          <p:spPr>
            <a:xfrm>
              <a:off x="723900" y="1600200"/>
              <a:ext cx="3429000" cy="3429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grpSp>
          <p:nvGrpSpPr>
            <p:cNvPr id="58" name="node01.icon"/>
            <p:cNvGrpSpPr/>
            <p:nvPr/>
          </p:nvGrpSpPr>
          <p:grpSpPr>
            <a:xfrm>
              <a:off x="952500" y="1828800"/>
              <a:ext cx="457200" cy="457200"/>
              <a:chOff x="952500" y="1828800"/>
              <a:chExt cx="457200" cy="457200"/>
            </a:xfrm>
          </p:grpSpPr>
          <p:pic>
            <p:nvPicPr>
              <p:cNvPr id="17" name="node01.icon.image" descr="icon/target-arrow/navy; canonical SHA256=d7be3489d4c720d338cad319f07d0f5d4613e221b5ae04fe7e8f497c9849348f">    </p:cNvPr>
              <p:cNvPicPr>
                <a:picLocks noChangeAspect="1"/>
              </p:cNvPicPr>
              <p:nvPr/>
            </p:nvPicPr>
            <p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952500" y="1828800"/>
                <a:ext cx="457200" cy="457200"/>
              </a:xfrm>
              <a:prstGeom prst="rect">
                <a:avLst/>
              </a:prstGeom>
            </p:spPr>
          </p:pic>
        </p:grpSp>
        <p:sp>
          <p:nvSpPr>
            <p:cNvPr id="18" name="node01.title"/>
            <p:cNvSpPr/>
            <p:nvPr/>
          </p:nvSpPr>
          <p:spPr>
            <a:xfrm>
              <a:off x="1562100" y="1828800"/>
              <a:ext cx="23622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047FF"/>
                  </a:solidFill>
                  <a:latin typeface="IBM Plex Sans SemiBold"/>
                  <a:ea typeface="IBM Plex Sans SemiBold"/>
                  <a:cs typeface="IBM Plex Sans SemiBold"/>
                </a:rPr>
                <a:t>Value first</a:t>
              </a:r>
              <a:endParaRPr lang="en-US" sz="1800" spc="-18" kern="0" b="0" i="0" dirty="0">
                <a:solidFill>
                  <a:srgbClr val="0047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19" name="node01.body.item-001.bullets.item-001.marker"/>
            <p:cNvSpPr/>
            <p:nvPr/>
          </p:nvSpPr>
          <p:spPr>
            <a:xfrm>
              <a:off x="952500" y="2546350"/>
              <a:ext cx="50800" cy="50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0" name="node01.body.item-001.bullets.item-001.text"/>
            <p:cNvSpPr/>
            <p:nvPr/>
          </p:nvSpPr>
          <p:spPr>
            <a:xfrm>
              <a:off x="1143000" y="2438400"/>
              <a:ext cx="27813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We rank every system by business value, not technical elegance.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1" name="node01.body.item-001.bullets.item-002.marker"/>
            <p:cNvSpPr/>
            <p:nvPr/>
          </p:nvSpPr>
          <p:spPr>
            <a:xfrm>
              <a:off x="952500" y="3155950"/>
              <a:ext cx="50800" cy="50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2" name="node01.body.item-001.bullets.item-002.text"/>
            <p:cNvSpPr/>
            <p:nvPr/>
          </p:nvSpPr>
          <p:spPr>
            <a:xfrm>
              <a:off x="1143000" y="3048000"/>
              <a:ext cx="27813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Cost, risk and revenue exposure scored side by side.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3" name="node01.body.item-001.bullets.item-003.marker"/>
            <p:cNvSpPr/>
            <p:nvPr/>
          </p:nvSpPr>
          <p:spPr>
            <a:xfrm>
              <a:off x="952500" y="3765550"/>
              <a:ext cx="50800" cy="50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4" name="node01.body.item-001.bullets.item-003.text"/>
            <p:cNvSpPr/>
            <p:nvPr/>
          </p:nvSpPr>
          <p:spPr>
            <a:xfrm>
              <a:off x="1143000" y="3657600"/>
              <a:ext cx="27813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Quick wins funded first, so savings pay for later waves.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5" name="node01.body.item-001.bullets.item-004.marker"/>
            <p:cNvSpPr/>
            <p:nvPr/>
          </p:nvSpPr>
          <p:spPr>
            <a:xfrm>
              <a:off x="952500" y="4375150"/>
              <a:ext cx="50800" cy="50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6" name="node01.body.item-001.bullets.item-004.text"/>
            <p:cNvSpPr/>
            <p:nvPr/>
          </p:nvSpPr>
          <p:spPr>
            <a:xfrm>
              <a:off x="1143000" y="4267200"/>
              <a:ext cx="27813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Value tracked every release.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0" name="node02"/>
          <p:cNvGrpSpPr/>
          <p:nvPr/>
        </p:nvGrpSpPr>
        <p:grpSpPr>
          <a:xfrm>
            <a:off x="1866900" y="4800600"/>
            <a:ext cx="2286000" cy="1371600"/>
            <a:chOff x="1866900" y="4800600"/>
            <a:chExt cx="2286000" cy="1371600"/>
          </a:xfrm>
        </p:grpSpPr>
        <p:sp>
          <p:nvSpPr>
            <p:cNvPr id="27" name="node02.surface"/>
            <p:cNvSpPr/>
            <p:nvPr/>
          </p:nvSpPr>
          <p:spPr>
            <a:xfrm>
              <a:off x="1866900" y="4800600"/>
              <a:ext cx="2286000" cy="13716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61" name="node03"/>
          <p:cNvGrpSpPr/>
          <p:nvPr/>
        </p:nvGrpSpPr>
        <p:grpSpPr>
          <a:xfrm>
            <a:off x="2095500" y="5029200"/>
            <a:ext cx="1828800" cy="152400"/>
            <a:chOff x="2095500" y="5029200"/>
            <a:chExt cx="1828800" cy="152400"/>
          </a:xfrm>
        </p:grpSpPr>
        <p:sp>
          <p:nvSpPr>
            <p:cNvPr id="28" name="node03.text"/>
            <p:cNvSpPr/>
            <p:nvPr/>
          </p:nvSpPr>
          <p:spPr>
            <a:xfrm>
              <a:off x="2095500" y="5029200"/>
              <a:ext cx="18288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F900D3"/>
                  </a:solidFill>
                  <a:latin typeface="IBM Plex Mono Medium"/>
                  <a:ea typeface="IBM Plex Mono Medium"/>
                  <a:cs typeface="IBM Plex Mono Medium"/>
                </a:rPr>
                <a:t>WHY THIS MATTERS</a:t>
              </a:r>
              <a:endParaRPr lang="en-US" sz="900" spc="54" kern="0" b="0" i="0" dirty="0">
                <a:solidFill>
                  <a:srgbClr val="F900D3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62" name="node04"/>
          <p:cNvGrpSpPr/>
          <p:nvPr/>
        </p:nvGrpSpPr>
        <p:grpSpPr>
          <a:xfrm>
            <a:off x="2095500" y="5257800"/>
            <a:ext cx="1828800" cy="685800"/>
            <a:chOff x="2095500" y="5257800"/>
            <a:chExt cx="1828800" cy="685800"/>
          </a:xfrm>
        </p:grpSpPr>
        <p:sp>
          <p:nvSpPr>
            <p:cNvPr id="29" name="node04.text"/>
            <p:cNvSpPr/>
            <p:nvPr/>
          </p:nvSpPr>
          <p:spPr>
            <a:xfrm>
              <a:off x="2095500" y="5257800"/>
              <a:ext cx="182880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Effort goes where return is highest, so promised value lands.</a:t>
              </a:r>
              <a:endParaRPr lang="en-US" sz="12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4" name="node05"/>
          <p:cNvGrpSpPr/>
          <p:nvPr/>
        </p:nvGrpSpPr>
        <p:grpSpPr>
          <a:xfrm>
            <a:off x="4381500" y="1600200"/>
            <a:ext cx="3429000" cy="3429000"/>
            <a:chOff x="4381500" y="1600200"/>
            <a:chExt cx="3429000" cy="3429000"/>
          </a:xfrm>
        </p:grpSpPr>
        <p:sp>
          <p:nvSpPr>
            <p:cNvPr id="30" name="node05.container"/>
            <p:cNvSpPr/>
            <p:nvPr/>
          </p:nvSpPr>
          <p:spPr>
            <a:xfrm>
              <a:off x="4381500" y="1600200"/>
              <a:ext cx="3429000" cy="3429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grpSp>
          <p:nvGrpSpPr>
            <p:cNvPr id="63" name="node05.icon"/>
            <p:cNvGrpSpPr/>
            <p:nvPr/>
          </p:nvGrpSpPr>
          <p:grpSpPr>
            <a:xfrm>
              <a:off x="4610100" y="1828800"/>
              <a:ext cx="457200" cy="457200"/>
              <a:chOff x="4610100" y="1828800"/>
              <a:chExt cx="457200" cy="457200"/>
            </a:xfrm>
          </p:grpSpPr>
          <p:pic>
            <p:nvPicPr>
              <p:cNvPr id="31" name="node05.icon.image" descr="icon/strategy-route/navy; canonical SHA256=763a15166fefc06f84edb42452bdf8fbb13cc97295a2599a2fc99a950f7f95d4">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610100" y="1828800"/>
                <a:ext cx="457200" cy="457200"/>
              </a:xfrm>
              <a:prstGeom prst="rect">
                <a:avLst/>
              </a:prstGeom>
            </p:spPr>
          </p:pic>
        </p:grpSp>
        <p:sp>
          <p:nvSpPr>
            <p:cNvPr id="32" name="node05.title"/>
            <p:cNvSpPr/>
            <p:nvPr/>
          </p:nvSpPr>
          <p:spPr>
            <a:xfrm>
              <a:off x="5219700" y="1828800"/>
              <a:ext cx="23622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047FF"/>
                  </a:solidFill>
                  <a:latin typeface="IBM Plex Sans SemiBold"/>
                  <a:ea typeface="IBM Plex Sans SemiBold"/>
                  <a:cs typeface="IBM Plex Sans SemiBold"/>
                </a:rPr>
                <a:t>Purpose built</a:t>
              </a:r>
              <a:endParaRPr lang="en-US" sz="1800" spc="-18" kern="0" b="0" i="0" dirty="0">
                <a:solidFill>
                  <a:srgbClr val="0047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33" name="node05.body.item-001.bullets.item-001.marker"/>
            <p:cNvSpPr/>
            <p:nvPr/>
          </p:nvSpPr>
          <p:spPr>
            <a:xfrm>
              <a:off x="4610100" y="2546350"/>
              <a:ext cx="50800" cy="50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4" name="node05.body.item-001.bullets.item-001.text"/>
            <p:cNvSpPr/>
            <p:nvPr/>
          </p:nvSpPr>
          <p:spPr>
            <a:xfrm>
              <a:off x="4800600" y="2438400"/>
              <a:ext cx="27813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Retain, replatform, rewrite or retire, chosen per system.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5" name="node05.body.item-001.bullets.item-002.marker"/>
            <p:cNvSpPr/>
            <p:nvPr/>
          </p:nvSpPr>
          <p:spPr>
            <a:xfrm>
              <a:off x="4610100" y="3155950"/>
              <a:ext cx="50800" cy="50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6" name="node05.body.item-001.bullets.item-002.text"/>
            <p:cNvSpPr/>
            <p:nvPr/>
          </p:nvSpPr>
          <p:spPr>
            <a:xfrm>
              <a:off x="4800600" y="3048000"/>
              <a:ext cx="27813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Stable components stay in place, untouched.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7" name="node05.body.item-001.bullets.item-003.marker"/>
            <p:cNvSpPr/>
            <p:nvPr/>
          </p:nvSpPr>
          <p:spPr>
            <a:xfrm>
              <a:off x="4610100" y="3765550"/>
              <a:ext cx="50800" cy="50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8" name="node05.body.item-001.bullets.item-003.text"/>
            <p:cNvSpPr/>
            <p:nvPr/>
          </p:nvSpPr>
          <p:spPr>
            <a:xfrm>
              <a:off x="4800600" y="3657600"/>
              <a:ext cx="27813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Target architecture fits your portfolio and skills.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9" name="node05.body.item-001.bullets.item-004.marker"/>
            <p:cNvSpPr/>
            <p:nvPr/>
          </p:nvSpPr>
          <p:spPr>
            <a:xfrm>
              <a:off x="4610100" y="4375150"/>
              <a:ext cx="50800" cy="50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0" name="node05.body.item-001.bullets.item-004.text"/>
            <p:cNvSpPr/>
            <p:nvPr/>
          </p:nvSpPr>
          <p:spPr>
            <a:xfrm>
              <a:off x="4800600" y="4267200"/>
              <a:ext cx="27813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Nothing is rebuilt for show.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5" name="node06"/>
          <p:cNvGrpSpPr/>
          <p:nvPr/>
        </p:nvGrpSpPr>
        <p:grpSpPr>
          <a:xfrm>
            <a:off x="5524500" y="4800600"/>
            <a:ext cx="2286000" cy="1371600"/>
            <a:chOff x="5524500" y="4800600"/>
            <a:chExt cx="2286000" cy="1371600"/>
          </a:xfrm>
        </p:grpSpPr>
        <p:sp>
          <p:nvSpPr>
            <p:cNvPr id="41" name="node06.surface"/>
            <p:cNvSpPr/>
            <p:nvPr/>
          </p:nvSpPr>
          <p:spPr>
            <a:xfrm>
              <a:off x="5524500" y="4800600"/>
              <a:ext cx="2286000" cy="13716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66" name="node07"/>
          <p:cNvGrpSpPr/>
          <p:nvPr/>
        </p:nvGrpSpPr>
        <p:grpSpPr>
          <a:xfrm>
            <a:off x="5753100" y="5029200"/>
            <a:ext cx="1828800" cy="152400"/>
            <a:chOff x="5753100" y="5029200"/>
            <a:chExt cx="1828800" cy="152400"/>
          </a:xfrm>
        </p:grpSpPr>
        <p:sp>
          <p:nvSpPr>
            <p:cNvPr id="42" name="node07.text"/>
            <p:cNvSpPr/>
            <p:nvPr/>
          </p:nvSpPr>
          <p:spPr>
            <a:xfrm>
              <a:off x="5753100" y="5029200"/>
              <a:ext cx="18288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F900D3"/>
                  </a:solidFill>
                  <a:latin typeface="IBM Plex Mono Medium"/>
                  <a:ea typeface="IBM Plex Mono Medium"/>
                  <a:cs typeface="IBM Plex Mono Medium"/>
                </a:rPr>
                <a:t>WHY THIS MATTERS</a:t>
              </a:r>
              <a:endParaRPr lang="en-US" sz="900" spc="54" kern="0" b="0" i="0" dirty="0">
                <a:solidFill>
                  <a:srgbClr val="F900D3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67" name="node08"/>
          <p:cNvGrpSpPr/>
          <p:nvPr/>
        </p:nvGrpSpPr>
        <p:grpSpPr>
          <a:xfrm>
            <a:off x="5753100" y="5257800"/>
            <a:ext cx="1828800" cy="685800"/>
            <a:chOff x="5753100" y="5257800"/>
            <a:chExt cx="1828800" cy="685800"/>
          </a:xfrm>
        </p:grpSpPr>
        <p:sp>
          <p:nvSpPr>
            <p:cNvPr id="43" name="node08.text"/>
            <p:cNvSpPr/>
            <p:nvPr/>
          </p:nvSpPr>
          <p:spPr>
            <a:xfrm>
              <a:off x="5753100" y="5257800"/>
              <a:ext cx="182880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You keep what works and replace only what drives value.</a:t>
              </a:r>
              <a:endParaRPr lang="en-US" sz="12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9" name="node09"/>
          <p:cNvGrpSpPr/>
          <p:nvPr/>
        </p:nvGrpSpPr>
        <p:grpSpPr>
          <a:xfrm>
            <a:off x="8039100" y="1600200"/>
            <a:ext cx="3429000" cy="3429000"/>
            <a:chOff x="8039100" y="1600200"/>
            <a:chExt cx="3429000" cy="3429000"/>
          </a:xfrm>
        </p:grpSpPr>
        <p:sp>
          <p:nvSpPr>
            <p:cNvPr id="44" name="node09.container"/>
            <p:cNvSpPr/>
            <p:nvPr/>
          </p:nvSpPr>
          <p:spPr>
            <a:xfrm>
              <a:off x="8039100" y="1600200"/>
              <a:ext cx="3429000" cy="3429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grpSp>
          <p:nvGrpSpPr>
            <p:cNvPr id="68" name="node09.icon"/>
            <p:cNvGrpSpPr/>
            <p:nvPr/>
          </p:nvGrpSpPr>
          <p:grpSpPr>
            <a:xfrm>
              <a:off x="8267700" y="1828800"/>
              <a:ext cx="457200" cy="457200"/>
              <a:chOff x="8267700" y="1828800"/>
              <a:chExt cx="457200" cy="457200"/>
            </a:xfrm>
          </p:grpSpPr>
          <p:pic>
            <p:nvPicPr>
              <p:cNvPr id="45" name="node09.icon.image" descr="icon/ai-chip-orbit/navy; canonical SHA256=14a43f66d8a5b8ac5942dde8e905dedb2ae681de3a803ebf66fb1cacc34ccd3a">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267700" y="1828800"/>
                <a:ext cx="457200" cy="457200"/>
              </a:xfrm>
              <a:prstGeom prst="rect">
                <a:avLst/>
              </a:prstGeom>
            </p:spPr>
          </p:pic>
        </p:grpSp>
        <p:sp>
          <p:nvSpPr>
            <p:cNvPr id="46" name="node09.title"/>
            <p:cNvSpPr/>
            <p:nvPr/>
          </p:nvSpPr>
          <p:spPr>
            <a:xfrm>
              <a:off x="8877300" y="1828800"/>
              <a:ext cx="23622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047FF"/>
                  </a:solidFill>
                  <a:latin typeface="IBM Plex Sans SemiBold"/>
                  <a:ea typeface="IBM Plex Sans SemiBold"/>
                  <a:cs typeface="IBM Plex Sans SemiBold"/>
                </a:rPr>
                <a:t>AI accelerated</a:t>
              </a:r>
              <a:endParaRPr lang="en-US" sz="1800" spc="-18" kern="0" b="0" i="0" dirty="0">
                <a:solidFill>
                  <a:srgbClr val="0047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47" name="node09.body.item-001.bullets.item-001.marker"/>
            <p:cNvSpPr/>
            <p:nvPr/>
          </p:nvSpPr>
          <p:spPr>
            <a:xfrm>
              <a:off x="8267700" y="2546350"/>
              <a:ext cx="50800" cy="50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48" name="node09.body.item-001.bullets.item-001.text"/>
            <p:cNvSpPr/>
            <p:nvPr/>
          </p:nvSpPr>
          <p:spPr>
            <a:xfrm>
              <a:off x="8458200" y="2438400"/>
              <a:ext cx="27813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Agents scan and map codebases at scale.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9" name="node09.body.item-001.bullets.item-002.marker"/>
            <p:cNvSpPr/>
            <p:nvPr/>
          </p:nvSpPr>
          <p:spPr>
            <a:xfrm>
              <a:off x="8267700" y="3155950"/>
              <a:ext cx="50800" cy="50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0" name="node09.body.item-001.bullets.item-002.text"/>
            <p:cNvSpPr/>
            <p:nvPr/>
          </p:nvSpPr>
          <p:spPr>
            <a:xfrm>
              <a:off x="8458200" y="3048000"/>
              <a:ext cx="27813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Dependencies and dead code surface in days.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1" name="node09.body.item-001.bullets.item-003.marker"/>
            <p:cNvSpPr/>
            <p:nvPr/>
          </p:nvSpPr>
          <p:spPr>
            <a:xfrm>
              <a:off x="8267700" y="3765550"/>
              <a:ext cx="50800" cy="50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2" name="node09.body.item-001.bullets.item-003.text"/>
            <p:cNvSpPr/>
            <p:nvPr/>
          </p:nvSpPr>
          <p:spPr>
            <a:xfrm>
              <a:off x="8458200" y="3657600"/>
              <a:ext cx="2781300" cy="533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Generated tests and docs back each change.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3" name="node09.body.item-001.bullets.item-004.marker"/>
            <p:cNvSpPr/>
            <p:nvPr/>
          </p:nvSpPr>
          <p:spPr>
            <a:xfrm>
              <a:off x="8267700" y="4375150"/>
              <a:ext cx="50800" cy="50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4" name="node09.body.item-001.bullets.item-004.text"/>
            <p:cNvSpPr/>
            <p:nvPr/>
          </p:nvSpPr>
          <p:spPr>
            <a:xfrm>
              <a:off x="8458200" y="4267200"/>
              <a:ext cx="27813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Engineers approve every merge.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70" name="node10"/>
          <p:cNvGrpSpPr/>
          <p:nvPr/>
        </p:nvGrpSpPr>
        <p:grpSpPr>
          <a:xfrm>
            <a:off x="9182100" y="4800600"/>
            <a:ext cx="2286000" cy="1371600"/>
            <a:chOff x="9182100" y="4800600"/>
            <a:chExt cx="2286000" cy="1371600"/>
          </a:xfrm>
        </p:grpSpPr>
        <p:sp>
          <p:nvSpPr>
            <p:cNvPr id="55" name="node10.surface"/>
            <p:cNvSpPr/>
            <p:nvPr/>
          </p:nvSpPr>
          <p:spPr>
            <a:xfrm>
              <a:off x="9182100" y="4800600"/>
              <a:ext cx="2286000" cy="13716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</p:grpSp>
      <p:grpSp>
        <p:nvGrpSpPr>
          <p:cNvPr id="71" name="node11"/>
          <p:cNvGrpSpPr/>
          <p:nvPr/>
        </p:nvGrpSpPr>
        <p:grpSpPr>
          <a:xfrm>
            <a:off x="9410700" y="5029200"/>
            <a:ext cx="1828800" cy="152400"/>
            <a:chOff x="9410700" y="5029200"/>
            <a:chExt cx="1828800" cy="152400"/>
          </a:xfrm>
        </p:grpSpPr>
        <p:sp>
          <p:nvSpPr>
            <p:cNvPr id="56" name="node11.text"/>
            <p:cNvSpPr/>
            <p:nvPr/>
          </p:nvSpPr>
          <p:spPr>
            <a:xfrm>
              <a:off x="9410700" y="5029200"/>
              <a:ext cx="18288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F900D3"/>
                  </a:solidFill>
                  <a:latin typeface="IBM Plex Mono Medium"/>
                  <a:ea typeface="IBM Plex Mono Medium"/>
                  <a:cs typeface="IBM Plex Mono Medium"/>
                </a:rPr>
                <a:t>WHY THIS MATTERS</a:t>
              </a:r>
              <a:endParaRPr lang="en-US" sz="900" spc="54" kern="0" b="0" i="0" dirty="0">
                <a:solidFill>
                  <a:srgbClr val="F900D3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72" name="node12"/>
          <p:cNvGrpSpPr/>
          <p:nvPr/>
        </p:nvGrpSpPr>
        <p:grpSpPr>
          <a:xfrm>
            <a:off x="9410700" y="5257800"/>
            <a:ext cx="1828800" cy="685800"/>
            <a:chOff x="9410700" y="5257800"/>
            <a:chExt cx="1828800" cy="685800"/>
          </a:xfrm>
        </p:grpSpPr>
        <p:sp>
          <p:nvSpPr>
            <p:cNvPr id="57" name="node12.text"/>
            <p:cNvSpPr/>
            <p:nvPr/>
          </p:nvSpPr>
          <p:spPr>
            <a:xfrm>
              <a:off x="9410700" y="5257800"/>
              <a:ext cx="182880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</a:rPr>
                <a:t>Months of analysis shrink to days, with less tribal knowledge.</a:t>
              </a:r>
              <a:endParaRPr lang="en-US" sz="1200" spc="0" kern="0" b="0" i="0" dirty="0">
                <a:solidFill>
                  <a:srgbClr val="FFFFFF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4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ROADMAP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One foundation, then three tracks run in parallel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Northfield Health System digital front door program.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6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74" name="node01"/>
          <p:cNvGrpSpPr/>
          <p:nvPr/>
        </p:nvGrpSpPr>
        <p:grpSpPr>
          <a:xfrm>
            <a:off x="723900" y="1600200"/>
            <a:ext cx="10744200" cy="3978148"/>
            <a:chOff x="723900" y="1600200"/>
            <a:chExt cx="10744200" cy="3978148"/>
          </a:xfrm>
        </p:grpSpPr>
        <p:sp>
          <p:nvSpPr>
            <p:cNvPr id="7" name="node01.trunk.road"/>
            <p:cNvSpPr/>
            <p:nvPr/>
          </p:nvSpPr>
          <p:spPr>
            <a:xfrm>
              <a:off x="901700" y="3543300"/>
              <a:ext cx="3475228" cy="0"/>
            </a:xfrm>
            <a:custGeom>
              <a:avLst/>
              <a:gdLst/>
              <a:ahLst/>
              <a:cxnLst/>
              <a:rect l="l" t="t" r="r" b="b"/>
              <a:pathLst>
                <a:path w="3475228">
                  <a:moveTo>
                    <a:pt x="0" y="0"/>
                  </a:moveTo>
                  <a:lnTo>
                    <a:pt x="3475228" y="0"/>
                  </a:lnTo>
                </a:path>
              </a:pathLst>
            </a:custGeom>
            <a:ln w="228600">
              <a:solidFill>
                <a:srgbClr val="070154"/>
              </a:solidFill>
              <a:prstDash val="solid"/>
              <a:round/>
            </a:ln>
          </p:spPr>
        </p:sp>
        <p:sp>
          <p:nvSpPr>
            <p:cNvPr id="8" name="node01.trunk.road.cap-1"/>
            <p:cNvSpPr/>
            <p:nvPr/>
          </p:nvSpPr>
          <p:spPr>
            <a:xfrm>
              <a:off x="787400" y="3429000"/>
              <a:ext cx="228600" cy="2286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9" name="node01.trunk.road.cap-2"/>
            <p:cNvSpPr/>
            <p:nvPr/>
          </p:nvSpPr>
          <p:spPr>
            <a:xfrm>
              <a:off x="4262628" y="3429000"/>
              <a:ext cx="228600" cy="2286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0" name="node01.trunk.centerline"/>
            <p:cNvSpPr/>
            <p:nvPr/>
          </p:nvSpPr>
          <p:spPr>
            <a:xfrm>
              <a:off x="901700" y="3543300"/>
              <a:ext cx="3475228" cy="0"/>
            </a:xfrm>
            <a:custGeom>
              <a:avLst/>
              <a:gdLst/>
              <a:ahLst/>
              <a:cxnLst/>
              <a:rect l="l" t="t" r="r" b="b"/>
              <a:pathLst>
                <a:path w="3475228">
                  <a:moveTo>
                    <a:pt x="0" y="0"/>
                  </a:moveTo>
                  <a:lnTo>
                    <a:pt x="88900" y="0"/>
                  </a:lnTo>
                  <a:moveTo>
                    <a:pt x="177800" y="0"/>
                  </a:moveTo>
                  <a:lnTo>
                    <a:pt x="266700" y="0"/>
                  </a:lnTo>
                  <a:moveTo>
                    <a:pt x="355600" y="0"/>
                  </a:moveTo>
                  <a:lnTo>
                    <a:pt x="444500" y="0"/>
                  </a:lnTo>
                  <a:moveTo>
                    <a:pt x="533400" y="0"/>
                  </a:moveTo>
                  <a:lnTo>
                    <a:pt x="622300" y="0"/>
                  </a:lnTo>
                  <a:moveTo>
                    <a:pt x="711200" y="0"/>
                  </a:moveTo>
                  <a:lnTo>
                    <a:pt x="800100" y="0"/>
                  </a:lnTo>
                  <a:moveTo>
                    <a:pt x="889000" y="0"/>
                  </a:moveTo>
                  <a:lnTo>
                    <a:pt x="977900" y="0"/>
                  </a:lnTo>
                  <a:moveTo>
                    <a:pt x="1066800" y="0"/>
                  </a:moveTo>
                  <a:lnTo>
                    <a:pt x="1155700" y="0"/>
                  </a:lnTo>
                  <a:moveTo>
                    <a:pt x="1244600" y="0"/>
                  </a:moveTo>
                  <a:lnTo>
                    <a:pt x="1333500" y="0"/>
                  </a:lnTo>
                  <a:moveTo>
                    <a:pt x="1422400" y="0"/>
                  </a:moveTo>
                  <a:lnTo>
                    <a:pt x="1511300" y="0"/>
                  </a:lnTo>
                  <a:moveTo>
                    <a:pt x="1600200" y="0"/>
                  </a:moveTo>
                  <a:lnTo>
                    <a:pt x="1689100" y="0"/>
                  </a:lnTo>
                  <a:moveTo>
                    <a:pt x="1778000" y="0"/>
                  </a:moveTo>
                  <a:lnTo>
                    <a:pt x="1866900" y="0"/>
                  </a:lnTo>
                  <a:moveTo>
                    <a:pt x="1955800" y="0"/>
                  </a:moveTo>
                  <a:lnTo>
                    <a:pt x="2044700" y="0"/>
                  </a:lnTo>
                  <a:moveTo>
                    <a:pt x="2133600" y="0"/>
                  </a:moveTo>
                  <a:lnTo>
                    <a:pt x="2222500" y="0"/>
                  </a:lnTo>
                  <a:moveTo>
                    <a:pt x="2311400" y="0"/>
                  </a:moveTo>
                  <a:lnTo>
                    <a:pt x="2400300" y="0"/>
                  </a:lnTo>
                  <a:moveTo>
                    <a:pt x="2489200" y="0"/>
                  </a:moveTo>
                  <a:lnTo>
                    <a:pt x="2578100" y="0"/>
                  </a:lnTo>
                  <a:moveTo>
                    <a:pt x="2667000" y="0"/>
                  </a:moveTo>
                  <a:lnTo>
                    <a:pt x="2755900" y="0"/>
                  </a:lnTo>
                  <a:moveTo>
                    <a:pt x="2844800" y="0"/>
                  </a:moveTo>
                  <a:lnTo>
                    <a:pt x="2933700" y="0"/>
                  </a:lnTo>
                  <a:moveTo>
                    <a:pt x="3022600" y="0"/>
                  </a:moveTo>
                  <a:lnTo>
                    <a:pt x="3111500" y="0"/>
                  </a:lnTo>
                  <a:moveTo>
                    <a:pt x="3200400" y="0"/>
                  </a:moveTo>
                  <a:lnTo>
                    <a:pt x="3289300" y="0"/>
                  </a:lnTo>
                  <a:moveTo>
                    <a:pt x="3378200" y="0"/>
                  </a:moveTo>
                  <a:lnTo>
                    <a:pt x="3467100" y="0"/>
                  </a:lnTo>
                </a:path>
              </a:pathLst>
            </a:custGeom>
            <a:ln w="19050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1" name="node01.branches.source-001.road"/>
            <p:cNvSpPr/>
            <p:nvPr/>
          </p:nvSpPr>
          <p:spPr>
            <a:xfrm>
              <a:off x="4376928" y="2144268"/>
              <a:ext cx="6913372" cy="1399032"/>
            </a:xfrm>
            <a:custGeom>
              <a:avLst/>
              <a:gdLst/>
              <a:ahLst/>
              <a:cxnLst/>
              <a:rect l="l" t="t" r="r" b="b"/>
              <a:pathLst>
                <a:path w="6913372" h="1399032">
                  <a:moveTo>
                    <a:pt x="0" y="1399032"/>
                  </a:moveTo>
                  <a:cubicBezTo>
                    <a:pt x="754380" y="1399032"/>
                    <a:pt x="617220" y="0"/>
                    <a:pt x="1371600" y="0"/>
                  </a:cubicBezTo>
                  <a:lnTo>
                    <a:pt x="6913372" y="0"/>
                  </a:lnTo>
                </a:path>
              </a:pathLst>
            </a:custGeom>
            <a:ln w="228600">
              <a:solidFill>
                <a:srgbClr val="070154"/>
              </a:solidFill>
              <a:prstDash val="solid"/>
              <a:round/>
            </a:ln>
          </p:spPr>
        </p:sp>
        <p:sp>
          <p:nvSpPr>
            <p:cNvPr id="12" name="node01.branches.source-001.road.cap-1"/>
            <p:cNvSpPr/>
            <p:nvPr/>
          </p:nvSpPr>
          <p:spPr>
            <a:xfrm>
              <a:off x="4262628" y="3429000"/>
              <a:ext cx="228600" cy="2286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3" name="node01.branches.source-001.road.cap-2"/>
            <p:cNvSpPr/>
            <p:nvPr/>
          </p:nvSpPr>
          <p:spPr>
            <a:xfrm>
              <a:off x="11176000" y="2029968"/>
              <a:ext cx="228600" cy="2286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4" name="node01.branches.source-001.centerline"/>
            <p:cNvSpPr/>
            <p:nvPr/>
          </p:nvSpPr>
          <p:spPr>
            <a:xfrm>
              <a:off x="4376928" y="2144268"/>
              <a:ext cx="6913372" cy="1399032"/>
            </a:xfrm>
            <a:custGeom>
              <a:avLst/>
              <a:gdLst/>
              <a:ahLst/>
              <a:cxnLst/>
              <a:rect l="l" t="t" r="r" b="b"/>
              <a:pathLst>
                <a:path w="6913372" h="1399032">
                  <a:moveTo>
                    <a:pt x="0" y="1399032"/>
                  </a:moveTo>
                  <a:cubicBezTo>
                    <a:pt x="30975" y="1399032"/>
                    <a:pt x="60447" y="1396673"/>
                    <a:pt x="88539" y="1392150"/>
                  </a:cubicBezTo>
                  <a:moveTo>
                    <a:pt x="174579" y="1370270"/>
                  </a:moveTo>
                  <a:cubicBezTo>
                    <a:pt x="202946" y="1360213"/>
                    <a:pt x="229740" y="1347689"/>
                    <a:pt x="255138" y="1332974"/>
                  </a:cubicBezTo>
                  <a:moveTo>
                    <a:pt x="327884" y="1282054"/>
                  </a:moveTo>
                  <a:cubicBezTo>
                    <a:pt x="350423" y="1263378"/>
                    <a:pt x="371765" y="1242823"/>
                    <a:pt x="392079" y="1220656"/>
                  </a:cubicBezTo>
                  <a:moveTo>
                    <a:pt x="448390" y="1151917"/>
                  </a:moveTo>
                  <a:cubicBezTo>
                    <a:pt x="465684" y="1128482"/>
                    <a:pt x="482223" y="1103861"/>
                    <a:pt x="498145" y="1078272"/>
                  </a:cubicBezTo>
                  <a:moveTo>
                    <a:pt x="542790" y="1001410"/>
                  </a:moveTo>
                  <a:cubicBezTo>
                    <a:pt x="556800" y="975706"/>
                    <a:pt x="570380" y="949329"/>
                    <a:pt x="583649" y="922463"/>
                  </a:cubicBezTo>
                  <a:moveTo>
                    <a:pt x="621882" y="842206"/>
                  </a:moveTo>
                  <a:cubicBezTo>
                    <a:pt x="634241" y="815441"/>
                    <a:pt x="646415" y="788384"/>
                    <a:pt x="658508" y="761203"/>
                  </a:cubicBezTo>
                  <a:moveTo>
                    <a:pt x="694458" y="679896"/>
                  </a:moveTo>
                  <a:cubicBezTo>
                    <a:pt x="706453" y="652731"/>
                    <a:pt x="718473" y="625606"/>
                    <a:pt x="730623" y="598684"/>
                  </a:cubicBezTo>
                  <a:moveTo>
                    <a:pt x="767904" y="517980"/>
                  </a:moveTo>
                  <a:cubicBezTo>
                    <a:pt x="780740" y="490965"/>
                    <a:pt x="793824" y="464338"/>
                    <a:pt x="807268" y="438275"/>
                  </a:cubicBezTo>
                  <a:moveTo>
                    <a:pt x="849799" y="360219"/>
                  </a:moveTo>
                  <a:cubicBezTo>
                    <a:pt x="864872" y="334160"/>
                    <a:pt x="880473" y="308931"/>
                    <a:pt x="896735" y="284738"/>
                  </a:cubicBezTo>
                  <a:moveTo>
                    <a:pt x="949471" y="213207"/>
                  </a:moveTo>
                  <a:cubicBezTo>
                    <a:pt x="968494" y="189839"/>
                    <a:pt x="988431" y="167904"/>
                    <a:pt x="1009443" y="147656"/>
                  </a:cubicBezTo>
                  <a:moveTo>
                    <a:pt x="1077751" y="90895"/>
                  </a:moveTo>
                  <a:cubicBezTo>
                    <a:pt x="1101936" y="73821"/>
                    <a:pt x="1127448" y="58831"/>
                    <a:pt x="1154466" y="46205"/>
                  </a:cubicBezTo>
                  <a:moveTo>
                    <a:pt x="1238033" y="16255"/>
                  </a:moveTo>
                  <a:cubicBezTo>
                    <a:pt x="1265763" y="9127"/>
                    <a:pt x="1294918" y="4233"/>
                    <a:pt x="1325636" y="1793"/>
                  </a:cubicBezTo>
                  <a:moveTo>
                    <a:pt x="1414491" y="0"/>
                  </a:moveTo>
                  <a:lnTo>
                    <a:pt x="1503391" y="0"/>
                  </a:lnTo>
                  <a:moveTo>
                    <a:pt x="1592291" y="0"/>
                  </a:moveTo>
                  <a:lnTo>
                    <a:pt x="1681191" y="0"/>
                  </a:lnTo>
                  <a:moveTo>
                    <a:pt x="1770091" y="0"/>
                  </a:moveTo>
                  <a:lnTo>
                    <a:pt x="1858991" y="0"/>
                  </a:lnTo>
                  <a:moveTo>
                    <a:pt x="1947891" y="0"/>
                  </a:moveTo>
                  <a:lnTo>
                    <a:pt x="2036791" y="0"/>
                  </a:lnTo>
                  <a:moveTo>
                    <a:pt x="2125691" y="0"/>
                  </a:moveTo>
                  <a:lnTo>
                    <a:pt x="2214591" y="0"/>
                  </a:lnTo>
                  <a:moveTo>
                    <a:pt x="2303491" y="0"/>
                  </a:moveTo>
                  <a:lnTo>
                    <a:pt x="2392391" y="0"/>
                  </a:lnTo>
                  <a:moveTo>
                    <a:pt x="2481291" y="0"/>
                  </a:moveTo>
                  <a:lnTo>
                    <a:pt x="2570191" y="0"/>
                  </a:lnTo>
                  <a:moveTo>
                    <a:pt x="2659091" y="0"/>
                  </a:moveTo>
                  <a:lnTo>
                    <a:pt x="2747991" y="0"/>
                  </a:lnTo>
                  <a:moveTo>
                    <a:pt x="2836891" y="0"/>
                  </a:moveTo>
                  <a:lnTo>
                    <a:pt x="2925791" y="0"/>
                  </a:lnTo>
                  <a:moveTo>
                    <a:pt x="3014691" y="0"/>
                  </a:moveTo>
                  <a:lnTo>
                    <a:pt x="3103591" y="0"/>
                  </a:lnTo>
                  <a:moveTo>
                    <a:pt x="3192491" y="0"/>
                  </a:moveTo>
                  <a:lnTo>
                    <a:pt x="3281391" y="0"/>
                  </a:lnTo>
                  <a:moveTo>
                    <a:pt x="3370291" y="0"/>
                  </a:moveTo>
                  <a:lnTo>
                    <a:pt x="3459191" y="0"/>
                  </a:lnTo>
                  <a:moveTo>
                    <a:pt x="3548091" y="0"/>
                  </a:moveTo>
                  <a:lnTo>
                    <a:pt x="3636991" y="0"/>
                  </a:lnTo>
                  <a:moveTo>
                    <a:pt x="3725891" y="0"/>
                  </a:moveTo>
                  <a:lnTo>
                    <a:pt x="3814791" y="0"/>
                  </a:lnTo>
                  <a:moveTo>
                    <a:pt x="3903691" y="0"/>
                  </a:moveTo>
                  <a:lnTo>
                    <a:pt x="3992591" y="0"/>
                  </a:lnTo>
                  <a:moveTo>
                    <a:pt x="4081491" y="0"/>
                  </a:moveTo>
                  <a:lnTo>
                    <a:pt x="4170391" y="0"/>
                  </a:lnTo>
                  <a:moveTo>
                    <a:pt x="4259291" y="0"/>
                  </a:moveTo>
                  <a:lnTo>
                    <a:pt x="4348191" y="0"/>
                  </a:lnTo>
                  <a:moveTo>
                    <a:pt x="4437091" y="0"/>
                  </a:moveTo>
                  <a:lnTo>
                    <a:pt x="4525991" y="0"/>
                  </a:lnTo>
                  <a:moveTo>
                    <a:pt x="4614891" y="0"/>
                  </a:moveTo>
                  <a:lnTo>
                    <a:pt x="4703791" y="0"/>
                  </a:lnTo>
                  <a:moveTo>
                    <a:pt x="4792691" y="0"/>
                  </a:moveTo>
                  <a:lnTo>
                    <a:pt x="4881591" y="0"/>
                  </a:lnTo>
                  <a:moveTo>
                    <a:pt x="4970491" y="0"/>
                  </a:moveTo>
                  <a:lnTo>
                    <a:pt x="5059391" y="0"/>
                  </a:lnTo>
                  <a:moveTo>
                    <a:pt x="5148291" y="0"/>
                  </a:moveTo>
                  <a:lnTo>
                    <a:pt x="5237191" y="0"/>
                  </a:lnTo>
                  <a:moveTo>
                    <a:pt x="5326091" y="0"/>
                  </a:moveTo>
                  <a:lnTo>
                    <a:pt x="5414991" y="0"/>
                  </a:lnTo>
                  <a:moveTo>
                    <a:pt x="5503891" y="0"/>
                  </a:moveTo>
                  <a:lnTo>
                    <a:pt x="5592791" y="0"/>
                  </a:lnTo>
                  <a:moveTo>
                    <a:pt x="5681691" y="0"/>
                  </a:moveTo>
                  <a:lnTo>
                    <a:pt x="5770591" y="0"/>
                  </a:lnTo>
                  <a:moveTo>
                    <a:pt x="5859491" y="0"/>
                  </a:moveTo>
                  <a:lnTo>
                    <a:pt x="5948391" y="0"/>
                  </a:lnTo>
                  <a:moveTo>
                    <a:pt x="6037291" y="0"/>
                  </a:moveTo>
                  <a:lnTo>
                    <a:pt x="6126191" y="0"/>
                  </a:lnTo>
                  <a:moveTo>
                    <a:pt x="6215091" y="0"/>
                  </a:moveTo>
                  <a:lnTo>
                    <a:pt x="6303991" y="0"/>
                  </a:lnTo>
                  <a:moveTo>
                    <a:pt x="6392891" y="0"/>
                  </a:moveTo>
                  <a:lnTo>
                    <a:pt x="6481791" y="0"/>
                  </a:lnTo>
                  <a:moveTo>
                    <a:pt x="6570691" y="0"/>
                  </a:moveTo>
                  <a:lnTo>
                    <a:pt x="6659591" y="0"/>
                  </a:lnTo>
                  <a:moveTo>
                    <a:pt x="6748491" y="0"/>
                  </a:moveTo>
                  <a:lnTo>
                    <a:pt x="6837391" y="0"/>
                  </a:lnTo>
                </a:path>
              </a:pathLst>
            </a:custGeom>
            <a:ln w="19050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5" name="node01.branches.source-002.road"/>
            <p:cNvSpPr/>
            <p:nvPr/>
          </p:nvSpPr>
          <p:spPr>
            <a:xfrm>
              <a:off x="4376928" y="3439668"/>
              <a:ext cx="6913372" cy="103632"/>
            </a:xfrm>
            <a:custGeom>
              <a:avLst/>
              <a:gdLst/>
              <a:ahLst/>
              <a:cxnLst/>
              <a:rect l="l" t="t" r="r" b="b"/>
              <a:pathLst>
                <a:path w="6913372" h="103632">
                  <a:moveTo>
                    <a:pt x="0" y="103632"/>
                  </a:moveTo>
                  <a:cubicBezTo>
                    <a:pt x="754380" y="103632"/>
                    <a:pt x="617220" y="0"/>
                    <a:pt x="1371600" y="0"/>
                  </a:cubicBezTo>
                  <a:lnTo>
                    <a:pt x="6913372" y="0"/>
                  </a:lnTo>
                </a:path>
              </a:pathLst>
            </a:custGeom>
            <a:ln w="228600">
              <a:solidFill>
                <a:srgbClr val="070154"/>
              </a:solidFill>
              <a:prstDash val="solid"/>
              <a:round/>
            </a:ln>
          </p:spPr>
        </p:sp>
        <p:sp>
          <p:nvSpPr>
            <p:cNvPr id="16" name="node01.branches.source-002.road.cap-1"/>
            <p:cNvSpPr/>
            <p:nvPr/>
          </p:nvSpPr>
          <p:spPr>
            <a:xfrm>
              <a:off x="4262628" y="3429000"/>
              <a:ext cx="228600" cy="2286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7" name="node01.branches.source-002.road.cap-2"/>
            <p:cNvSpPr/>
            <p:nvPr/>
          </p:nvSpPr>
          <p:spPr>
            <a:xfrm>
              <a:off x="11176000" y="3325368"/>
              <a:ext cx="228600" cy="2286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8" name="node01.branches.source-002.centerline"/>
            <p:cNvSpPr/>
            <p:nvPr/>
          </p:nvSpPr>
          <p:spPr>
            <a:xfrm>
              <a:off x="4376928" y="3439668"/>
              <a:ext cx="6913372" cy="103632"/>
            </a:xfrm>
            <a:custGeom>
              <a:avLst/>
              <a:gdLst/>
              <a:ahLst/>
              <a:cxnLst/>
              <a:rect l="l" t="t" r="r" b="b"/>
              <a:pathLst>
                <a:path w="6913372" h="103632">
                  <a:moveTo>
                    <a:pt x="0" y="103632"/>
                  </a:moveTo>
                  <a:cubicBezTo>
                    <a:pt x="31107" y="103632"/>
                    <a:pt x="60699" y="103456"/>
                    <a:pt x="88899" y="103118"/>
                  </a:cubicBezTo>
                  <a:moveTo>
                    <a:pt x="177783" y="101416"/>
                  </a:moveTo>
                  <a:cubicBezTo>
                    <a:pt x="209259" y="100571"/>
                    <a:pt x="238792" y="99500"/>
                    <a:pt x="266624" y="98231"/>
                  </a:cubicBezTo>
                  <a:moveTo>
                    <a:pt x="355377" y="93171"/>
                  </a:moveTo>
                  <a:cubicBezTo>
                    <a:pt x="387173" y="90967"/>
                    <a:pt x="416522" y="88478"/>
                    <a:pt x="443965" y="85768"/>
                  </a:cubicBezTo>
                  <a:moveTo>
                    <a:pt x="532275" y="75587"/>
                  </a:moveTo>
                  <a:cubicBezTo>
                    <a:pt x="563373" y="71482"/>
                    <a:pt x="592285" y="67123"/>
                    <a:pt x="620226" y="62651"/>
                  </a:cubicBezTo>
                  <a:moveTo>
                    <a:pt x="707928" y="48108"/>
                  </a:moveTo>
                  <a:cubicBezTo>
                    <a:pt x="736373" y="43358"/>
                    <a:pt x="765177" y="38650"/>
                    <a:pt x="795723" y="34145"/>
                  </a:cubicBezTo>
                  <a:moveTo>
                    <a:pt x="883859" y="22542"/>
                  </a:moveTo>
                  <a:cubicBezTo>
                    <a:pt x="911269" y="19388"/>
                    <a:pt x="940533" y="16449"/>
                    <a:pt x="972324" y="13803"/>
                  </a:cubicBezTo>
                  <a:moveTo>
                    <a:pt x="1061008" y="7645"/>
                  </a:moveTo>
                  <a:cubicBezTo>
                    <a:pt x="1088735" y="6074"/>
                    <a:pt x="1118239" y="4710"/>
                    <a:pt x="1149814" y="3586"/>
                  </a:cubicBezTo>
                  <a:moveTo>
                    <a:pt x="1238679" y="1192"/>
                  </a:moveTo>
                  <a:cubicBezTo>
                    <a:pt x="1266799" y="659"/>
                    <a:pt x="1296382" y="297"/>
                    <a:pt x="1327573" y="122"/>
                  </a:cubicBezTo>
                  <a:moveTo>
                    <a:pt x="1416474" y="0"/>
                  </a:moveTo>
                  <a:lnTo>
                    <a:pt x="1505374" y="0"/>
                  </a:lnTo>
                  <a:moveTo>
                    <a:pt x="1594274" y="0"/>
                  </a:moveTo>
                  <a:lnTo>
                    <a:pt x="1683174" y="0"/>
                  </a:lnTo>
                  <a:moveTo>
                    <a:pt x="1772074" y="0"/>
                  </a:moveTo>
                  <a:lnTo>
                    <a:pt x="1860974" y="0"/>
                  </a:lnTo>
                  <a:moveTo>
                    <a:pt x="1949874" y="0"/>
                  </a:moveTo>
                  <a:lnTo>
                    <a:pt x="2038774" y="0"/>
                  </a:lnTo>
                  <a:moveTo>
                    <a:pt x="2127674" y="0"/>
                  </a:moveTo>
                  <a:lnTo>
                    <a:pt x="2216574" y="0"/>
                  </a:lnTo>
                  <a:moveTo>
                    <a:pt x="2305474" y="0"/>
                  </a:moveTo>
                  <a:lnTo>
                    <a:pt x="2394374" y="0"/>
                  </a:lnTo>
                  <a:moveTo>
                    <a:pt x="2483274" y="0"/>
                  </a:moveTo>
                  <a:lnTo>
                    <a:pt x="2572174" y="0"/>
                  </a:lnTo>
                  <a:moveTo>
                    <a:pt x="2661074" y="0"/>
                  </a:moveTo>
                  <a:lnTo>
                    <a:pt x="2749974" y="0"/>
                  </a:lnTo>
                  <a:moveTo>
                    <a:pt x="2838874" y="0"/>
                  </a:moveTo>
                  <a:lnTo>
                    <a:pt x="2927774" y="0"/>
                  </a:lnTo>
                  <a:moveTo>
                    <a:pt x="3016674" y="0"/>
                  </a:moveTo>
                  <a:lnTo>
                    <a:pt x="3105574" y="0"/>
                  </a:lnTo>
                  <a:moveTo>
                    <a:pt x="3194474" y="0"/>
                  </a:moveTo>
                  <a:lnTo>
                    <a:pt x="3283374" y="0"/>
                  </a:lnTo>
                  <a:moveTo>
                    <a:pt x="3372274" y="0"/>
                  </a:moveTo>
                  <a:lnTo>
                    <a:pt x="3461174" y="0"/>
                  </a:lnTo>
                  <a:moveTo>
                    <a:pt x="3550074" y="0"/>
                  </a:moveTo>
                  <a:lnTo>
                    <a:pt x="3638974" y="0"/>
                  </a:lnTo>
                  <a:moveTo>
                    <a:pt x="3727874" y="0"/>
                  </a:moveTo>
                  <a:lnTo>
                    <a:pt x="3816774" y="0"/>
                  </a:lnTo>
                  <a:moveTo>
                    <a:pt x="3905674" y="0"/>
                  </a:moveTo>
                  <a:lnTo>
                    <a:pt x="3994574" y="0"/>
                  </a:lnTo>
                  <a:moveTo>
                    <a:pt x="4083474" y="0"/>
                  </a:moveTo>
                  <a:lnTo>
                    <a:pt x="4172374" y="0"/>
                  </a:lnTo>
                  <a:moveTo>
                    <a:pt x="4261274" y="0"/>
                  </a:moveTo>
                  <a:lnTo>
                    <a:pt x="4350174" y="0"/>
                  </a:lnTo>
                  <a:moveTo>
                    <a:pt x="4439074" y="0"/>
                  </a:moveTo>
                  <a:lnTo>
                    <a:pt x="4527974" y="0"/>
                  </a:lnTo>
                  <a:moveTo>
                    <a:pt x="4616874" y="0"/>
                  </a:moveTo>
                  <a:lnTo>
                    <a:pt x="4705774" y="0"/>
                  </a:lnTo>
                  <a:moveTo>
                    <a:pt x="4794674" y="0"/>
                  </a:moveTo>
                  <a:lnTo>
                    <a:pt x="4883574" y="0"/>
                  </a:lnTo>
                  <a:moveTo>
                    <a:pt x="4972474" y="0"/>
                  </a:moveTo>
                  <a:lnTo>
                    <a:pt x="5061374" y="0"/>
                  </a:lnTo>
                  <a:moveTo>
                    <a:pt x="5150274" y="0"/>
                  </a:moveTo>
                  <a:lnTo>
                    <a:pt x="5239174" y="0"/>
                  </a:lnTo>
                  <a:moveTo>
                    <a:pt x="5328074" y="0"/>
                  </a:moveTo>
                  <a:lnTo>
                    <a:pt x="5416974" y="0"/>
                  </a:lnTo>
                  <a:moveTo>
                    <a:pt x="5505874" y="0"/>
                  </a:moveTo>
                  <a:lnTo>
                    <a:pt x="5594774" y="0"/>
                  </a:lnTo>
                  <a:moveTo>
                    <a:pt x="5683674" y="0"/>
                  </a:moveTo>
                  <a:lnTo>
                    <a:pt x="5772574" y="0"/>
                  </a:lnTo>
                  <a:moveTo>
                    <a:pt x="5861474" y="0"/>
                  </a:moveTo>
                  <a:lnTo>
                    <a:pt x="5950374" y="0"/>
                  </a:lnTo>
                  <a:moveTo>
                    <a:pt x="6039274" y="0"/>
                  </a:moveTo>
                  <a:lnTo>
                    <a:pt x="6128174" y="0"/>
                  </a:lnTo>
                  <a:moveTo>
                    <a:pt x="6217074" y="0"/>
                  </a:moveTo>
                  <a:lnTo>
                    <a:pt x="6305974" y="0"/>
                  </a:lnTo>
                  <a:moveTo>
                    <a:pt x="6394874" y="0"/>
                  </a:moveTo>
                  <a:lnTo>
                    <a:pt x="6483774" y="0"/>
                  </a:lnTo>
                  <a:moveTo>
                    <a:pt x="6572674" y="0"/>
                  </a:moveTo>
                  <a:lnTo>
                    <a:pt x="6661574" y="0"/>
                  </a:lnTo>
                  <a:moveTo>
                    <a:pt x="6750474" y="0"/>
                  </a:moveTo>
                  <a:lnTo>
                    <a:pt x="6839374" y="0"/>
                  </a:lnTo>
                </a:path>
              </a:pathLst>
            </a:custGeom>
            <a:ln w="19050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9" name="node01.branches.source-003.road"/>
            <p:cNvSpPr/>
            <p:nvPr/>
          </p:nvSpPr>
          <p:spPr>
            <a:xfrm>
              <a:off x="4376928" y="3543300"/>
              <a:ext cx="6913372" cy="1191768"/>
            </a:xfrm>
            <a:custGeom>
              <a:avLst/>
              <a:gdLst/>
              <a:ahLst/>
              <a:cxnLst/>
              <a:rect l="l" t="t" r="r" b="b"/>
              <a:pathLst>
                <a:path w="6913372" h="1191768">
                  <a:moveTo>
                    <a:pt x="0" y="0"/>
                  </a:moveTo>
                  <a:cubicBezTo>
                    <a:pt x="754380" y="0"/>
                    <a:pt x="617220" y="1191768"/>
                    <a:pt x="1371600" y="1191768"/>
                  </a:cubicBezTo>
                  <a:lnTo>
                    <a:pt x="6913372" y="1191768"/>
                  </a:lnTo>
                </a:path>
              </a:pathLst>
            </a:custGeom>
            <a:ln w="228600">
              <a:solidFill>
                <a:srgbClr val="070154"/>
              </a:solidFill>
              <a:prstDash val="solid"/>
              <a:round/>
            </a:ln>
          </p:spPr>
        </p:sp>
        <p:sp>
          <p:nvSpPr>
            <p:cNvPr id="20" name="node01.branches.source-003.road.cap-1"/>
            <p:cNvSpPr/>
            <p:nvPr/>
          </p:nvSpPr>
          <p:spPr>
            <a:xfrm>
              <a:off x="4262628" y="3429000"/>
              <a:ext cx="228600" cy="2286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1" name="node01.branches.source-003.road.cap-2"/>
            <p:cNvSpPr/>
            <p:nvPr/>
          </p:nvSpPr>
          <p:spPr>
            <a:xfrm>
              <a:off x="11176000" y="4620768"/>
              <a:ext cx="228600" cy="2286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2" name="node01.branches.source-003.centerline"/>
            <p:cNvSpPr/>
            <p:nvPr/>
          </p:nvSpPr>
          <p:spPr>
            <a:xfrm>
              <a:off x="4376928" y="3543300"/>
              <a:ext cx="6913372" cy="1191768"/>
            </a:xfrm>
            <a:custGeom>
              <a:avLst/>
              <a:gdLst/>
              <a:ahLst/>
              <a:cxnLst/>
              <a:rect l="l" t="t" r="r" b="b"/>
              <a:pathLst>
                <a:path w="6913372" h="1191768">
                  <a:moveTo>
                    <a:pt x="0" y="0"/>
                  </a:moveTo>
                  <a:cubicBezTo>
                    <a:pt x="31011" y="0"/>
                    <a:pt x="60515" y="2014"/>
                    <a:pt x="88637" y="5876"/>
                  </a:cubicBezTo>
                  <a:moveTo>
                    <a:pt x="175414" y="24754"/>
                  </a:moveTo>
                  <a:cubicBezTo>
                    <a:pt x="204498" y="33590"/>
                    <a:pt x="231928" y="44637"/>
                    <a:pt x="257892" y="57642"/>
                  </a:cubicBezTo>
                  <a:moveTo>
                    <a:pt x="333735" y="103833"/>
                  </a:moveTo>
                  <a:cubicBezTo>
                    <a:pt x="357672" y="121182"/>
                    <a:pt x="380250" y="140347"/>
                    <a:pt x="401679" y="161049"/>
                  </a:cubicBezTo>
                  <a:moveTo>
                    <a:pt x="461851" y="226426"/>
                  </a:moveTo>
                  <a:cubicBezTo>
                    <a:pt x="480489" y="249002"/>
                    <a:pt x="498252" y="272747"/>
                    <a:pt x="515327" y="297411"/>
                  </a:cubicBezTo>
                  <a:moveTo>
                    <a:pt x="563560" y="372073"/>
                  </a:moveTo>
                  <a:cubicBezTo>
                    <a:pt x="578793" y="397182"/>
                    <a:pt x="593563" y="422912"/>
                    <a:pt x="608032" y="449043"/>
                  </a:cubicBezTo>
                  <a:moveTo>
                    <a:pt x="650131" y="527341"/>
                  </a:moveTo>
                  <a:cubicBezTo>
                    <a:pt x="663886" y="553521"/>
                    <a:pt x="677508" y="579880"/>
                    <a:pt x="691150" y="606212"/>
                  </a:cubicBezTo>
                  <a:moveTo>
                    <a:pt x="732330" y="684999"/>
                  </a:moveTo>
                  <a:cubicBezTo>
                    <a:pt x="746297" y="711317"/>
                    <a:pt x="760442" y="737398"/>
                    <a:pt x="774922" y="763029"/>
                  </a:cubicBezTo>
                  <a:moveTo>
                    <a:pt x="820239" y="839503"/>
                  </a:moveTo>
                  <a:cubicBezTo>
                    <a:pt x="836133" y="864913"/>
                    <a:pt x="852560" y="889609"/>
                    <a:pt x="869699" y="913355"/>
                  </a:cubicBezTo>
                  <a:moveTo>
                    <a:pt x="924794" y="983085"/>
                  </a:moveTo>
                  <a:cubicBezTo>
                    <a:pt x="944458" y="1005652"/>
                    <a:pt x="965100" y="1026913"/>
                    <a:pt x="986923" y="1046596"/>
                  </a:cubicBezTo>
                  <a:moveTo>
                    <a:pt x="1056974" y="1101200"/>
                  </a:moveTo>
                  <a:cubicBezTo>
                    <a:pt x="1081435" y="1117442"/>
                    <a:pt x="1107286" y="1131826"/>
                    <a:pt x="1134732" y="1144079"/>
                  </a:cubicBezTo>
                  <a:moveTo>
                    <a:pt x="1218583" y="1173293"/>
                  </a:moveTo>
                  <a:cubicBezTo>
                    <a:pt x="1246241" y="1180408"/>
                    <a:pt x="1275351" y="1185582"/>
                    <a:pt x="1306064" y="1188614"/>
                  </a:cubicBezTo>
                  <a:moveTo>
                    <a:pt x="1394863" y="1191768"/>
                  </a:moveTo>
                  <a:lnTo>
                    <a:pt x="1483763" y="1191768"/>
                  </a:lnTo>
                  <a:moveTo>
                    <a:pt x="1572663" y="1191768"/>
                  </a:moveTo>
                  <a:lnTo>
                    <a:pt x="1661563" y="1191768"/>
                  </a:lnTo>
                  <a:moveTo>
                    <a:pt x="1750463" y="1191768"/>
                  </a:moveTo>
                  <a:lnTo>
                    <a:pt x="1839363" y="1191768"/>
                  </a:lnTo>
                  <a:moveTo>
                    <a:pt x="1928263" y="1191768"/>
                  </a:moveTo>
                  <a:lnTo>
                    <a:pt x="2017163" y="1191768"/>
                  </a:lnTo>
                  <a:moveTo>
                    <a:pt x="2106063" y="1191768"/>
                  </a:moveTo>
                  <a:lnTo>
                    <a:pt x="2194963" y="1191768"/>
                  </a:lnTo>
                  <a:moveTo>
                    <a:pt x="2283863" y="1191768"/>
                  </a:moveTo>
                  <a:lnTo>
                    <a:pt x="2372763" y="1191768"/>
                  </a:lnTo>
                  <a:moveTo>
                    <a:pt x="2461663" y="1191768"/>
                  </a:moveTo>
                  <a:lnTo>
                    <a:pt x="2550563" y="1191768"/>
                  </a:lnTo>
                  <a:moveTo>
                    <a:pt x="2639463" y="1191768"/>
                  </a:moveTo>
                  <a:lnTo>
                    <a:pt x="2728363" y="1191768"/>
                  </a:lnTo>
                  <a:moveTo>
                    <a:pt x="2817263" y="1191768"/>
                  </a:moveTo>
                  <a:lnTo>
                    <a:pt x="2906163" y="1191768"/>
                  </a:lnTo>
                  <a:moveTo>
                    <a:pt x="2995063" y="1191768"/>
                  </a:moveTo>
                  <a:lnTo>
                    <a:pt x="3083963" y="1191768"/>
                  </a:lnTo>
                  <a:moveTo>
                    <a:pt x="3172863" y="1191768"/>
                  </a:moveTo>
                  <a:lnTo>
                    <a:pt x="3261763" y="1191768"/>
                  </a:lnTo>
                  <a:moveTo>
                    <a:pt x="3350663" y="1191768"/>
                  </a:moveTo>
                  <a:lnTo>
                    <a:pt x="3439563" y="1191768"/>
                  </a:lnTo>
                  <a:moveTo>
                    <a:pt x="3528463" y="1191768"/>
                  </a:moveTo>
                  <a:lnTo>
                    <a:pt x="3617363" y="1191768"/>
                  </a:lnTo>
                  <a:moveTo>
                    <a:pt x="3706263" y="1191768"/>
                  </a:moveTo>
                  <a:lnTo>
                    <a:pt x="3795163" y="1191768"/>
                  </a:lnTo>
                  <a:moveTo>
                    <a:pt x="3884063" y="1191768"/>
                  </a:moveTo>
                  <a:lnTo>
                    <a:pt x="3972963" y="1191768"/>
                  </a:lnTo>
                  <a:moveTo>
                    <a:pt x="4061863" y="1191768"/>
                  </a:moveTo>
                  <a:lnTo>
                    <a:pt x="4150763" y="1191768"/>
                  </a:lnTo>
                  <a:moveTo>
                    <a:pt x="4239663" y="1191768"/>
                  </a:moveTo>
                  <a:lnTo>
                    <a:pt x="4328563" y="1191768"/>
                  </a:lnTo>
                  <a:moveTo>
                    <a:pt x="4417463" y="1191768"/>
                  </a:moveTo>
                  <a:lnTo>
                    <a:pt x="4506363" y="1191768"/>
                  </a:lnTo>
                  <a:moveTo>
                    <a:pt x="4595263" y="1191768"/>
                  </a:moveTo>
                  <a:lnTo>
                    <a:pt x="4684163" y="1191768"/>
                  </a:lnTo>
                  <a:moveTo>
                    <a:pt x="4773063" y="1191768"/>
                  </a:moveTo>
                  <a:lnTo>
                    <a:pt x="4861963" y="1191768"/>
                  </a:lnTo>
                  <a:moveTo>
                    <a:pt x="4950863" y="1191768"/>
                  </a:moveTo>
                  <a:lnTo>
                    <a:pt x="5039763" y="1191768"/>
                  </a:lnTo>
                  <a:moveTo>
                    <a:pt x="5128663" y="1191768"/>
                  </a:moveTo>
                  <a:lnTo>
                    <a:pt x="5217563" y="1191768"/>
                  </a:lnTo>
                  <a:moveTo>
                    <a:pt x="5306463" y="1191768"/>
                  </a:moveTo>
                  <a:lnTo>
                    <a:pt x="5395363" y="1191768"/>
                  </a:lnTo>
                  <a:moveTo>
                    <a:pt x="5484263" y="1191768"/>
                  </a:moveTo>
                  <a:lnTo>
                    <a:pt x="5573163" y="1191768"/>
                  </a:lnTo>
                  <a:moveTo>
                    <a:pt x="5662063" y="1191768"/>
                  </a:moveTo>
                  <a:lnTo>
                    <a:pt x="5750963" y="1191768"/>
                  </a:lnTo>
                  <a:moveTo>
                    <a:pt x="5839863" y="1191768"/>
                  </a:moveTo>
                  <a:lnTo>
                    <a:pt x="5928763" y="1191768"/>
                  </a:lnTo>
                  <a:moveTo>
                    <a:pt x="6017663" y="1191768"/>
                  </a:moveTo>
                  <a:lnTo>
                    <a:pt x="6106563" y="1191768"/>
                  </a:lnTo>
                  <a:moveTo>
                    <a:pt x="6195463" y="1191768"/>
                  </a:moveTo>
                  <a:lnTo>
                    <a:pt x="6284363" y="1191768"/>
                  </a:lnTo>
                  <a:moveTo>
                    <a:pt x="6373263" y="1191768"/>
                  </a:moveTo>
                  <a:lnTo>
                    <a:pt x="6462163" y="1191768"/>
                  </a:lnTo>
                  <a:moveTo>
                    <a:pt x="6551063" y="1191768"/>
                  </a:moveTo>
                  <a:lnTo>
                    <a:pt x="6639963" y="1191768"/>
                  </a:lnTo>
                  <a:moveTo>
                    <a:pt x="6728863" y="1191768"/>
                  </a:moveTo>
                  <a:lnTo>
                    <a:pt x="6817763" y="1191768"/>
                  </a:lnTo>
                  <a:moveTo>
                    <a:pt x="6906663" y="1191768"/>
                  </a:moveTo>
                  <a:lnTo>
                    <a:pt x="6913372" y="1191768"/>
                  </a:lnTo>
                </a:path>
              </a:pathLst>
            </a:custGeom>
            <a:ln w="19050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3" name="node01.trunk.source-001.pin"/>
            <p:cNvSpPr/>
            <p:nvPr/>
          </p:nvSpPr>
          <p:spPr>
            <a:xfrm>
              <a:off x="1760982" y="340042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70154"/>
              </a:solidFill>
              <a:prstDash val="solid"/>
            </a:ln>
          </p:spPr>
        </p:sp>
        <p:sp>
          <p:nvSpPr>
            <p:cNvPr id="24" name="node01.trunk.source-001.number"/>
            <p:cNvSpPr/>
            <p:nvPr/>
          </p:nvSpPr>
          <p:spPr>
            <a:xfrm>
              <a:off x="1751457" y="3390900"/>
              <a:ext cx="304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000"/>
                </a:lnSpc>
                <a:buNone/>
              </a:pPr>
              <a:r>
                <a:rPr lang="en-US" sz="10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1</a:t>
              </a:r>
              <a:endParaRPr lang="en-US" sz="10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5" name="node01.trunk.source-001.label.part-1"/>
            <p:cNvSpPr/>
            <p:nvPr/>
          </p:nvSpPr>
          <p:spPr>
            <a:xfrm>
              <a:off x="1181100" y="2547620"/>
              <a:ext cx="1445514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Q4 2026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6" name="node01.trunk.source-001.label.part-2"/>
            <p:cNvSpPr/>
            <p:nvPr/>
          </p:nvSpPr>
          <p:spPr>
            <a:xfrm>
              <a:off x="1181100" y="2725420"/>
              <a:ext cx="144551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44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Data foundation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27" name="node01.trunk.source-001.label.part-3"/>
            <p:cNvSpPr/>
            <p:nvPr/>
          </p:nvSpPr>
          <p:spPr>
            <a:xfrm>
              <a:off x="1181100" y="2933700"/>
              <a:ext cx="1445514" cy="4191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5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One master patient index.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8" name="node01.trunk.source-002.pin"/>
            <p:cNvSpPr/>
            <p:nvPr/>
          </p:nvSpPr>
          <p:spPr>
            <a:xfrm>
              <a:off x="3308096" y="340042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70154"/>
              </a:solidFill>
              <a:prstDash val="solid"/>
            </a:ln>
          </p:spPr>
        </p:sp>
        <p:sp>
          <p:nvSpPr>
            <p:cNvPr id="29" name="node01.trunk.source-002.number"/>
            <p:cNvSpPr/>
            <p:nvPr/>
          </p:nvSpPr>
          <p:spPr>
            <a:xfrm>
              <a:off x="3298571" y="3390900"/>
              <a:ext cx="304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000"/>
                </a:lnSpc>
                <a:buNone/>
              </a:pPr>
              <a:r>
                <a:rPr lang="en-US" sz="10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2</a:t>
              </a:r>
              <a:endParaRPr lang="en-US" sz="10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0" name="node01.trunk.source-002.label.part-1"/>
            <p:cNvSpPr/>
            <p:nvPr/>
          </p:nvSpPr>
          <p:spPr>
            <a:xfrm>
              <a:off x="2728214" y="3771900"/>
              <a:ext cx="1445514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Q1 2027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1" name="node01.trunk.source-002.label.part-2"/>
            <p:cNvSpPr/>
            <p:nvPr/>
          </p:nvSpPr>
          <p:spPr>
            <a:xfrm>
              <a:off x="2728214" y="3949700"/>
              <a:ext cx="144551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44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Single sign-in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32" name="node01.trunk.source-002.label.part-3"/>
            <p:cNvSpPr/>
            <p:nvPr/>
          </p:nvSpPr>
          <p:spPr>
            <a:xfrm>
              <a:off x="2728214" y="4157980"/>
              <a:ext cx="144551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5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One ID at every site.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3" name="node01.fork.split"/>
            <p:cNvSpPr/>
            <p:nvPr/>
          </p:nvSpPr>
          <p:spPr>
            <a:xfrm>
              <a:off x="4237228" y="3403600"/>
              <a:ext cx="279400" cy="279400"/>
            </a:xfrm>
            <a:prstGeom prst="rect">
              <a:avLst/>
            </a:prstGeom>
            <a:solidFill>
              <a:srgbClr val="070154"/>
            </a:solidFill>
            <a:ln w="38100">
              <a:solidFill>
                <a:srgbClr val="070154"/>
              </a:solidFill>
              <a:prstDash val="solid"/>
            </a:ln>
          </p:spPr>
        </p:sp>
        <p:sp>
          <p:nvSpPr>
            <p:cNvPr id="34" name="node01.fork.split.inset"/>
            <p:cNvSpPr/>
            <p:nvPr/>
          </p:nvSpPr>
          <p:spPr>
            <a:xfrm>
              <a:off x="4256278" y="3422650"/>
              <a:ext cx="241300" cy="241300"/>
            </a:xfrm>
            <a:prstGeom prst="rect">
              <a:avLst/>
            </a:prstGeom>
            <a:solidFill>
              <a:srgbClr val="070154"/>
            </a:solidFill>
            <a:ln w="38100">
              <a:solidFill>
                <a:srgbClr val="FFFFFF"/>
              </a:solidFill>
              <a:prstDash val="solid"/>
            </a:ln>
          </p:spPr>
        </p:sp>
        <p:sp>
          <p:nvSpPr>
            <p:cNvPr id="35" name="node01.fork.label.part-1"/>
            <p:cNvSpPr/>
            <p:nvPr/>
          </p:nvSpPr>
          <p:spPr>
            <a:xfrm>
              <a:off x="3348228" y="1600200"/>
              <a:ext cx="2057400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RUN IN PARALLEL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6" name="node01.fork.label.part-2"/>
            <p:cNvSpPr/>
            <p:nvPr/>
          </p:nvSpPr>
          <p:spPr>
            <a:xfrm>
              <a:off x="3348228" y="1778000"/>
              <a:ext cx="20574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68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Foundation complete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37" name="node01.fork.label.part-3"/>
            <p:cNvSpPr/>
            <p:nvPr/>
          </p:nvSpPr>
          <p:spPr>
            <a:xfrm>
              <a:off x="3348228" y="2016760"/>
              <a:ext cx="2057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Three tracks start together.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8" name="node01.branches.source-001.title.part-1"/>
            <p:cNvSpPr/>
            <p:nvPr/>
          </p:nvSpPr>
          <p:spPr>
            <a:xfrm>
              <a:off x="6388675" y="1678178"/>
              <a:ext cx="4693853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7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Patient access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39" name="node01.branches.source-001.tag"/>
            <p:cNvSpPr/>
            <p:nvPr/>
          </p:nvSpPr>
          <p:spPr>
            <a:xfrm>
              <a:off x="5748528" y="1761046"/>
              <a:ext cx="551247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TRACK A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0" name="node01.branches.source-001.milestones.source-001.pin"/>
            <p:cNvSpPr/>
            <p:nvPr/>
          </p:nvSpPr>
          <p:spPr>
            <a:xfrm>
              <a:off x="7105396" y="2001393"/>
              <a:ext cx="285750" cy="2857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70154"/>
              </a:solidFill>
              <a:prstDash val="solid"/>
            </a:ln>
          </p:spPr>
        </p:sp>
        <p:sp>
          <p:nvSpPr>
            <p:cNvPr id="41" name="node01.branches.source-001.milestones.source-001.number"/>
            <p:cNvSpPr/>
            <p:nvPr/>
          </p:nvSpPr>
          <p:spPr>
            <a:xfrm>
              <a:off x="7095871" y="1991868"/>
              <a:ext cx="304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000"/>
                </a:lnSpc>
                <a:buNone/>
              </a:pPr>
              <a:r>
                <a:rPr lang="en-US" sz="10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A1</a:t>
              </a:r>
              <a:endParaRPr lang="en-US" sz="10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2" name="node01.branches.source-001.milestones.source-001.label.part-1"/>
            <p:cNvSpPr/>
            <p:nvPr/>
          </p:nvSpPr>
          <p:spPr>
            <a:xfrm>
              <a:off x="5951728" y="2372868"/>
              <a:ext cx="2593086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Q2 2027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3" name="node01.branches.source-001.milestones.source-001.label.part-2"/>
            <p:cNvSpPr/>
            <p:nvPr/>
          </p:nvSpPr>
          <p:spPr>
            <a:xfrm>
              <a:off x="5951728" y="2550668"/>
              <a:ext cx="2593086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44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Self-scheduling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44" name="node01.branches.source-001.milestones.source-001.label.part-3"/>
            <p:cNvSpPr/>
            <p:nvPr/>
          </p:nvSpPr>
          <p:spPr>
            <a:xfrm>
              <a:off x="5951728" y="2758948"/>
              <a:ext cx="2593086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5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Primary care first.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5" name="node01.branches.source-001.milestones.source-002.pin"/>
            <p:cNvSpPr/>
            <p:nvPr/>
          </p:nvSpPr>
          <p:spPr>
            <a:xfrm>
              <a:off x="9800082" y="2001393"/>
              <a:ext cx="285750" cy="2857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70154"/>
              </a:solidFill>
              <a:prstDash val="solid"/>
            </a:ln>
          </p:spPr>
        </p:sp>
        <p:sp>
          <p:nvSpPr>
            <p:cNvPr id="46" name="node01.branches.source-001.milestones.source-002.number"/>
            <p:cNvSpPr/>
            <p:nvPr/>
          </p:nvSpPr>
          <p:spPr>
            <a:xfrm>
              <a:off x="9790557" y="1991868"/>
              <a:ext cx="304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000"/>
                </a:lnSpc>
                <a:buNone/>
              </a:pPr>
              <a:r>
                <a:rPr lang="en-US" sz="10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A2</a:t>
              </a:r>
              <a:endParaRPr lang="en-US" sz="10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7" name="node01.branches.source-001.milestones.source-002.label.part-1"/>
            <p:cNvSpPr/>
            <p:nvPr/>
          </p:nvSpPr>
          <p:spPr>
            <a:xfrm>
              <a:off x="8646414" y="2372868"/>
              <a:ext cx="2593086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Q3 2027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8" name="node01.branches.source-001.milestones.source-002.label.part-2"/>
            <p:cNvSpPr/>
            <p:nvPr/>
          </p:nvSpPr>
          <p:spPr>
            <a:xfrm>
              <a:off x="8646414" y="2550668"/>
              <a:ext cx="2593086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44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Digital intake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49" name="node01.branches.source-001.milestones.source-002.label.part-3"/>
            <p:cNvSpPr/>
            <p:nvPr/>
          </p:nvSpPr>
          <p:spPr>
            <a:xfrm>
              <a:off x="8646414" y="2758948"/>
              <a:ext cx="2593086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5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Forms before arrival.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0" name="node01.branches.source-002.title.part-1"/>
            <p:cNvSpPr/>
            <p:nvPr/>
          </p:nvSpPr>
          <p:spPr>
            <a:xfrm>
              <a:off x="6388675" y="2973578"/>
              <a:ext cx="4693853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7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Revenue cycle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51" name="node01.branches.source-002.tag"/>
            <p:cNvSpPr/>
            <p:nvPr/>
          </p:nvSpPr>
          <p:spPr>
            <a:xfrm>
              <a:off x="5748528" y="3056446"/>
              <a:ext cx="551247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TRACK B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52" name="node01.branches.source-002.milestones.source-001.pin"/>
            <p:cNvSpPr/>
            <p:nvPr/>
          </p:nvSpPr>
          <p:spPr>
            <a:xfrm>
              <a:off x="7105396" y="3296793"/>
              <a:ext cx="285750" cy="2857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70154"/>
              </a:solidFill>
              <a:prstDash val="solid"/>
            </a:ln>
          </p:spPr>
        </p:sp>
        <p:sp>
          <p:nvSpPr>
            <p:cNvPr id="53" name="node01.branches.source-002.milestones.source-001.number"/>
            <p:cNvSpPr/>
            <p:nvPr/>
          </p:nvSpPr>
          <p:spPr>
            <a:xfrm>
              <a:off x="7095871" y="3287268"/>
              <a:ext cx="304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000"/>
                </a:lnSpc>
                <a:buNone/>
              </a:pPr>
              <a:r>
                <a:rPr lang="en-US" sz="10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B1</a:t>
              </a:r>
              <a:endParaRPr lang="en-US" sz="10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54" name="node01.branches.source-002.milestones.source-001.label.part-1"/>
            <p:cNvSpPr/>
            <p:nvPr/>
          </p:nvSpPr>
          <p:spPr>
            <a:xfrm>
              <a:off x="5951728" y="3668268"/>
              <a:ext cx="2593086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Q2 2027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55" name="node01.branches.source-002.milestones.source-001.label.part-2"/>
            <p:cNvSpPr/>
            <p:nvPr/>
          </p:nvSpPr>
          <p:spPr>
            <a:xfrm>
              <a:off x="5951728" y="3846068"/>
              <a:ext cx="2593086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44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Price estimates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56" name="node01.branches.source-002.milestones.source-001.label.part-3"/>
            <p:cNvSpPr/>
            <p:nvPr/>
          </p:nvSpPr>
          <p:spPr>
            <a:xfrm>
              <a:off x="5951728" y="4054348"/>
              <a:ext cx="2593086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5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Shown before booking.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7" name="node01.branches.source-002.milestones.source-002.pin"/>
            <p:cNvSpPr/>
            <p:nvPr/>
          </p:nvSpPr>
          <p:spPr>
            <a:xfrm>
              <a:off x="9800082" y="3296793"/>
              <a:ext cx="285750" cy="2857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70154"/>
              </a:solidFill>
              <a:prstDash val="solid"/>
            </a:ln>
          </p:spPr>
        </p:sp>
        <p:sp>
          <p:nvSpPr>
            <p:cNvPr id="58" name="node01.branches.source-002.milestones.source-002.number"/>
            <p:cNvSpPr/>
            <p:nvPr/>
          </p:nvSpPr>
          <p:spPr>
            <a:xfrm>
              <a:off x="9790557" y="3287268"/>
              <a:ext cx="304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000"/>
                </a:lnSpc>
                <a:buNone/>
              </a:pPr>
              <a:r>
                <a:rPr lang="en-US" sz="10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B2</a:t>
              </a:r>
              <a:endParaRPr lang="en-US" sz="10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59" name="node01.branches.source-002.milestones.source-002.label.part-1"/>
            <p:cNvSpPr/>
            <p:nvPr/>
          </p:nvSpPr>
          <p:spPr>
            <a:xfrm>
              <a:off x="8646414" y="3668268"/>
              <a:ext cx="2593086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Q4 2027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60" name="node01.branches.source-002.milestones.source-002.label.part-2"/>
            <p:cNvSpPr/>
            <p:nvPr/>
          </p:nvSpPr>
          <p:spPr>
            <a:xfrm>
              <a:off x="8646414" y="3846068"/>
              <a:ext cx="2593086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44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Online payment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61" name="node01.branches.source-002.milestones.source-002.label.part-3"/>
            <p:cNvSpPr/>
            <p:nvPr/>
          </p:nvSpPr>
          <p:spPr>
            <a:xfrm>
              <a:off x="8646414" y="4054348"/>
              <a:ext cx="2593086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5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Pay at the visit.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2" name="node01.branches.source-003.title.part-1"/>
            <p:cNvSpPr/>
            <p:nvPr/>
          </p:nvSpPr>
          <p:spPr>
            <a:xfrm>
              <a:off x="6388675" y="4268978"/>
              <a:ext cx="4693853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7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Clinical operations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63" name="node01.branches.source-003.tag"/>
            <p:cNvSpPr/>
            <p:nvPr/>
          </p:nvSpPr>
          <p:spPr>
            <a:xfrm>
              <a:off x="5748528" y="4351846"/>
              <a:ext cx="551247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TRACK C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64" name="node01.branches.source-003.milestones.source-001.pin"/>
            <p:cNvSpPr/>
            <p:nvPr/>
          </p:nvSpPr>
          <p:spPr>
            <a:xfrm>
              <a:off x="7105396" y="4592193"/>
              <a:ext cx="285750" cy="2857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70154"/>
              </a:solidFill>
              <a:prstDash val="solid"/>
            </a:ln>
          </p:spPr>
        </p:sp>
        <p:sp>
          <p:nvSpPr>
            <p:cNvPr id="65" name="node01.branches.source-003.milestones.source-001.number"/>
            <p:cNvSpPr/>
            <p:nvPr/>
          </p:nvSpPr>
          <p:spPr>
            <a:xfrm>
              <a:off x="7095871" y="4582668"/>
              <a:ext cx="304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000"/>
                </a:lnSpc>
                <a:buNone/>
              </a:pPr>
              <a:r>
                <a:rPr lang="en-US" sz="10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C1</a:t>
              </a:r>
              <a:endParaRPr lang="en-US" sz="10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66" name="node01.branches.source-003.milestones.source-001.label.part-1"/>
            <p:cNvSpPr/>
            <p:nvPr/>
          </p:nvSpPr>
          <p:spPr>
            <a:xfrm>
              <a:off x="5951728" y="4963668"/>
              <a:ext cx="2593086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Q3 2027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67" name="node01.branches.source-003.milestones.source-001.label.part-2"/>
            <p:cNvSpPr/>
            <p:nvPr/>
          </p:nvSpPr>
          <p:spPr>
            <a:xfrm>
              <a:off x="5951728" y="5141468"/>
              <a:ext cx="2593086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44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Referral tracking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68" name="node01.branches.source-003.milestones.source-001.label.part-3"/>
            <p:cNvSpPr/>
            <p:nvPr/>
          </p:nvSpPr>
          <p:spPr>
            <a:xfrm>
              <a:off x="5951728" y="5349748"/>
              <a:ext cx="2593086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5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One status view.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9" name="node01.branches.source-003.milestones.source-002.pin"/>
            <p:cNvSpPr/>
            <p:nvPr/>
          </p:nvSpPr>
          <p:spPr>
            <a:xfrm>
              <a:off x="9800082" y="4592193"/>
              <a:ext cx="285750" cy="2857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70154"/>
              </a:solidFill>
              <a:prstDash val="solid"/>
            </a:ln>
          </p:spPr>
        </p:sp>
        <p:sp>
          <p:nvSpPr>
            <p:cNvPr id="70" name="node01.branches.source-003.milestones.source-002.number"/>
            <p:cNvSpPr/>
            <p:nvPr/>
          </p:nvSpPr>
          <p:spPr>
            <a:xfrm>
              <a:off x="9790557" y="4582668"/>
              <a:ext cx="304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000"/>
                </a:lnSpc>
                <a:buNone/>
              </a:pPr>
              <a:r>
                <a:rPr lang="en-US" sz="10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C2</a:t>
              </a:r>
              <a:endParaRPr lang="en-US" sz="10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71" name="node01.branches.source-003.milestones.source-002.label.part-1"/>
            <p:cNvSpPr/>
            <p:nvPr/>
          </p:nvSpPr>
          <p:spPr>
            <a:xfrm>
              <a:off x="8646414" y="4963668"/>
              <a:ext cx="2593086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Q1 2028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72" name="node01.branches.source-003.milestones.source-002.label.part-2"/>
            <p:cNvSpPr/>
            <p:nvPr/>
          </p:nvSpPr>
          <p:spPr>
            <a:xfrm>
              <a:off x="8646414" y="5141468"/>
              <a:ext cx="2593086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44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Care plans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73" name="node01.branches.source-003.milestones.source-002.label.part-3"/>
            <p:cNvSpPr/>
            <p:nvPr/>
          </p:nvSpPr>
          <p:spPr>
            <a:xfrm>
              <a:off x="8646414" y="5349748"/>
              <a:ext cx="2593086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5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Shared in the app.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4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ROADMAP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You must choose: buy, build or partner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Northfield Health System digital front door program.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7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74" name="node01"/>
          <p:cNvGrpSpPr/>
          <p:nvPr/>
        </p:nvGrpSpPr>
        <p:grpSpPr>
          <a:xfrm>
            <a:off x="723900" y="1600200"/>
            <a:ext cx="10744200" cy="3978148"/>
            <a:chOff x="723900" y="1600200"/>
            <a:chExt cx="10744200" cy="3978148"/>
          </a:xfrm>
        </p:grpSpPr>
        <p:sp>
          <p:nvSpPr>
            <p:cNvPr id="7" name="node01.trunk.road"/>
            <p:cNvSpPr/>
            <p:nvPr/>
          </p:nvSpPr>
          <p:spPr>
            <a:xfrm>
              <a:off x="901700" y="3543300"/>
              <a:ext cx="3475228" cy="0"/>
            </a:xfrm>
            <a:custGeom>
              <a:avLst/>
              <a:gdLst/>
              <a:ahLst/>
              <a:cxnLst/>
              <a:rect l="l" t="t" r="r" b="b"/>
              <a:pathLst>
                <a:path w="3475228">
                  <a:moveTo>
                    <a:pt x="0" y="0"/>
                  </a:moveTo>
                  <a:lnTo>
                    <a:pt x="3475228" y="0"/>
                  </a:lnTo>
                </a:path>
              </a:pathLst>
            </a:custGeom>
            <a:ln w="228600">
              <a:solidFill>
                <a:srgbClr val="070154"/>
              </a:solidFill>
              <a:prstDash val="solid"/>
              <a:round/>
            </a:ln>
          </p:spPr>
        </p:sp>
        <p:sp>
          <p:nvSpPr>
            <p:cNvPr id="8" name="node01.trunk.road.cap-1"/>
            <p:cNvSpPr/>
            <p:nvPr/>
          </p:nvSpPr>
          <p:spPr>
            <a:xfrm>
              <a:off x="787400" y="3429000"/>
              <a:ext cx="228600" cy="2286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9" name="node01.trunk.road.cap-2"/>
            <p:cNvSpPr/>
            <p:nvPr/>
          </p:nvSpPr>
          <p:spPr>
            <a:xfrm>
              <a:off x="4262628" y="3429000"/>
              <a:ext cx="228600" cy="2286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0" name="node01.trunk.centerline"/>
            <p:cNvSpPr/>
            <p:nvPr/>
          </p:nvSpPr>
          <p:spPr>
            <a:xfrm>
              <a:off x="901700" y="3543300"/>
              <a:ext cx="3475228" cy="0"/>
            </a:xfrm>
            <a:custGeom>
              <a:avLst/>
              <a:gdLst/>
              <a:ahLst/>
              <a:cxnLst/>
              <a:rect l="l" t="t" r="r" b="b"/>
              <a:pathLst>
                <a:path w="3475228">
                  <a:moveTo>
                    <a:pt x="0" y="0"/>
                  </a:moveTo>
                  <a:lnTo>
                    <a:pt x="88900" y="0"/>
                  </a:lnTo>
                  <a:moveTo>
                    <a:pt x="177800" y="0"/>
                  </a:moveTo>
                  <a:lnTo>
                    <a:pt x="266700" y="0"/>
                  </a:lnTo>
                  <a:moveTo>
                    <a:pt x="355600" y="0"/>
                  </a:moveTo>
                  <a:lnTo>
                    <a:pt x="444500" y="0"/>
                  </a:lnTo>
                  <a:moveTo>
                    <a:pt x="533400" y="0"/>
                  </a:moveTo>
                  <a:lnTo>
                    <a:pt x="622300" y="0"/>
                  </a:lnTo>
                  <a:moveTo>
                    <a:pt x="711200" y="0"/>
                  </a:moveTo>
                  <a:lnTo>
                    <a:pt x="800100" y="0"/>
                  </a:lnTo>
                  <a:moveTo>
                    <a:pt x="889000" y="0"/>
                  </a:moveTo>
                  <a:lnTo>
                    <a:pt x="977900" y="0"/>
                  </a:lnTo>
                  <a:moveTo>
                    <a:pt x="1066800" y="0"/>
                  </a:moveTo>
                  <a:lnTo>
                    <a:pt x="1155700" y="0"/>
                  </a:lnTo>
                  <a:moveTo>
                    <a:pt x="1244600" y="0"/>
                  </a:moveTo>
                  <a:lnTo>
                    <a:pt x="1333500" y="0"/>
                  </a:lnTo>
                  <a:moveTo>
                    <a:pt x="1422400" y="0"/>
                  </a:moveTo>
                  <a:lnTo>
                    <a:pt x="1511300" y="0"/>
                  </a:lnTo>
                  <a:moveTo>
                    <a:pt x="1600200" y="0"/>
                  </a:moveTo>
                  <a:lnTo>
                    <a:pt x="1689100" y="0"/>
                  </a:lnTo>
                  <a:moveTo>
                    <a:pt x="1778000" y="0"/>
                  </a:moveTo>
                  <a:lnTo>
                    <a:pt x="1866900" y="0"/>
                  </a:lnTo>
                  <a:moveTo>
                    <a:pt x="1955800" y="0"/>
                  </a:moveTo>
                  <a:lnTo>
                    <a:pt x="2044700" y="0"/>
                  </a:lnTo>
                  <a:moveTo>
                    <a:pt x="2133600" y="0"/>
                  </a:moveTo>
                  <a:lnTo>
                    <a:pt x="2222500" y="0"/>
                  </a:lnTo>
                  <a:moveTo>
                    <a:pt x="2311400" y="0"/>
                  </a:moveTo>
                  <a:lnTo>
                    <a:pt x="2400300" y="0"/>
                  </a:lnTo>
                  <a:moveTo>
                    <a:pt x="2489200" y="0"/>
                  </a:moveTo>
                  <a:lnTo>
                    <a:pt x="2578100" y="0"/>
                  </a:lnTo>
                  <a:moveTo>
                    <a:pt x="2667000" y="0"/>
                  </a:moveTo>
                  <a:lnTo>
                    <a:pt x="2755900" y="0"/>
                  </a:lnTo>
                  <a:moveTo>
                    <a:pt x="2844800" y="0"/>
                  </a:moveTo>
                  <a:lnTo>
                    <a:pt x="2933700" y="0"/>
                  </a:lnTo>
                  <a:moveTo>
                    <a:pt x="3022600" y="0"/>
                  </a:moveTo>
                  <a:lnTo>
                    <a:pt x="3111500" y="0"/>
                  </a:lnTo>
                  <a:moveTo>
                    <a:pt x="3200400" y="0"/>
                  </a:moveTo>
                  <a:lnTo>
                    <a:pt x="3289300" y="0"/>
                  </a:lnTo>
                  <a:moveTo>
                    <a:pt x="3378200" y="0"/>
                  </a:moveTo>
                  <a:lnTo>
                    <a:pt x="3467100" y="0"/>
                  </a:lnTo>
                </a:path>
              </a:pathLst>
            </a:custGeom>
            <a:ln w="19050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1" name="node01.branches.source-001.road"/>
            <p:cNvSpPr/>
            <p:nvPr/>
          </p:nvSpPr>
          <p:spPr>
            <a:xfrm>
              <a:off x="4376928" y="2144268"/>
              <a:ext cx="6913372" cy="1399032"/>
            </a:xfrm>
            <a:custGeom>
              <a:avLst/>
              <a:gdLst/>
              <a:ahLst/>
              <a:cxnLst/>
              <a:rect l="l" t="t" r="r" b="b"/>
              <a:pathLst>
                <a:path w="6913372" h="1399032">
                  <a:moveTo>
                    <a:pt x="0" y="1399032"/>
                  </a:moveTo>
                  <a:cubicBezTo>
                    <a:pt x="754380" y="1399032"/>
                    <a:pt x="617220" y="0"/>
                    <a:pt x="1371600" y="0"/>
                  </a:cubicBezTo>
                  <a:lnTo>
                    <a:pt x="6913372" y="0"/>
                  </a:lnTo>
                </a:path>
              </a:pathLst>
            </a:custGeom>
            <a:ln w="228600">
              <a:solidFill>
                <a:srgbClr val="50658E"/>
              </a:solidFill>
              <a:prstDash val="solid"/>
              <a:round/>
            </a:ln>
          </p:spPr>
        </p:sp>
        <p:sp>
          <p:nvSpPr>
            <p:cNvPr id="12" name="node01.branches.source-001.road.cap-1"/>
            <p:cNvSpPr/>
            <p:nvPr/>
          </p:nvSpPr>
          <p:spPr>
            <a:xfrm>
              <a:off x="4262628" y="3429000"/>
              <a:ext cx="228600" cy="228600"/>
            </a:xfrm>
            <a:prstGeom prst="ellipse">
              <a:avLst/>
            </a:prstGeom>
            <a:solidFill>
              <a:srgbClr val="50658E"/>
            </a:solidFill>
            <a:ln>
              <a:noFill/>
            </a:ln>
          </p:spPr>
        </p:sp>
        <p:sp>
          <p:nvSpPr>
            <p:cNvPr id="13" name="node01.branches.source-001.road.cap-2"/>
            <p:cNvSpPr/>
            <p:nvPr/>
          </p:nvSpPr>
          <p:spPr>
            <a:xfrm>
              <a:off x="11176000" y="2029968"/>
              <a:ext cx="228600" cy="228600"/>
            </a:xfrm>
            <a:prstGeom prst="ellipse">
              <a:avLst/>
            </a:prstGeom>
            <a:solidFill>
              <a:srgbClr val="50658E"/>
            </a:solidFill>
            <a:ln>
              <a:noFill/>
            </a:ln>
          </p:spPr>
        </p:sp>
        <p:sp>
          <p:nvSpPr>
            <p:cNvPr id="14" name="node01.branches.source-001.centerline"/>
            <p:cNvSpPr/>
            <p:nvPr/>
          </p:nvSpPr>
          <p:spPr>
            <a:xfrm>
              <a:off x="4376928" y="2144268"/>
              <a:ext cx="6913372" cy="1399032"/>
            </a:xfrm>
            <a:custGeom>
              <a:avLst/>
              <a:gdLst/>
              <a:ahLst/>
              <a:cxnLst/>
              <a:rect l="l" t="t" r="r" b="b"/>
              <a:pathLst>
                <a:path w="6913372" h="1399032">
                  <a:moveTo>
                    <a:pt x="0" y="1399032"/>
                  </a:moveTo>
                  <a:cubicBezTo>
                    <a:pt x="12952" y="1399032"/>
                    <a:pt x="25640" y="1398620"/>
                    <a:pt x="38075" y="1397809"/>
                  </a:cubicBezTo>
                  <a:moveTo>
                    <a:pt x="101052" y="1389975"/>
                  </a:moveTo>
                  <a:cubicBezTo>
                    <a:pt x="113716" y="1387612"/>
                    <a:pt x="126095" y="1384801"/>
                    <a:pt x="138201" y="1381561"/>
                  </a:cubicBezTo>
                  <a:moveTo>
                    <a:pt x="198281" y="1361148"/>
                  </a:moveTo>
                  <a:cubicBezTo>
                    <a:pt x="210077" y="1356243"/>
                    <a:pt x="221593" y="1350899"/>
                    <a:pt x="232842" y="1345136"/>
                  </a:cubicBezTo>
                  <a:moveTo>
                    <a:pt x="287354" y="1312650"/>
                  </a:moveTo>
                  <a:cubicBezTo>
                    <a:pt x="297817" y="1305496"/>
                    <a:pt x="308033" y="1297955"/>
                    <a:pt x="318016" y="1290049"/>
                  </a:cubicBezTo>
                  <a:moveTo>
                    <a:pt x="365595" y="1248039"/>
                  </a:moveTo>
                  <a:cubicBezTo>
                    <a:pt x="374617" y="1239216"/>
                    <a:pt x="383441" y="1230082"/>
                    <a:pt x="392079" y="1220656"/>
                  </a:cubicBezTo>
                  <a:moveTo>
                    <a:pt x="433033" y="1172149"/>
                  </a:moveTo>
                  <a:cubicBezTo>
                    <a:pt x="440792" y="1162215"/>
                    <a:pt x="448399" y="1152043"/>
                    <a:pt x="455865" y="1141650"/>
                  </a:cubicBezTo>
                  <a:moveTo>
                    <a:pt x="491383" y="1089023"/>
                  </a:moveTo>
                  <a:cubicBezTo>
                    <a:pt x="498151" y="1078380"/>
                    <a:pt x="504808" y="1067561"/>
                    <a:pt x="511361" y="1056582"/>
                  </a:cubicBezTo>
                  <a:moveTo>
                    <a:pt x="542790" y="1001410"/>
                  </a:moveTo>
                  <a:cubicBezTo>
                    <a:pt x="548834" y="990320"/>
                    <a:pt x="554799" y="979105"/>
                    <a:pt x="560693" y="967779"/>
                  </a:cubicBezTo>
                  <a:moveTo>
                    <a:pt x="589246" y="911063"/>
                  </a:moveTo>
                  <a:cubicBezTo>
                    <a:pt x="594797" y="899694"/>
                    <a:pt x="600295" y="888243"/>
                    <a:pt x="605750" y="876723"/>
                  </a:cubicBezTo>
                  <a:moveTo>
                    <a:pt x="632468" y="819118"/>
                  </a:moveTo>
                  <a:cubicBezTo>
                    <a:pt x="637722" y="807584"/>
                    <a:pt x="642947" y="796006"/>
                    <a:pt x="648152" y="784396"/>
                  </a:cubicBezTo>
                  <a:moveTo>
                    <a:pt x="673946" y="726371"/>
                  </a:moveTo>
                  <a:cubicBezTo>
                    <a:pt x="679078" y="714758"/>
                    <a:pt x="684203" y="703135"/>
                    <a:pt x="689330" y="691515"/>
                  </a:cubicBezTo>
                  <a:moveTo>
                    <a:pt x="715040" y="633452"/>
                  </a:moveTo>
                  <a:cubicBezTo>
                    <a:pt x="720216" y="621834"/>
                    <a:pt x="725407" y="610240"/>
                    <a:pt x="730623" y="598684"/>
                  </a:cubicBezTo>
                  <a:moveTo>
                    <a:pt x="757083" y="540961"/>
                  </a:moveTo>
                  <a:cubicBezTo>
                    <a:pt x="762472" y="529415"/>
                    <a:pt x="767900" y="517930"/>
                    <a:pt x="773376" y="506520"/>
                  </a:cubicBezTo>
                  <a:moveTo>
                    <a:pt x="801478" y="449578"/>
                  </a:moveTo>
                  <a:cubicBezTo>
                    <a:pt x="807266" y="438203"/>
                    <a:pt x="813119" y="426929"/>
                    <a:pt x="819046" y="415771"/>
                  </a:cubicBezTo>
                  <a:moveTo>
                    <a:pt x="849799" y="360219"/>
                  </a:moveTo>
                  <a:cubicBezTo>
                    <a:pt x="856200" y="349153"/>
                    <a:pt x="862695" y="338237"/>
                    <a:pt x="869297" y="327487"/>
                  </a:cubicBezTo>
                  <a:moveTo>
                    <a:pt x="903879" y="274238"/>
                  </a:moveTo>
                  <a:cubicBezTo>
                    <a:pt x="911138" y="263701"/>
                    <a:pt x="918530" y="253371"/>
                    <a:pt x="926065" y="243267"/>
                  </a:cubicBezTo>
                  <a:moveTo>
                    <a:pt x="965808" y="193760"/>
                  </a:moveTo>
                  <a:cubicBezTo>
                    <a:pt x="974189" y="184099"/>
                    <a:pt x="982747" y="174714"/>
                    <a:pt x="991493" y="165626"/>
                  </a:cubicBezTo>
                  <a:moveTo>
                    <a:pt x="1037660" y="122065"/>
                  </a:moveTo>
                  <a:cubicBezTo>
                    <a:pt x="1047367" y="113799"/>
                    <a:pt x="1057297" y="105884"/>
                    <a:pt x="1067464" y="98341"/>
                  </a:cubicBezTo>
                  <a:moveTo>
                    <a:pt x="1120619" y="63676"/>
                  </a:moveTo>
                  <a:cubicBezTo>
                    <a:pt x="1131636" y="57435"/>
                    <a:pt x="1142913" y="51604"/>
                    <a:pt x="1154466" y="46205"/>
                  </a:cubicBezTo>
                  <a:moveTo>
                    <a:pt x="1213610" y="23220"/>
                  </a:moveTo>
                  <a:cubicBezTo>
                    <a:pt x="1225586" y="19461"/>
                    <a:pt x="1237836" y="16132"/>
                    <a:pt x="1250372" y="13253"/>
                  </a:cubicBezTo>
                  <a:moveTo>
                    <a:pt x="1312989" y="2945"/>
                  </a:moveTo>
                  <a:cubicBezTo>
                    <a:pt x="1325395" y="1669"/>
                    <a:pt x="1338060" y="801"/>
                    <a:pt x="1350993" y="353"/>
                  </a:cubicBezTo>
                  <a:moveTo>
                    <a:pt x="1414491" y="0"/>
                  </a:moveTo>
                  <a:lnTo>
                    <a:pt x="1452591" y="0"/>
                  </a:lnTo>
                  <a:moveTo>
                    <a:pt x="1516091" y="0"/>
                  </a:moveTo>
                  <a:lnTo>
                    <a:pt x="1554191" y="0"/>
                  </a:lnTo>
                  <a:moveTo>
                    <a:pt x="1617691" y="0"/>
                  </a:moveTo>
                  <a:lnTo>
                    <a:pt x="1655791" y="0"/>
                  </a:lnTo>
                  <a:moveTo>
                    <a:pt x="1719291" y="0"/>
                  </a:moveTo>
                  <a:lnTo>
                    <a:pt x="1757391" y="0"/>
                  </a:lnTo>
                  <a:moveTo>
                    <a:pt x="1820891" y="0"/>
                  </a:moveTo>
                  <a:lnTo>
                    <a:pt x="1858991" y="0"/>
                  </a:lnTo>
                  <a:moveTo>
                    <a:pt x="1922491" y="0"/>
                  </a:moveTo>
                  <a:lnTo>
                    <a:pt x="1960591" y="0"/>
                  </a:lnTo>
                  <a:moveTo>
                    <a:pt x="2024091" y="0"/>
                  </a:moveTo>
                  <a:lnTo>
                    <a:pt x="2062191" y="0"/>
                  </a:lnTo>
                  <a:moveTo>
                    <a:pt x="2125691" y="0"/>
                  </a:moveTo>
                  <a:lnTo>
                    <a:pt x="2163791" y="0"/>
                  </a:lnTo>
                  <a:moveTo>
                    <a:pt x="2227291" y="0"/>
                  </a:moveTo>
                  <a:lnTo>
                    <a:pt x="2265391" y="0"/>
                  </a:lnTo>
                  <a:moveTo>
                    <a:pt x="2328891" y="0"/>
                  </a:moveTo>
                  <a:lnTo>
                    <a:pt x="2366991" y="0"/>
                  </a:lnTo>
                  <a:moveTo>
                    <a:pt x="2430491" y="0"/>
                  </a:moveTo>
                  <a:lnTo>
                    <a:pt x="2468591" y="0"/>
                  </a:lnTo>
                  <a:moveTo>
                    <a:pt x="2532091" y="0"/>
                  </a:moveTo>
                  <a:lnTo>
                    <a:pt x="2570191" y="0"/>
                  </a:lnTo>
                  <a:moveTo>
                    <a:pt x="2633691" y="0"/>
                  </a:moveTo>
                  <a:lnTo>
                    <a:pt x="2671791" y="0"/>
                  </a:lnTo>
                  <a:moveTo>
                    <a:pt x="2735291" y="0"/>
                  </a:moveTo>
                  <a:lnTo>
                    <a:pt x="2773391" y="0"/>
                  </a:lnTo>
                  <a:moveTo>
                    <a:pt x="2836891" y="0"/>
                  </a:moveTo>
                  <a:lnTo>
                    <a:pt x="2874991" y="0"/>
                  </a:lnTo>
                  <a:moveTo>
                    <a:pt x="2938491" y="0"/>
                  </a:moveTo>
                  <a:lnTo>
                    <a:pt x="2976591" y="0"/>
                  </a:lnTo>
                  <a:moveTo>
                    <a:pt x="3040091" y="0"/>
                  </a:moveTo>
                  <a:lnTo>
                    <a:pt x="3078191" y="0"/>
                  </a:lnTo>
                  <a:moveTo>
                    <a:pt x="3141691" y="0"/>
                  </a:moveTo>
                  <a:lnTo>
                    <a:pt x="3179791" y="0"/>
                  </a:lnTo>
                  <a:moveTo>
                    <a:pt x="3243291" y="0"/>
                  </a:moveTo>
                  <a:lnTo>
                    <a:pt x="3281391" y="0"/>
                  </a:lnTo>
                  <a:moveTo>
                    <a:pt x="3344891" y="0"/>
                  </a:moveTo>
                  <a:lnTo>
                    <a:pt x="3382991" y="0"/>
                  </a:lnTo>
                  <a:moveTo>
                    <a:pt x="3446491" y="0"/>
                  </a:moveTo>
                  <a:lnTo>
                    <a:pt x="3484591" y="0"/>
                  </a:lnTo>
                  <a:moveTo>
                    <a:pt x="3548091" y="0"/>
                  </a:moveTo>
                  <a:lnTo>
                    <a:pt x="3586191" y="0"/>
                  </a:lnTo>
                  <a:moveTo>
                    <a:pt x="3649691" y="0"/>
                  </a:moveTo>
                  <a:lnTo>
                    <a:pt x="3687791" y="0"/>
                  </a:lnTo>
                  <a:moveTo>
                    <a:pt x="3751291" y="0"/>
                  </a:moveTo>
                  <a:lnTo>
                    <a:pt x="3789391" y="0"/>
                  </a:lnTo>
                  <a:moveTo>
                    <a:pt x="3852891" y="0"/>
                  </a:moveTo>
                  <a:lnTo>
                    <a:pt x="3890991" y="0"/>
                  </a:lnTo>
                  <a:moveTo>
                    <a:pt x="3954491" y="0"/>
                  </a:moveTo>
                  <a:lnTo>
                    <a:pt x="3992591" y="0"/>
                  </a:lnTo>
                  <a:moveTo>
                    <a:pt x="4056091" y="0"/>
                  </a:moveTo>
                  <a:lnTo>
                    <a:pt x="4094191" y="0"/>
                  </a:lnTo>
                  <a:moveTo>
                    <a:pt x="4157691" y="0"/>
                  </a:moveTo>
                  <a:lnTo>
                    <a:pt x="4195791" y="0"/>
                  </a:lnTo>
                  <a:moveTo>
                    <a:pt x="4259291" y="0"/>
                  </a:moveTo>
                  <a:lnTo>
                    <a:pt x="4297391" y="0"/>
                  </a:lnTo>
                  <a:moveTo>
                    <a:pt x="4360891" y="0"/>
                  </a:moveTo>
                  <a:lnTo>
                    <a:pt x="4398991" y="0"/>
                  </a:lnTo>
                  <a:moveTo>
                    <a:pt x="4462491" y="0"/>
                  </a:moveTo>
                  <a:lnTo>
                    <a:pt x="4500591" y="0"/>
                  </a:lnTo>
                  <a:moveTo>
                    <a:pt x="4564091" y="0"/>
                  </a:moveTo>
                  <a:lnTo>
                    <a:pt x="4602191" y="0"/>
                  </a:lnTo>
                  <a:moveTo>
                    <a:pt x="4665691" y="0"/>
                  </a:moveTo>
                  <a:lnTo>
                    <a:pt x="4703791" y="0"/>
                  </a:lnTo>
                  <a:moveTo>
                    <a:pt x="4767291" y="0"/>
                  </a:moveTo>
                  <a:lnTo>
                    <a:pt x="4805391" y="0"/>
                  </a:lnTo>
                  <a:moveTo>
                    <a:pt x="4868891" y="0"/>
                  </a:moveTo>
                  <a:lnTo>
                    <a:pt x="4906991" y="0"/>
                  </a:lnTo>
                  <a:moveTo>
                    <a:pt x="4970491" y="0"/>
                  </a:moveTo>
                  <a:lnTo>
                    <a:pt x="5008591" y="0"/>
                  </a:lnTo>
                  <a:moveTo>
                    <a:pt x="5072091" y="0"/>
                  </a:moveTo>
                  <a:lnTo>
                    <a:pt x="5110191" y="0"/>
                  </a:lnTo>
                  <a:moveTo>
                    <a:pt x="5173691" y="0"/>
                  </a:moveTo>
                  <a:lnTo>
                    <a:pt x="5211791" y="0"/>
                  </a:lnTo>
                  <a:moveTo>
                    <a:pt x="5275291" y="0"/>
                  </a:moveTo>
                  <a:lnTo>
                    <a:pt x="5313391" y="0"/>
                  </a:lnTo>
                  <a:moveTo>
                    <a:pt x="5376891" y="0"/>
                  </a:moveTo>
                  <a:lnTo>
                    <a:pt x="5414991" y="0"/>
                  </a:lnTo>
                  <a:moveTo>
                    <a:pt x="5478491" y="0"/>
                  </a:moveTo>
                  <a:lnTo>
                    <a:pt x="5516591" y="0"/>
                  </a:lnTo>
                  <a:moveTo>
                    <a:pt x="5580091" y="0"/>
                  </a:moveTo>
                  <a:lnTo>
                    <a:pt x="5618191" y="0"/>
                  </a:lnTo>
                  <a:moveTo>
                    <a:pt x="5681691" y="0"/>
                  </a:moveTo>
                  <a:lnTo>
                    <a:pt x="5719791" y="0"/>
                  </a:lnTo>
                  <a:moveTo>
                    <a:pt x="5783291" y="0"/>
                  </a:moveTo>
                  <a:lnTo>
                    <a:pt x="5821391" y="0"/>
                  </a:lnTo>
                  <a:moveTo>
                    <a:pt x="5884891" y="0"/>
                  </a:moveTo>
                  <a:lnTo>
                    <a:pt x="5922991" y="0"/>
                  </a:lnTo>
                  <a:moveTo>
                    <a:pt x="5986491" y="0"/>
                  </a:moveTo>
                  <a:lnTo>
                    <a:pt x="6024591" y="0"/>
                  </a:lnTo>
                  <a:moveTo>
                    <a:pt x="6088091" y="0"/>
                  </a:moveTo>
                  <a:lnTo>
                    <a:pt x="6126191" y="0"/>
                  </a:lnTo>
                  <a:moveTo>
                    <a:pt x="6189691" y="0"/>
                  </a:moveTo>
                  <a:lnTo>
                    <a:pt x="6227791" y="0"/>
                  </a:lnTo>
                  <a:moveTo>
                    <a:pt x="6291291" y="0"/>
                  </a:moveTo>
                  <a:lnTo>
                    <a:pt x="6329391" y="0"/>
                  </a:lnTo>
                  <a:moveTo>
                    <a:pt x="6392891" y="0"/>
                  </a:moveTo>
                  <a:lnTo>
                    <a:pt x="6430991" y="0"/>
                  </a:lnTo>
                  <a:moveTo>
                    <a:pt x="6494491" y="0"/>
                  </a:moveTo>
                  <a:lnTo>
                    <a:pt x="6532591" y="0"/>
                  </a:lnTo>
                  <a:moveTo>
                    <a:pt x="6596091" y="0"/>
                  </a:moveTo>
                  <a:lnTo>
                    <a:pt x="6634191" y="0"/>
                  </a:lnTo>
                  <a:moveTo>
                    <a:pt x="6697691" y="0"/>
                  </a:moveTo>
                  <a:lnTo>
                    <a:pt x="6735791" y="0"/>
                  </a:lnTo>
                  <a:moveTo>
                    <a:pt x="6799291" y="0"/>
                  </a:moveTo>
                  <a:lnTo>
                    <a:pt x="6837391" y="0"/>
                  </a:lnTo>
                  <a:moveTo>
                    <a:pt x="6900891" y="0"/>
                  </a:moveTo>
                  <a:lnTo>
                    <a:pt x="6913372" y="0"/>
                  </a:lnTo>
                </a:path>
              </a:pathLst>
            </a:custGeom>
            <a:ln w="19050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5" name="node01.branches.source-002.road"/>
            <p:cNvSpPr/>
            <p:nvPr/>
          </p:nvSpPr>
          <p:spPr>
            <a:xfrm>
              <a:off x="4376928" y="3439668"/>
              <a:ext cx="6913372" cy="103632"/>
            </a:xfrm>
            <a:custGeom>
              <a:avLst/>
              <a:gdLst/>
              <a:ahLst/>
              <a:cxnLst/>
              <a:rect l="l" t="t" r="r" b="b"/>
              <a:pathLst>
                <a:path w="6913372" h="103632">
                  <a:moveTo>
                    <a:pt x="0" y="103632"/>
                  </a:moveTo>
                  <a:cubicBezTo>
                    <a:pt x="754380" y="103632"/>
                    <a:pt x="617220" y="0"/>
                    <a:pt x="1371600" y="0"/>
                  </a:cubicBezTo>
                  <a:lnTo>
                    <a:pt x="6913372" y="0"/>
                  </a:lnTo>
                </a:path>
              </a:pathLst>
            </a:custGeom>
            <a:ln w="228600">
              <a:solidFill>
                <a:srgbClr val="50658E"/>
              </a:solidFill>
              <a:prstDash val="solid"/>
              <a:round/>
            </a:ln>
          </p:spPr>
        </p:sp>
        <p:sp>
          <p:nvSpPr>
            <p:cNvPr id="16" name="node01.branches.source-002.road.cap-1"/>
            <p:cNvSpPr/>
            <p:nvPr/>
          </p:nvSpPr>
          <p:spPr>
            <a:xfrm>
              <a:off x="4262628" y="3429000"/>
              <a:ext cx="228600" cy="228600"/>
            </a:xfrm>
            <a:prstGeom prst="ellipse">
              <a:avLst/>
            </a:prstGeom>
            <a:solidFill>
              <a:srgbClr val="50658E"/>
            </a:solidFill>
            <a:ln>
              <a:noFill/>
            </a:ln>
          </p:spPr>
        </p:sp>
        <p:sp>
          <p:nvSpPr>
            <p:cNvPr id="17" name="node01.branches.source-002.road.cap-2"/>
            <p:cNvSpPr/>
            <p:nvPr/>
          </p:nvSpPr>
          <p:spPr>
            <a:xfrm>
              <a:off x="11176000" y="3325368"/>
              <a:ext cx="228600" cy="228600"/>
            </a:xfrm>
            <a:prstGeom prst="ellipse">
              <a:avLst/>
            </a:prstGeom>
            <a:solidFill>
              <a:srgbClr val="50658E"/>
            </a:solidFill>
            <a:ln>
              <a:noFill/>
            </a:ln>
          </p:spPr>
        </p:sp>
        <p:sp>
          <p:nvSpPr>
            <p:cNvPr id="18" name="node01.branches.source-002.centerline"/>
            <p:cNvSpPr/>
            <p:nvPr/>
          </p:nvSpPr>
          <p:spPr>
            <a:xfrm>
              <a:off x="4376928" y="3439668"/>
              <a:ext cx="6913372" cy="103632"/>
            </a:xfrm>
            <a:custGeom>
              <a:avLst/>
              <a:gdLst/>
              <a:ahLst/>
              <a:cxnLst/>
              <a:rect l="l" t="t" r="r" b="b"/>
              <a:pathLst>
                <a:path w="6913372" h="103632">
                  <a:moveTo>
                    <a:pt x="0" y="103632"/>
                  </a:moveTo>
                  <a:cubicBezTo>
                    <a:pt x="12961" y="103632"/>
                    <a:pt x="25658" y="103601"/>
                    <a:pt x="38101" y="103541"/>
                  </a:cubicBezTo>
                  <a:moveTo>
                    <a:pt x="101599" y="102954"/>
                  </a:moveTo>
                  <a:cubicBezTo>
                    <a:pt x="114593" y="102773"/>
                    <a:pt x="127286" y="102557"/>
                    <a:pt x="139693" y="102308"/>
                  </a:cubicBezTo>
                  <a:moveTo>
                    <a:pt x="203172" y="100673"/>
                  </a:moveTo>
                  <a:cubicBezTo>
                    <a:pt x="216201" y="100259"/>
                    <a:pt x="228886" y="99805"/>
                    <a:pt x="241246" y="99313"/>
                  </a:cubicBezTo>
                  <a:moveTo>
                    <a:pt x="304675" y="96318"/>
                  </a:moveTo>
                  <a:cubicBezTo>
                    <a:pt x="317734" y="95598"/>
                    <a:pt x="330401" y="94833"/>
                    <a:pt x="342706" y="94026"/>
                  </a:cubicBezTo>
                  <a:moveTo>
                    <a:pt x="406026" y="89259"/>
                  </a:moveTo>
                  <a:cubicBezTo>
                    <a:pt x="419084" y="88143"/>
                    <a:pt x="431714" y="86978"/>
                    <a:pt x="443965" y="85768"/>
                  </a:cubicBezTo>
                  <a:moveTo>
                    <a:pt x="507079" y="78793"/>
                  </a:moveTo>
                  <a:cubicBezTo>
                    <a:pt x="520051" y="77205"/>
                    <a:pt x="532619" y="75569"/>
                    <a:pt x="544863" y="73896"/>
                  </a:cubicBezTo>
                  <a:moveTo>
                    <a:pt x="607683" y="64639"/>
                  </a:moveTo>
                  <a:cubicBezTo>
                    <a:pt x="620418" y="62641"/>
                    <a:pt x="632919" y="60615"/>
                    <a:pt x="645297" y="58575"/>
                  </a:cubicBezTo>
                  <a:moveTo>
                    <a:pt x="707928" y="48108"/>
                  </a:moveTo>
                  <a:cubicBezTo>
                    <a:pt x="720353" y="46033"/>
                    <a:pt x="732846" y="43967"/>
                    <a:pt x="745523" y="41921"/>
                  </a:cubicBezTo>
                  <a:moveTo>
                    <a:pt x="808291" y="32318"/>
                  </a:moveTo>
                  <a:cubicBezTo>
                    <a:pt x="820545" y="30563"/>
                    <a:pt x="833100" y="28842"/>
                    <a:pt x="846041" y="27167"/>
                  </a:cubicBezTo>
                  <a:moveTo>
                    <a:pt x="909106" y="19757"/>
                  </a:moveTo>
                  <a:cubicBezTo>
                    <a:pt x="921349" y="18465"/>
                    <a:pt x="933970" y="17216"/>
                    <a:pt x="947021" y="16017"/>
                  </a:cubicBezTo>
                  <a:moveTo>
                    <a:pt x="1010312" y="10876"/>
                  </a:moveTo>
                  <a:cubicBezTo>
                    <a:pt x="1022605" y="10001"/>
                    <a:pt x="1035267" y="9170"/>
                    <a:pt x="1048329" y="8385"/>
                  </a:cubicBezTo>
                  <a:moveTo>
                    <a:pt x="1111743" y="5098"/>
                  </a:moveTo>
                  <a:cubicBezTo>
                    <a:pt x="1124094" y="4555"/>
                    <a:pt x="1136778" y="4050"/>
                    <a:pt x="1149814" y="3586"/>
                  </a:cubicBezTo>
                  <a:moveTo>
                    <a:pt x="1213286" y="1728"/>
                  </a:moveTo>
                  <a:cubicBezTo>
                    <a:pt x="1225685" y="1439"/>
                    <a:pt x="1238378" y="1184"/>
                    <a:pt x="1251379" y="965"/>
                  </a:cubicBezTo>
                  <a:moveTo>
                    <a:pt x="1314873" y="204"/>
                  </a:moveTo>
                  <a:cubicBezTo>
                    <a:pt x="1327310" y="113"/>
                    <a:pt x="1340006" y="51"/>
                    <a:pt x="1352972" y="21"/>
                  </a:cubicBezTo>
                  <a:moveTo>
                    <a:pt x="1416474" y="0"/>
                  </a:moveTo>
                  <a:lnTo>
                    <a:pt x="1454574" y="0"/>
                  </a:lnTo>
                  <a:moveTo>
                    <a:pt x="1518074" y="0"/>
                  </a:moveTo>
                  <a:lnTo>
                    <a:pt x="1556174" y="0"/>
                  </a:lnTo>
                  <a:moveTo>
                    <a:pt x="1619674" y="0"/>
                  </a:moveTo>
                  <a:lnTo>
                    <a:pt x="1657774" y="0"/>
                  </a:lnTo>
                  <a:moveTo>
                    <a:pt x="1721274" y="0"/>
                  </a:moveTo>
                  <a:lnTo>
                    <a:pt x="1759374" y="0"/>
                  </a:lnTo>
                  <a:moveTo>
                    <a:pt x="1822874" y="0"/>
                  </a:moveTo>
                  <a:lnTo>
                    <a:pt x="1860974" y="0"/>
                  </a:lnTo>
                  <a:moveTo>
                    <a:pt x="1924474" y="0"/>
                  </a:moveTo>
                  <a:lnTo>
                    <a:pt x="1962574" y="0"/>
                  </a:lnTo>
                  <a:moveTo>
                    <a:pt x="2026074" y="0"/>
                  </a:moveTo>
                  <a:lnTo>
                    <a:pt x="2064174" y="0"/>
                  </a:lnTo>
                  <a:moveTo>
                    <a:pt x="2127674" y="0"/>
                  </a:moveTo>
                  <a:lnTo>
                    <a:pt x="2165774" y="0"/>
                  </a:lnTo>
                  <a:moveTo>
                    <a:pt x="2229274" y="0"/>
                  </a:moveTo>
                  <a:lnTo>
                    <a:pt x="2267374" y="0"/>
                  </a:lnTo>
                  <a:moveTo>
                    <a:pt x="2330874" y="0"/>
                  </a:moveTo>
                  <a:lnTo>
                    <a:pt x="2368974" y="0"/>
                  </a:lnTo>
                  <a:moveTo>
                    <a:pt x="2432474" y="0"/>
                  </a:moveTo>
                  <a:lnTo>
                    <a:pt x="2470574" y="0"/>
                  </a:lnTo>
                  <a:moveTo>
                    <a:pt x="2534074" y="0"/>
                  </a:moveTo>
                  <a:lnTo>
                    <a:pt x="2572174" y="0"/>
                  </a:lnTo>
                  <a:moveTo>
                    <a:pt x="2635674" y="0"/>
                  </a:moveTo>
                  <a:lnTo>
                    <a:pt x="2673774" y="0"/>
                  </a:lnTo>
                  <a:moveTo>
                    <a:pt x="2737274" y="0"/>
                  </a:moveTo>
                  <a:lnTo>
                    <a:pt x="2775374" y="0"/>
                  </a:lnTo>
                  <a:moveTo>
                    <a:pt x="2838874" y="0"/>
                  </a:moveTo>
                  <a:lnTo>
                    <a:pt x="2876974" y="0"/>
                  </a:lnTo>
                  <a:moveTo>
                    <a:pt x="2940474" y="0"/>
                  </a:moveTo>
                  <a:lnTo>
                    <a:pt x="2978574" y="0"/>
                  </a:lnTo>
                  <a:moveTo>
                    <a:pt x="3042074" y="0"/>
                  </a:moveTo>
                  <a:lnTo>
                    <a:pt x="3080174" y="0"/>
                  </a:lnTo>
                  <a:moveTo>
                    <a:pt x="3143674" y="0"/>
                  </a:moveTo>
                  <a:lnTo>
                    <a:pt x="3181774" y="0"/>
                  </a:lnTo>
                  <a:moveTo>
                    <a:pt x="3245274" y="0"/>
                  </a:moveTo>
                  <a:lnTo>
                    <a:pt x="3283374" y="0"/>
                  </a:lnTo>
                  <a:moveTo>
                    <a:pt x="3346874" y="0"/>
                  </a:moveTo>
                  <a:lnTo>
                    <a:pt x="3384974" y="0"/>
                  </a:lnTo>
                  <a:moveTo>
                    <a:pt x="3448474" y="0"/>
                  </a:moveTo>
                  <a:lnTo>
                    <a:pt x="3486574" y="0"/>
                  </a:lnTo>
                  <a:moveTo>
                    <a:pt x="3550074" y="0"/>
                  </a:moveTo>
                  <a:lnTo>
                    <a:pt x="3588174" y="0"/>
                  </a:lnTo>
                  <a:moveTo>
                    <a:pt x="3651674" y="0"/>
                  </a:moveTo>
                  <a:lnTo>
                    <a:pt x="3689774" y="0"/>
                  </a:lnTo>
                  <a:moveTo>
                    <a:pt x="3753274" y="0"/>
                  </a:moveTo>
                  <a:lnTo>
                    <a:pt x="3791374" y="0"/>
                  </a:lnTo>
                  <a:moveTo>
                    <a:pt x="3854874" y="0"/>
                  </a:moveTo>
                  <a:lnTo>
                    <a:pt x="3892974" y="0"/>
                  </a:lnTo>
                  <a:moveTo>
                    <a:pt x="3956474" y="0"/>
                  </a:moveTo>
                  <a:lnTo>
                    <a:pt x="3994574" y="0"/>
                  </a:lnTo>
                  <a:moveTo>
                    <a:pt x="4058074" y="0"/>
                  </a:moveTo>
                  <a:lnTo>
                    <a:pt x="4096174" y="0"/>
                  </a:lnTo>
                  <a:moveTo>
                    <a:pt x="4159674" y="0"/>
                  </a:moveTo>
                  <a:lnTo>
                    <a:pt x="4197774" y="0"/>
                  </a:lnTo>
                  <a:moveTo>
                    <a:pt x="4261274" y="0"/>
                  </a:moveTo>
                  <a:lnTo>
                    <a:pt x="4299374" y="0"/>
                  </a:lnTo>
                  <a:moveTo>
                    <a:pt x="4362874" y="0"/>
                  </a:moveTo>
                  <a:lnTo>
                    <a:pt x="4400974" y="0"/>
                  </a:lnTo>
                  <a:moveTo>
                    <a:pt x="4464474" y="0"/>
                  </a:moveTo>
                  <a:lnTo>
                    <a:pt x="4502574" y="0"/>
                  </a:lnTo>
                  <a:moveTo>
                    <a:pt x="4566074" y="0"/>
                  </a:moveTo>
                  <a:lnTo>
                    <a:pt x="4604174" y="0"/>
                  </a:lnTo>
                  <a:moveTo>
                    <a:pt x="4667674" y="0"/>
                  </a:moveTo>
                  <a:lnTo>
                    <a:pt x="4705774" y="0"/>
                  </a:lnTo>
                  <a:moveTo>
                    <a:pt x="4769274" y="0"/>
                  </a:moveTo>
                  <a:lnTo>
                    <a:pt x="4807374" y="0"/>
                  </a:lnTo>
                  <a:moveTo>
                    <a:pt x="4870874" y="0"/>
                  </a:moveTo>
                  <a:lnTo>
                    <a:pt x="4908974" y="0"/>
                  </a:lnTo>
                  <a:moveTo>
                    <a:pt x="4972474" y="0"/>
                  </a:moveTo>
                  <a:lnTo>
                    <a:pt x="5010574" y="0"/>
                  </a:lnTo>
                  <a:moveTo>
                    <a:pt x="5074074" y="0"/>
                  </a:moveTo>
                  <a:lnTo>
                    <a:pt x="5112174" y="0"/>
                  </a:lnTo>
                  <a:moveTo>
                    <a:pt x="5175674" y="0"/>
                  </a:moveTo>
                  <a:lnTo>
                    <a:pt x="5213774" y="0"/>
                  </a:lnTo>
                  <a:moveTo>
                    <a:pt x="5277274" y="0"/>
                  </a:moveTo>
                  <a:lnTo>
                    <a:pt x="5315374" y="0"/>
                  </a:lnTo>
                  <a:moveTo>
                    <a:pt x="5378874" y="0"/>
                  </a:moveTo>
                  <a:lnTo>
                    <a:pt x="5416974" y="0"/>
                  </a:lnTo>
                  <a:moveTo>
                    <a:pt x="5480474" y="0"/>
                  </a:moveTo>
                  <a:lnTo>
                    <a:pt x="5518574" y="0"/>
                  </a:lnTo>
                  <a:moveTo>
                    <a:pt x="5582074" y="0"/>
                  </a:moveTo>
                  <a:lnTo>
                    <a:pt x="5620174" y="0"/>
                  </a:lnTo>
                  <a:moveTo>
                    <a:pt x="5683674" y="0"/>
                  </a:moveTo>
                  <a:lnTo>
                    <a:pt x="5721774" y="0"/>
                  </a:lnTo>
                  <a:moveTo>
                    <a:pt x="5785274" y="0"/>
                  </a:moveTo>
                  <a:lnTo>
                    <a:pt x="5823374" y="0"/>
                  </a:lnTo>
                  <a:moveTo>
                    <a:pt x="5886874" y="0"/>
                  </a:moveTo>
                  <a:lnTo>
                    <a:pt x="5924974" y="0"/>
                  </a:lnTo>
                  <a:moveTo>
                    <a:pt x="5988474" y="0"/>
                  </a:moveTo>
                  <a:lnTo>
                    <a:pt x="6026574" y="0"/>
                  </a:lnTo>
                  <a:moveTo>
                    <a:pt x="6090074" y="0"/>
                  </a:moveTo>
                  <a:lnTo>
                    <a:pt x="6128174" y="0"/>
                  </a:lnTo>
                  <a:moveTo>
                    <a:pt x="6191674" y="0"/>
                  </a:moveTo>
                  <a:lnTo>
                    <a:pt x="6229774" y="0"/>
                  </a:lnTo>
                  <a:moveTo>
                    <a:pt x="6293274" y="0"/>
                  </a:moveTo>
                  <a:lnTo>
                    <a:pt x="6331374" y="0"/>
                  </a:lnTo>
                  <a:moveTo>
                    <a:pt x="6394874" y="0"/>
                  </a:moveTo>
                  <a:lnTo>
                    <a:pt x="6432974" y="0"/>
                  </a:lnTo>
                  <a:moveTo>
                    <a:pt x="6496474" y="0"/>
                  </a:moveTo>
                  <a:lnTo>
                    <a:pt x="6534574" y="0"/>
                  </a:lnTo>
                  <a:moveTo>
                    <a:pt x="6598074" y="0"/>
                  </a:moveTo>
                  <a:lnTo>
                    <a:pt x="6636174" y="0"/>
                  </a:lnTo>
                  <a:moveTo>
                    <a:pt x="6699674" y="0"/>
                  </a:moveTo>
                  <a:lnTo>
                    <a:pt x="6737774" y="0"/>
                  </a:lnTo>
                  <a:moveTo>
                    <a:pt x="6801274" y="0"/>
                  </a:moveTo>
                  <a:lnTo>
                    <a:pt x="6839374" y="0"/>
                  </a:lnTo>
                  <a:moveTo>
                    <a:pt x="6902874" y="0"/>
                  </a:moveTo>
                  <a:lnTo>
                    <a:pt x="6913372" y="0"/>
                  </a:lnTo>
                </a:path>
              </a:pathLst>
            </a:custGeom>
            <a:ln w="19050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9" name="node01.branches.source-003.road"/>
            <p:cNvSpPr/>
            <p:nvPr/>
          </p:nvSpPr>
          <p:spPr>
            <a:xfrm>
              <a:off x="4376928" y="3543300"/>
              <a:ext cx="6913372" cy="1191768"/>
            </a:xfrm>
            <a:custGeom>
              <a:avLst/>
              <a:gdLst/>
              <a:ahLst/>
              <a:cxnLst/>
              <a:rect l="l" t="t" r="r" b="b"/>
              <a:pathLst>
                <a:path w="6913372" h="1191768">
                  <a:moveTo>
                    <a:pt x="0" y="0"/>
                  </a:moveTo>
                  <a:cubicBezTo>
                    <a:pt x="754380" y="0"/>
                    <a:pt x="617220" y="1191768"/>
                    <a:pt x="1371600" y="1191768"/>
                  </a:cubicBezTo>
                  <a:lnTo>
                    <a:pt x="6913372" y="1191768"/>
                  </a:lnTo>
                </a:path>
              </a:pathLst>
            </a:custGeom>
            <a:ln w="228600">
              <a:solidFill>
                <a:srgbClr val="50658E"/>
              </a:solidFill>
              <a:prstDash val="solid"/>
              <a:round/>
            </a:ln>
          </p:spPr>
        </p:sp>
        <p:sp>
          <p:nvSpPr>
            <p:cNvPr id="20" name="node01.branches.source-003.road.cap-1"/>
            <p:cNvSpPr/>
            <p:nvPr/>
          </p:nvSpPr>
          <p:spPr>
            <a:xfrm>
              <a:off x="4262628" y="3429000"/>
              <a:ext cx="228600" cy="228600"/>
            </a:xfrm>
            <a:prstGeom prst="ellipse">
              <a:avLst/>
            </a:prstGeom>
            <a:solidFill>
              <a:srgbClr val="50658E"/>
            </a:solidFill>
            <a:ln>
              <a:noFill/>
            </a:ln>
          </p:spPr>
        </p:sp>
        <p:sp>
          <p:nvSpPr>
            <p:cNvPr id="21" name="node01.branches.source-003.road.cap-2"/>
            <p:cNvSpPr/>
            <p:nvPr/>
          </p:nvSpPr>
          <p:spPr>
            <a:xfrm>
              <a:off x="11176000" y="4620768"/>
              <a:ext cx="228600" cy="228600"/>
            </a:xfrm>
            <a:prstGeom prst="ellipse">
              <a:avLst/>
            </a:prstGeom>
            <a:solidFill>
              <a:srgbClr val="50658E"/>
            </a:solidFill>
            <a:ln>
              <a:noFill/>
            </a:ln>
          </p:spPr>
        </p:sp>
        <p:sp>
          <p:nvSpPr>
            <p:cNvPr id="22" name="node01.branches.source-003.centerline"/>
            <p:cNvSpPr/>
            <p:nvPr/>
          </p:nvSpPr>
          <p:spPr>
            <a:xfrm>
              <a:off x="4376928" y="3543300"/>
              <a:ext cx="6913372" cy="1191768"/>
            </a:xfrm>
            <a:custGeom>
              <a:avLst/>
              <a:gdLst/>
              <a:ahLst/>
              <a:cxnLst/>
              <a:rect l="l" t="t" r="r" b="b"/>
              <a:pathLst>
                <a:path w="6913372" h="1191768">
                  <a:moveTo>
                    <a:pt x="0" y="0"/>
                  </a:moveTo>
                  <a:cubicBezTo>
                    <a:pt x="12954" y="0"/>
                    <a:pt x="25645" y="351"/>
                    <a:pt x="38082" y="1042"/>
                  </a:cubicBezTo>
                  <a:moveTo>
                    <a:pt x="101200" y="7739"/>
                  </a:moveTo>
                  <a:cubicBezTo>
                    <a:pt x="113951" y="9769"/>
                    <a:pt x="126414" y="12186"/>
                    <a:pt x="138599" y="14973"/>
                  </a:cubicBezTo>
                  <a:moveTo>
                    <a:pt x="199532" y="32716"/>
                  </a:moveTo>
                  <a:cubicBezTo>
                    <a:pt x="211616" y="37031"/>
                    <a:pt x="223405" y="41739"/>
                    <a:pt x="234915" y="46821"/>
                  </a:cubicBezTo>
                  <a:moveTo>
                    <a:pt x="291315" y="75915"/>
                  </a:moveTo>
                  <a:cubicBezTo>
                    <a:pt x="302266" y="82419"/>
                    <a:pt x="312946" y="89286"/>
                    <a:pt x="323370" y="96494"/>
                  </a:cubicBezTo>
                  <a:moveTo>
                    <a:pt x="373548" y="135361"/>
                  </a:moveTo>
                  <a:cubicBezTo>
                    <a:pt x="383146" y="143628"/>
                    <a:pt x="392518" y="152198"/>
                    <a:pt x="401679" y="161049"/>
                  </a:cubicBezTo>
                  <a:moveTo>
                    <a:pt x="445401" y="207074"/>
                  </a:moveTo>
                  <a:cubicBezTo>
                    <a:pt x="453727" y="216580"/>
                    <a:pt x="461878" y="226321"/>
                    <a:pt x="469868" y="236276"/>
                  </a:cubicBezTo>
                  <a:moveTo>
                    <a:pt x="508044" y="287007"/>
                  </a:moveTo>
                  <a:cubicBezTo>
                    <a:pt x="515345" y="297319"/>
                    <a:pt x="522518" y="307802"/>
                    <a:pt x="529577" y="318436"/>
                  </a:cubicBezTo>
                  <a:moveTo>
                    <a:pt x="563560" y="372073"/>
                  </a:moveTo>
                  <a:cubicBezTo>
                    <a:pt x="570121" y="382886"/>
                    <a:pt x="576595" y="393815"/>
                    <a:pt x="582996" y="404842"/>
                  </a:cubicBezTo>
                  <a:moveTo>
                    <a:pt x="614160" y="460167"/>
                  </a:moveTo>
                  <a:cubicBezTo>
                    <a:pt x="620250" y="471275"/>
                    <a:pt x="626291" y="482450"/>
                    <a:pt x="632294" y="493674"/>
                  </a:cubicBezTo>
                  <a:moveTo>
                    <a:pt x="661906" y="549847"/>
                  </a:moveTo>
                  <a:cubicBezTo>
                    <a:pt x="667772" y="561101"/>
                    <a:pt x="673622" y="572377"/>
                    <a:pt x="679467" y="583658"/>
                  </a:cubicBezTo>
                  <a:moveTo>
                    <a:pt x="708707" y="640026"/>
                  </a:moveTo>
                  <a:cubicBezTo>
                    <a:pt x="714582" y="651302"/>
                    <a:pt x="720472" y="662556"/>
                    <a:pt x="726391" y="673774"/>
                  </a:cubicBezTo>
                  <a:moveTo>
                    <a:pt x="756414" y="729727"/>
                  </a:moveTo>
                  <a:cubicBezTo>
                    <a:pt x="762529" y="740900"/>
                    <a:pt x="768695" y="752006"/>
                    <a:pt x="774922" y="763029"/>
                  </a:cubicBezTo>
                  <a:moveTo>
                    <a:pt x="806933" y="817868"/>
                  </a:moveTo>
                  <a:cubicBezTo>
                    <a:pt x="813536" y="828781"/>
                    <a:pt x="820226" y="839579"/>
                    <a:pt x="827017" y="850243"/>
                  </a:cubicBezTo>
                  <a:moveTo>
                    <a:pt x="862323" y="903016"/>
                  </a:moveTo>
                  <a:cubicBezTo>
                    <a:pt x="869681" y="913449"/>
                    <a:pt x="877168" y="923710"/>
                    <a:pt x="884800" y="933778"/>
                  </a:cubicBezTo>
                  <a:moveTo>
                    <a:pt x="924794" y="983085"/>
                  </a:moveTo>
                  <a:cubicBezTo>
                    <a:pt x="933176" y="992704"/>
                    <a:pt x="941736" y="1002087"/>
                    <a:pt x="950489" y="1011211"/>
                  </a:cubicBezTo>
                  <a:moveTo>
                    <a:pt x="996435" y="1055010"/>
                  </a:moveTo>
                  <a:cubicBezTo>
                    <a:pt x="1006045" y="1063343"/>
                    <a:pt x="1015883" y="1071373"/>
                    <a:pt x="1025964" y="1079076"/>
                  </a:cubicBezTo>
                  <a:moveTo>
                    <a:pt x="1078450" y="1114758"/>
                  </a:moveTo>
                  <a:cubicBezTo>
                    <a:pt x="1089294" y="1121258"/>
                    <a:pt x="1100405" y="1127401"/>
                    <a:pt x="1111799" y="1133166"/>
                  </a:cubicBezTo>
                  <a:moveTo>
                    <a:pt x="1170057" y="1158329"/>
                  </a:moveTo>
                  <a:cubicBezTo>
                    <a:pt x="1181859" y="1162597"/>
                    <a:pt x="1193943" y="1166489"/>
                    <a:pt x="1206323" y="1169985"/>
                  </a:cubicBezTo>
                  <a:moveTo>
                    <a:pt x="1268290" y="1183689"/>
                  </a:moveTo>
                  <a:cubicBezTo>
                    <a:pt x="1280607" y="1185697"/>
                    <a:pt x="1293195" y="1187344"/>
                    <a:pt x="1306064" y="1188614"/>
                  </a:cubicBezTo>
                  <a:moveTo>
                    <a:pt x="1369461" y="1191765"/>
                  </a:moveTo>
                  <a:cubicBezTo>
                    <a:pt x="1370173" y="1191767"/>
                    <a:pt x="1370886" y="1191768"/>
                    <a:pt x="1371600" y="1191768"/>
                  </a:cubicBezTo>
                  <a:lnTo>
                    <a:pt x="1407563" y="1191768"/>
                  </a:lnTo>
                  <a:moveTo>
                    <a:pt x="1471063" y="1191768"/>
                  </a:moveTo>
                  <a:lnTo>
                    <a:pt x="1509163" y="1191768"/>
                  </a:lnTo>
                  <a:moveTo>
                    <a:pt x="1572663" y="1191768"/>
                  </a:moveTo>
                  <a:lnTo>
                    <a:pt x="1610763" y="1191768"/>
                  </a:lnTo>
                  <a:moveTo>
                    <a:pt x="1674263" y="1191768"/>
                  </a:moveTo>
                  <a:lnTo>
                    <a:pt x="1712363" y="1191768"/>
                  </a:lnTo>
                  <a:moveTo>
                    <a:pt x="1775863" y="1191768"/>
                  </a:moveTo>
                  <a:lnTo>
                    <a:pt x="1813963" y="1191768"/>
                  </a:lnTo>
                  <a:moveTo>
                    <a:pt x="1877463" y="1191768"/>
                  </a:moveTo>
                  <a:lnTo>
                    <a:pt x="1915563" y="1191768"/>
                  </a:lnTo>
                  <a:moveTo>
                    <a:pt x="1979063" y="1191768"/>
                  </a:moveTo>
                  <a:lnTo>
                    <a:pt x="2017163" y="1191768"/>
                  </a:lnTo>
                  <a:moveTo>
                    <a:pt x="2080663" y="1191768"/>
                  </a:moveTo>
                  <a:lnTo>
                    <a:pt x="2118763" y="1191768"/>
                  </a:lnTo>
                  <a:moveTo>
                    <a:pt x="2182263" y="1191768"/>
                  </a:moveTo>
                  <a:lnTo>
                    <a:pt x="2220363" y="1191768"/>
                  </a:lnTo>
                  <a:moveTo>
                    <a:pt x="2283863" y="1191768"/>
                  </a:moveTo>
                  <a:lnTo>
                    <a:pt x="2321963" y="1191768"/>
                  </a:lnTo>
                  <a:moveTo>
                    <a:pt x="2385463" y="1191768"/>
                  </a:moveTo>
                  <a:lnTo>
                    <a:pt x="2423563" y="1191768"/>
                  </a:lnTo>
                  <a:moveTo>
                    <a:pt x="2487063" y="1191768"/>
                  </a:moveTo>
                  <a:lnTo>
                    <a:pt x="2525163" y="1191768"/>
                  </a:lnTo>
                  <a:moveTo>
                    <a:pt x="2588663" y="1191768"/>
                  </a:moveTo>
                  <a:lnTo>
                    <a:pt x="2626763" y="1191768"/>
                  </a:lnTo>
                  <a:moveTo>
                    <a:pt x="2690263" y="1191768"/>
                  </a:moveTo>
                  <a:lnTo>
                    <a:pt x="2728363" y="1191768"/>
                  </a:lnTo>
                  <a:moveTo>
                    <a:pt x="2791863" y="1191768"/>
                  </a:moveTo>
                  <a:lnTo>
                    <a:pt x="2829963" y="1191768"/>
                  </a:lnTo>
                  <a:moveTo>
                    <a:pt x="2893463" y="1191768"/>
                  </a:moveTo>
                  <a:lnTo>
                    <a:pt x="2931563" y="1191768"/>
                  </a:lnTo>
                  <a:moveTo>
                    <a:pt x="2995063" y="1191768"/>
                  </a:moveTo>
                  <a:lnTo>
                    <a:pt x="3033163" y="1191768"/>
                  </a:lnTo>
                  <a:moveTo>
                    <a:pt x="3096663" y="1191768"/>
                  </a:moveTo>
                  <a:lnTo>
                    <a:pt x="3134763" y="1191768"/>
                  </a:lnTo>
                  <a:moveTo>
                    <a:pt x="3198263" y="1191768"/>
                  </a:moveTo>
                  <a:lnTo>
                    <a:pt x="3236363" y="1191768"/>
                  </a:lnTo>
                  <a:moveTo>
                    <a:pt x="3299863" y="1191768"/>
                  </a:moveTo>
                  <a:lnTo>
                    <a:pt x="3337963" y="1191768"/>
                  </a:lnTo>
                  <a:moveTo>
                    <a:pt x="3401463" y="1191768"/>
                  </a:moveTo>
                  <a:lnTo>
                    <a:pt x="3439563" y="1191768"/>
                  </a:lnTo>
                  <a:moveTo>
                    <a:pt x="3503063" y="1191768"/>
                  </a:moveTo>
                  <a:lnTo>
                    <a:pt x="3541163" y="1191768"/>
                  </a:lnTo>
                  <a:moveTo>
                    <a:pt x="3604663" y="1191768"/>
                  </a:moveTo>
                  <a:lnTo>
                    <a:pt x="3642763" y="1191768"/>
                  </a:lnTo>
                  <a:moveTo>
                    <a:pt x="3706263" y="1191768"/>
                  </a:moveTo>
                  <a:lnTo>
                    <a:pt x="3744363" y="1191768"/>
                  </a:lnTo>
                  <a:moveTo>
                    <a:pt x="3807863" y="1191768"/>
                  </a:moveTo>
                  <a:lnTo>
                    <a:pt x="3845963" y="1191768"/>
                  </a:lnTo>
                  <a:moveTo>
                    <a:pt x="3909463" y="1191768"/>
                  </a:moveTo>
                  <a:lnTo>
                    <a:pt x="3947563" y="1191768"/>
                  </a:lnTo>
                  <a:moveTo>
                    <a:pt x="4011063" y="1191768"/>
                  </a:moveTo>
                  <a:lnTo>
                    <a:pt x="4049163" y="1191768"/>
                  </a:lnTo>
                  <a:moveTo>
                    <a:pt x="4112663" y="1191768"/>
                  </a:moveTo>
                  <a:lnTo>
                    <a:pt x="4150763" y="1191768"/>
                  </a:lnTo>
                  <a:moveTo>
                    <a:pt x="4214263" y="1191768"/>
                  </a:moveTo>
                  <a:lnTo>
                    <a:pt x="4252363" y="1191768"/>
                  </a:lnTo>
                  <a:moveTo>
                    <a:pt x="4315863" y="1191768"/>
                  </a:moveTo>
                  <a:lnTo>
                    <a:pt x="4353963" y="1191768"/>
                  </a:lnTo>
                  <a:moveTo>
                    <a:pt x="4417463" y="1191768"/>
                  </a:moveTo>
                  <a:lnTo>
                    <a:pt x="4455563" y="1191768"/>
                  </a:lnTo>
                  <a:moveTo>
                    <a:pt x="4519063" y="1191768"/>
                  </a:moveTo>
                  <a:lnTo>
                    <a:pt x="4557163" y="1191768"/>
                  </a:lnTo>
                  <a:moveTo>
                    <a:pt x="4620663" y="1191768"/>
                  </a:moveTo>
                  <a:lnTo>
                    <a:pt x="4658763" y="1191768"/>
                  </a:lnTo>
                  <a:moveTo>
                    <a:pt x="4722263" y="1191768"/>
                  </a:moveTo>
                  <a:lnTo>
                    <a:pt x="4760363" y="1191768"/>
                  </a:lnTo>
                  <a:moveTo>
                    <a:pt x="4823863" y="1191768"/>
                  </a:moveTo>
                  <a:lnTo>
                    <a:pt x="4861963" y="1191768"/>
                  </a:lnTo>
                  <a:moveTo>
                    <a:pt x="4925463" y="1191768"/>
                  </a:moveTo>
                  <a:lnTo>
                    <a:pt x="4963563" y="1191768"/>
                  </a:lnTo>
                  <a:moveTo>
                    <a:pt x="5027063" y="1191768"/>
                  </a:moveTo>
                  <a:lnTo>
                    <a:pt x="5065163" y="1191768"/>
                  </a:lnTo>
                  <a:moveTo>
                    <a:pt x="5128663" y="1191768"/>
                  </a:moveTo>
                  <a:lnTo>
                    <a:pt x="5166763" y="1191768"/>
                  </a:lnTo>
                  <a:moveTo>
                    <a:pt x="5230263" y="1191768"/>
                  </a:moveTo>
                  <a:lnTo>
                    <a:pt x="5268363" y="1191768"/>
                  </a:lnTo>
                  <a:moveTo>
                    <a:pt x="5331863" y="1191768"/>
                  </a:moveTo>
                  <a:lnTo>
                    <a:pt x="5369963" y="1191768"/>
                  </a:lnTo>
                  <a:moveTo>
                    <a:pt x="5433463" y="1191768"/>
                  </a:moveTo>
                  <a:lnTo>
                    <a:pt x="5471563" y="1191768"/>
                  </a:lnTo>
                  <a:moveTo>
                    <a:pt x="5535063" y="1191768"/>
                  </a:moveTo>
                  <a:lnTo>
                    <a:pt x="5573163" y="1191768"/>
                  </a:lnTo>
                  <a:moveTo>
                    <a:pt x="5636663" y="1191768"/>
                  </a:moveTo>
                  <a:lnTo>
                    <a:pt x="5674763" y="1191768"/>
                  </a:lnTo>
                  <a:moveTo>
                    <a:pt x="5738263" y="1191768"/>
                  </a:moveTo>
                  <a:lnTo>
                    <a:pt x="5776363" y="1191768"/>
                  </a:lnTo>
                  <a:moveTo>
                    <a:pt x="5839863" y="1191768"/>
                  </a:moveTo>
                  <a:lnTo>
                    <a:pt x="5877963" y="1191768"/>
                  </a:lnTo>
                  <a:moveTo>
                    <a:pt x="5941463" y="1191768"/>
                  </a:moveTo>
                  <a:lnTo>
                    <a:pt x="5979563" y="1191768"/>
                  </a:lnTo>
                  <a:moveTo>
                    <a:pt x="6043063" y="1191768"/>
                  </a:moveTo>
                  <a:lnTo>
                    <a:pt x="6081163" y="1191768"/>
                  </a:lnTo>
                  <a:moveTo>
                    <a:pt x="6144663" y="1191768"/>
                  </a:moveTo>
                  <a:lnTo>
                    <a:pt x="6182763" y="1191768"/>
                  </a:lnTo>
                  <a:moveTo>
                    <a:pt x="6246263" y="1191768"/>
                  </a:moveTo>
                  <a:lnTo>
                    <a:pt x="6284363" y="1191768"/>
                  </a:lnTo>
                  <a:moveTo>
                    <a:pt x="6347863" y="1191768"/>
                  </a:moveTo>
                  <a:lnTo>
                    <a:pt x="6385963" y="1191768"/>
                  </a:lnTo>
                  <a:moveTo>
                    <a:pt x="6449463" y="1191768"/>
                  </a:moveTo>
                  <a:lnTo>
                    <a:pt x="6487563" y="1191768"/>
                  </a:lnTo>
                  <a:moveTo>
                    <a:pt x="6551063" y="1191768"/>
                  </a:moveTo>
                  <a:lnTo>
                    <a:pt x="6589163" y="1191768"/>
                  </a:lnTo>
                  <a:moveTo>
                    <a:pt x="6652663" y="1191768"/>
                  </a:moveTo>
                  <a:lnTo>
                    <a:pt x="6690763" y="1191768"/>
                  </a:lnTo>
                  <a:moveTo>
                    <a:pt x="6754263" y="1191768"/>
                  </a:moveTo>
                  <a:lnTo>
                    <a:pt x="6792363" y="1191768"/>
                  </a:lnTo>
                  <a:moveTo>
                    <a:pt x="6855863" y="1191768"/>
                  </a:moveTo>
                  <a:lnTo>
                    <a:pt x="6893963" y="1191768"/>
                  </a:lnTo>
                </a:path>
              </a:pathLst>
            </a:custGeom>
            <a:ln w="19050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3" name="node01.trunk.source-001.pin"/>
            <p:cNvSpPr/>
            <p:nvPr/>
          </p:nvSpPr>
          <p:spPr>
            <a:xfrm>
              <a:off x="1760982" y="340042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70154"/>
              </a:solidFill>
              <a:prstDash val="solid"/>
            </a:ln>
          </p:spPr>
        </p:sp>
        <p:sp>
          <p:nvSpPr>
            <p:cNvPr id="24" name="node01.trunk.source-001.number"/>
            <p:cNvSpPr/>
            <p:nvPr/>
          </p:nvSpPr>
          <p:spPr>
            <a:xfrm>
              <a:off x="1751457" y="3390900"/>
              <a:ext cx="304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000"/>
                </a:lnSpc>
                <a:buNone/>
              </a:pPr>
              <a:r>
                <a:rPr lang="en-US" sz="10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1</a:t>
              </a:r>
              <a:endParaRPr lang="en-US" sz="10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5" name="node01.trunk.source-001.label.part-1"/>
            <p:cNvSpPr/>
            <p:nvPr/>
          </p:nvSpPr>
          <p:spPr>
            <a:xfrm>
              <a:off x="1181100" y="2547620"/>
              <a:ext cx="1445514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Q4 2026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6" name="node01.trunk.source-001.label.part-2"/>
            <p:cNvSpPr/>
            <p:nvPr/>
          </p:nvSpPr>
          <p:spPr>
            <a:xfrm>
              <a:off x="1181100" y="2725420"/>
              <a:ext cx="144551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44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Data foundation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27" name="node01.trunk.source-001.label.part-3"/>
            <p:cNvSpPr/>
            <p:nvPr/>
          </p:nvSpPr>
          <p:spPr>
            <a:xfrm>
              <a:off x="1181100" y="2933700"/>
              <a:ext cx="1445514" cy="4191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5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One master patient index.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8" name="node01.trunk.source-002.pin"/>
            <p:cNvSpPr/>
            <p:nvPr/>
          </p:nvSpPr>
          <p:spPr>
            <a:xfrm>
              <a:off x="3308096" y="340042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70154"/>
              </a:solidFill>
              <a:prstDash val="solid"/>
            </a:ln>
          </p:spPr>
        </p:sp>
        <p:sp>
          <p:nvSpPr>
            <p:cNvPr id="29" name="node01.trunk.source-002.number"/>
            <p:cNvSpPr/>
            <p:nvPr/>
          </p:nvSpPr>
          <p:spPr>
            <a:xfrm>
              <a:off x="3298571" y="3390900"/>
              <a:ext cx="304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000"/>
                </a:lnSpc>
                <a:buNone/>
              </a:pPr>
              <a:r>
                <a:rPr lang="en-US" sz="10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2</a:t>
              </a:r>
              <a:endParaRPr lang="en-US" sz="10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0" name="node01.trunk.source-002.label.part-1"/>
            <p:cNvSpPr/>
            <p:nvPr/>
          </p:nvSpPr>
          <p:spPr>
            <a:xfrm>
              <a:off x="2728214" y="3771900"/>
              <a:ext cx="1445514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Q1 2027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1" name="node01.trunk.source-002.label.part-2"/>
            <p:cNvSpPr/>
            <p:nvPr/>
          </p:nvSpPr>
          <p:spPr>
            <a:xfrm>
              <a:off x="2728214" y="3949700"/>
              <a:ext cx="144551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44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Single sign-in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32" name="node01.trunk.source-002.label.part-3"/>
            <p:cNvSpPr/>
            <p:nvPr/>
          </p:nvSpPr>
          <p:spPr>
            <a:xfrm>
              <a:off x="2728214" y="4157980"/>
              <a:ext cx="144551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5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One ID at every site.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3" name="node01.fork.diamond"/>
            <p:cNvSpPr/>
            <p:nvPr/>
          </p:nvSpPr>
          <p:spPr>
            <a:xfrm>
              <a:off x="4156912" y="3323284"/>
              <a:ext cx="440033" cy="440033"/>
            </a:xfrm>
            <a:prstGeom prst="diamond">
              <a:avLst/>
            </a:prstGeom>
            <a:solidFill>
              <a:srgbClr val="F900D3"/>
            </a:solidFill>
            <a:ln w="19050">
              <a:solidFill>
                <a:srgbClr val="070154"/>
              </a:solidFill>
              <a:prstDash val="solid"/>
              <a:miter/>
            </a:ln>
          </p:spPr>
        </p:sp>
        <p:sp>
          <p:nvSpPr>
            <p:cNvPr id="34" name="node01.fork.question"/>
            <p:cNvSpPr/>
            <p:nvPr/>
          </p:nvSpPr>
          <p:spPr>
            <a:xfrm>
              <a:off x="4211828" y="3378200"/>
              <a:ext cx="330200" cy="330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1200" spc="0" kern="0" b="1" i="0" dirty="0">
                  <a:solidFill>
                    <a:srgbClr val="070154"/>
                  </a:solidFill>
                  <a:latin typeface="IBM Plex Mono"/>
                  <a:ea typeface="IBM Plex Mono"/>
                  <a:cs typeface="IBM Plex Mono"/>
                </a:rPr>
                <a:t>?</a:t>
              </a:r>
              <a:endParaRPr lang="en-US" sz="1200" spc="0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endParaRPr>
            </a:p>
          </p:txBody>
        </p:sp>
        <p:sp>
          <p:nvSpPr>
            <p:cNvPr id="35" name="node01.fork.label.part-1"/>
            <p:cNvSpPr/>
            <p:nvPr/>
          </p:nvSpPr>
          <p:spPr>
            <a:xfrm>
              <a:off x="3348228" y="1600200"/>
              <a:ext cx="2057400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DECISION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6" name="node01.fork.label.part-2"/>
            <p:cNvSpPr/>
            <p:nvPr/>
          </p:nvSpPr>
          <p:spPr>
            <a:xfrm>
              <a:off x="3348228" y="1778000"/>
              <a:ext cx="20574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68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Buy, build or partner?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37" name="node01.fork.label.part-3"/>
            <p:cNvSpPr/>
            <p:nvPr/>
          </p:nvSpPr>
          <p:spPr>
            <a:xfrm>
              <a:off x="3348228" y="2016760"/>
              <a:ext cx="2057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Choose by Q2 2027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8" name="node01.branches.source-001.title.part-1"/>
            <p:cNvSpPr/>
            <p:nvPr/>
          </p:nvSpPr>
          <p:spPr>
            <a:xfrm>
              <a:off x="6463796" y="1678178"/>
              <a:ext cx="4618732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7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Buy a platform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39" name="node01.branches.source-001.tag"/>
            <p:cNvSpPr/>
            <p:nvPr/>
          </p:nvSpPr>
          <p:spPr>
            <a:xfrm>
              <a:off x="5748528" y="1761046"/>
              <a:ext cx="626368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OPTION A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0" name="node01.branches.source-001.milestones.source-001.pin"/>
            <p:cNvSpPr/>
            <p:nvPr/>
          </p:nvSpPr>
          <p:spPr>
            <a:xfrm>
              <a:off x="7105396" y="2001393"/>
              <a:ext cx="285750" cy="2857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70154"/>
              </a:solidFill>
              <a:prstDash val="solid"/>
            </a:ln>
          </p:spPr>
        </p:sp>
        <p:sp>
          <p:nvSpPr>
            <p:cNvPr id="41" name="node01.branches.source-001.milestones.source-001.number"/>
            <p:cNvSpPr/>
            <p:nvPr/>
          </p:nvSpPr>
          <p:spPr>
            <a:xfrm>
              <a:off x="7095871" y="1991868"/>
              <a:ext cx="304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000"/>
                </a:lnSpc>
                <a:buNone/>
              </a:pPr>
              <a:r>
                <a:rPr lang="en-US" sz="10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A1</a:t>
              </a:r>
              <a:endParaRPr lang="en-US" sz="10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2" name="node01.branches.source-001.milestones.source-001.label.part-1"/>
            <p:cNvSpPr/>
            <p:nvPr/>
          </p:nvSpPr>
          <p:spPr>
            <a:xfrm>
              <a:off x="5951728" y="2372868"/>
              <a:ext cx="2593086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Q2 2027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3" name="node01.branches.source-001.milestones.source-001.label.part-2"/>
            <p:cNvSpPr/>
            <p:nvPr/>
          </p:nvSpPr>
          <p:spPr>
            <a:xfrm>
              <a:off x="5951728" y="2550668"/>
              <a:ext cx="2593086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44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Select vendor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44" name="node01.branches.source-001.milestones.source-001.label.part-3"/>
            <p:cNvSpPr/>
            <p:nvPr/>
          </p:nvSpPr>
          <p:spPr>
            <a:xfrm>
              <a:off x="5951728" y="2758948"/>
              <a:ext cx="2593086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5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Scored shortlist.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5" name="node01.branches.source-001.milestones.source-002.pin"/>
            <p:cNvSpPr/>
            <p:nvPr/>
          </p:nvSpPr>
          <p:spPr>
            <a:xfrm>
              <a:off x="9800082" y="2001393"/>
              <a:ext cx="285750" cy="2857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70154"/>
              </a:solidFill>
              <a:prstDash val="solid"/>
            </a:ln>
          </p:spPr>
        </p:sp>
        <p:sp>
          <p:nvSpPr>
            <p:cNvPr id="46" name="node01.branches.source-001.milestones.source-002.number"/>
            <p:cNvSpPr/>
            <p:nvPr/>
          </p:nvSpPr>
          <p:spPr>
            <a:xfrm>
              <a:off x="9790557" y="1991868"/>
              <a:ext cx="304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000"/>
                </a:lnSpc>
                <a:buNone/>
              </a:pPr>
              <a:r>
                <a:rPr lang="en-US" sz="10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A2</a:t>
              </a:r>
              <a:endParaRPr lang="en-US" sz="10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7" name="node01.branches.source-001.milestones.source-002.label.part-1"/>
            <p:cNvSpPr/>
            <p:nvPr/>
          </p:nvSpPr>
          <p:spPr>
            <a:xfrm>
              <a:off x="8646414" y="2372868"/>
              <a:ext cx="2593086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Q4 2027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8" name="node01.branches.source-001.milestones.source-002.label.part-2"/>
            <p:cNvSpPr/>
            <p:nvPr/>
          </p:nvSpPr>
          <p:spPr>
            <a:xfrm>
              <a:off x="8646414" y="2550668"/>
              <a:ext cx="2593086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44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Go live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49" name="node01.branches.source-001.milestones.source-002.label.part-3"/>
            <p:cNvSpPr/>
            <p:nvPr/>
          </p:nvSpPr>
          <p:spPr>
            <a:xfrm>
              <a:off x="8646414" y="2758948"/>
              <a:ext cx="2593086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5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All sites on one suite.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0" name="node01.branches.source-002.title.part-1"/>
            <p:cNvSpPr/>
            <p:nvPr/>
          </p:nvSpPr>
          <p:spPr>
            <a:xfrm>
              <a:off x="6463796" y="2973578"/>
              <a:ext cx="4618732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7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Build on our EHR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51" name="node01.branches.source-002.tag"/>
            <p:cNvSpPr/>
            <p:nvPr/>
          </p:nvSpPr>
          <p:spPr>
            <a:xfrm>
              <a:off x="5748528" y="3056446"/>
              <a:ext cx="626368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OPTION B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52" name="node01.branches.source-002.milestones.source-001.pin"/>
            <p:cNvSpPr/>
            <p:nvPr/>
          </p:nvSpPr>
          <p:spPr>
            <a:xfrm>
              <a:off x="7105396" y="3296793"/>
              <a:ext cx="285750" cy="2857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70154"/>
              </a:solidFill>
              <a:prstDash val="solid"/>
            </a:ln>
          </p:spPr>
        </p:sp>
        <p:sp>
          <p:nvSpPr>
            <p:cNvPr id="53" name="node01.branches.source-002.milestones.source-001.number"/>
            <p:cNvSpPr/>
            <p:nvPr/>
          </p:nvSpPr>
          <p:spPr>
            <a:xfrm>
              <a:off x="7095871" y="3287268"/>
              <a:ext cx="304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000"/>
                </a:lnSpc>
                <a:buNone/>
              </a:pPr>
              <a:r>
                <a:rPr lang="en-US" sz="10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B1</a:t>
              </a:r>
              <a:endParaRPr lang="en-US" sz="10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54" name="node01.branches.source-002.milestones.source-001.label.part-1"/>
            <p:cNvSpPr/>
            <p:nvPr/>
          </p:nvSpPr>
          <p:spPr>
            <a:xfrm>
              <a:off x="5951728" y="3668268"/>
              <a:ext cx="2593086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Q3 2027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55" name="node01.branches.source-002.milestones.source-001.label.part-2"/>
            <p:cNvSpPr/>
            <p:nvPr/>
          </p:nvSpPr>
          <p:spPr>
            <a:xfrm>
              <a:off x="5951728" y="3846068"/>
              <a:ext cx="2593086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44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Extend portal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56" name="node01.branches.source-002.milestones.source-001.label.part-3"/>
            <p:cNvSpPr/>
            <p:nvPr/>
          </p:nvSpPr>
          <p:spPr>
            <a:xfrm>
              <a:off x="5951728" y="4054348"/>
              <a:ext cx="2593086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5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Use the EHR's tools.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7" name="node01.branches.source-002.milestones.source-002.pin"/>
            <p:cNvSpPr/>
            <p:nvPr/>
          </p:nvSpPr>
          <p:spPr>
            <a:xfrm>
              <a:off x="9800082" y="3296793"/>
              <a:ext cx="285750" cy="2857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70154"/>
              </a:solidFill>
              <a:prstDash val="solid"/>
            </a:ln>
          </p:spPr>
        </p:sp>
        <p:sp>
          <p:nvSpPr>
            <p:cNvPr id="58" name="node01.branches.source-002.milestones.source-002.number"/>
            <p:cNvSpPr/>
            <p:nvPr/>
          </p:nvSpPr>
          <p:spPr>
            <a:xfrm>
              <a:off x="9790557" y="3287268"/>
              <a:ext cx="304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000"/>
                </a:lnSpc>
                <a:buNone/>
              </a:pPr>
              <a:r>
                <a:rPr lang="en-US" sz="10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B2</a:t>
              </a:r>
              <a:endParaRPr lang="en-US" sz="10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59" name="node01.branches.source-002.milestones.source-002.label.part-1"/>
            <p:cNvSpPr/>
            <p:nvPr/>
          </p:nvSpPr>
          <p:spPr>
            <a:xfrm>
              <a:off x="8646414" y="3668268"/>
              <a:ext cx="2593086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Q2 2028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60" name="node01.branches.source-002.milestones.source-002.label.part-2"/>
            <p:cNvSpPr/>
            <p:nvPr/>
          </p:nvSpPr>
          <p:spPr>
            <a:xfrm>
              <a:off x="8646414" y="3846068"/>
              <a:ext cx="2593086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44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Go live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61" name="node01.branches.source-002.milestones.source-002.label.part-3"/>
            <p:cNvSpPr/>
            <p:nvPr/>
          </p:nvSpPr>
          <p:spPr>
            <a:xfrm>
              <a:off x="8646414" y="4054348"/>
              <a:ext cx="2593086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5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Phased by region.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2" name="node01.branches.source-003.title.part-1"/>
            <p:cNvSpPr/>
            <p:nvPr/>
          </p:nvSpPr>
          <p:spPr>
            <a:xfrm>
              <a:off x="6463796" y="4268978"/>
              <a:ext cx="4618732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7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Partner and co-build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63" name="node01.branches.source-003.tag"/>
            <p:cNvSpPr/>
            <p:nvPr/>
          </p:nvSpPr>
          <p:spPr>
            <a:xfrm>
              <a:off x="5748528" y="4351846"/>
              <a:ext cx="626368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OPTION C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64" name="node01.branches.source-003.milestones.source-001.pin"/>
            <p:cNvSpPr/>
            <p:nvPr/>
          </p:nvSpPr>
          <p:spPr>
            <a:xfrm>
              <a:off x="7105396" y="4592193"/>
              <a:ext cx="285750" cy="2857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70154"/>
              </a:solidFill>
              <a:prstDash val="solid"/>
            </a:ln>
          </p:spPr>
        </p:sp>
        <p:sp>
          <p:nvSpPr>
            <p:cNvPr id="65" name="node01.branches.source-003.milestones.source-001.number"/>
            <p:cNvSpPr/>
            <p:nvPr/>
          </p:nvSpPr>
          <p:spPr>
            <a:xfrm>
              <a:off x="7095871" y="4582668"/>
              <a:ext cx="304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000"/>
                </a:lnSpc>
                <a:buNone/>
              </a:pPr>
              <a:r>
                <a:rPr lang="en-US" sz="10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C1</a:t>
              </a:r>
              <a:endParaRPr lang="en-US" sz="10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66" name="node01.branches.source-003.milestones.source-001.label.part-1"/>
            <p:cNvSpPr/>
            <p:nvPr/>
          </p:nvSpPr>
          <p:spPr>
            <a:xfrm>
              <a:off x="5951728" y="4963668"/>
              <a:ext cx="2593086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Q3 2027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67" name="node01.branches.source-003.milestones.source-001.label.part-2"/>
            <p:cNvSpPr/>
            <p:nvPr/>
          </p:nvSpPr>
          <p:spPr>
            <a:xfrm>
              <a:off x="5951728" y="5141468"/>
              <a:ext cx="2593086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44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Sign partner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68" name="node01.branches.source-003.milestones.source-001.label.part-3"/>
            <p:cNvSpPr/>
            <p:nvPr/>
          </p:nvSpPr>
          <p:spPr>
            <a:xfrm>
              <a:off x="5951728" y="5349748"/>
              <a:ext cx="2593086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5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Shared roadmap.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9" name="node01.branches.source-003.milestones.source-002.pin"/>
            <p:cNvSpPr/>
            <p:nvPr/>
          </p:nvSpPr>
          <p:spPr>
            <a:xfrm>
              <a:off x="9800082" y="4592193"/>
              <a:ext cx="285750" cy="2857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70154"/>
              </a:solidFill>
              <a:prstDash val="solid"/>
            </a:ln>
          </p:spPr>
        </p:sp>
        <p:sp>
          <p:nvSpPr>
            <p:cNvPr id="70" name="node01.branches.source-003.milestones.source-002.number"/>
            <p:cNvSpPr/>
            <p:nvPr/>
          </p:nvSpPr>
          <p:spPr>
            <a:xfrm>
              <a:off x="9790557" y="4582668"/>
              <a:ext cx="304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000"/>
                </a:lnSpc>
                <a:buNone/>
              </a:pPr>
              <a:r>
                <a:rPr lang="en-US" sz="10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C2</a:t>
              </a:r>
              <a:endParaRPr lang="en-US" sz="10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71" name="node01.branches.source-003.milestones.source-002.label.part-1"/>
            <p:cNvSpPr/>
            <p:nvPr/>
          </p:nvSpPr>
          <p:spPr>
            <a:xfrm>
              <a:off x="8646414" y="4963668"/>
              <a:ext cx="2593086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Q1 2028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72" name="node01.branches.source-003.milestones.source-002.label.part-2"/>
            <p:cNvSpPr/>
            <p:nvPr/>
          </p:nvSpPr>
          <p:spPr>
            <a:xfrm>
              <a:off x="8646414" y="5141468"/>
              <a:ext cx="2593086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44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Go live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73" name="node01.branches.source-003.milestones.source-002.label.part-3"/>
            <p:cNvSpPr/>
            <p:nvPr/>
          </p:nvSpPr>
          <p:spPr>
            <a:xfrm>
              <a:off x="8646414" y="5349748"/>
              <a:ext cx="2593086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5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Joint release.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4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ROADMAP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We chose to buy a platform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Northfield Health System digital front door program.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8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62" name="node01"/>
          <p:cNvGrpSpPr/>
          <p:nvPr/>
        </p:nvGrpSpPr>
        <p:grpSpPr>
          <a:xfrm>
            <a:off x="723900" y="1600200"/>
            <a:ext cx="10744200" cy="3352800"/>
            <a:chOff x="723900" y="1600200"/>
            <a:chExt cx="10744200" cy="3352800"/>
          </a:xfrm>
        </p:grpSpPr>
        <p:sp>
          <p:nvSpPr>
            <p:cNvPr id="7" name="node01.trunk.road"/>
            <p:cNvSpPr/>
            <p:nvPr/>
          </p:nvSpPr>
          <p:spPr>
            <a:xfrm>
              <a:off x="901700" y="3276600"/>
              <a:ext cx="3475228" cy="0"/>
            </a:xfrm>
            <a:custGeom>
              <a:avLst/>
              <a:gdLst/>
              <a:ahLst/>
              <a:cxnLst/>
              <a:rect l="l" t="t" r="r" b="b"/>
              <a:pathLst>
                <a:path w="3475228">
                  <a:moveTo>
                    <a:pt x="0" y="0"/>
                  </a:moveTo>
                  <a:lnTo>
                    <a:pt x="3475228" y="0"/>
                  </a:lnTo>
                </a:path>
              </a:pathLst>
            </a:custGeom>
            <a:ln w="228600">
              <a:solidFill>
                <a:srgbClr val="070154"/>
              </a:solidFill>
              <a:prstDash val="solid"/>
              <a:round/>
            </a:ln>
          </p:spPr>
        </p:sp>
        <p:sp>
          <p:nvSpPr>
            <p:cNvPr id="8" name="node01.trunk.road.cap-1"/>
            <p:cNvSpPr/>
            <p:nvPr/>
          </p:nvSpPr>
          <p:spPr>
            <a:xfrm>
              <a:off x="787400" y="3162300"/>
              <a:ext cx="228600" cy="2286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9" name="node01.trunk.road.cap-2"/>
            <p:cNvSpPr/>
            <p:nvPr/>
          </p:nvSpPr>
          <p:spPr>
            <a:xfrm>
              <a:off x="4262628" y="3162300"/>
              <a:ext cx="228600" cy="2286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0" name="node01.trunk.centerline"/>
            <p:cNvSpPr/>
            <p:nvPr/>
          </p:nvSpPr>
          <p:spPr>
            <a:xfrm>
              <a:off x="901700" y="3276600"/>
              <a:ext cx="3475228" cy="0"/>
            </a:xfrm>
            <a:custGeom>
              <a:avLst/>
              <a:gdLst/>
              <a:ahLst/>
              <a:cxnLst/>
              <a:rect l="l" t="t" r="r" b="b"/>
              <a:pathLst>
                <a:path w="3475228">
                  <a:moveTo>
                    <a:pt x="0" y="0"/>
                  </a:moveTo>
                  <a:lnTo>
                    <a:pt x="88900" y="0"/>
                  </a:lnTo>
                  <a:moveTo>
                    <a:pt x="177800" y="0"/>
                  </a:moveTo>
                  <a:lnTo>
                    <a:pt x="266700" y="0"/>
                  </a:lnTo>
                  <a:moveTo>
                    <a:pt x="355600" y="0"/>
                  </a:moveTo>
                  <a:lnTo>
                    <a:pt x="444500" y="0"/>
                  </a:lnTo>
                  <a:moveTo>
                    <a:pt x="533400" y="0"/>
                  </a:moveTo>
                  <a:lnTo>
                    <a:pt x="622300" y="0"/>
                  </a:lnTo>
                  <a:moveTo>
                    <a:pt x="711200" y="0"/>
                  </a:moveTo>
                  <a:lnTo>
                    <a:pt x="800100" y="0"/>
                  </a:lnTo>
                  <a:moveTo>
                    <a:pt x="889000" y="0"/>
                  </a:moveTo>
                  <a:lnTo>
                    <a:pt x="977900" y="0"/>
                  </a:lnTo>
                  <a:moveTo>
                    <a:pt x="1066800" y="0"/>
                  </a:moveTo>
                  <a:lnTo>
                    <a:pt x="1155700" y="0"/>
                  </a:lnTo>
                  <a:moveTo>
                    <a:pt x="1244600" y="0"/>
                  </a:moveTo>
                  <a:lnTo>
                    <a:pt x="1333500" y="0"/>
                  </a:lnTo>
                  <a:moveTo>
                    <a:pt x="1422400" y="0"/>
                  </a:moveTo>
                  <a:lnTo>
                    <a:pt x="1511300" y="0"/>
                  </a:lnTo>
                  <a:moveTo>
                    <a:pt x="1600200" y="0"/>
                  </a:moveTo>
                  <a:lnTo>
                    <a:pt x="1689100" y="0"/>
                  </a:lnTo>
                  <a:moveTo>
                    <a:pt x="1778000" y="0"/>
                  </a:moveTo>
                  <a:lnTo>
                    <a:pt x="1866900" y="0"/>
                  </a:lnTo>
                  <a:moveTo>
                    <a:pt x="1955800" y="0"/>
                  </a:moveTo>
                  <a:lnTo>
                    <a:pt x="2044700" y="0"/>
                  </a:lnTo>
                  <a:moveTo>
                    <a:pt x="2133600" y="0"/>
                  </a:moveTo>
                  <a:lnTo>
                    <a:pt x="2222500" y="0"/>
                  </a:lnTo>
                  <a:moveTo>
                    <a:pt x="2311400" y="0"/>
                  </a:moveTo>
                  <a:lnTo>
                    <a:pt x="2400300" y="0"/>
                  </a:lnTo>
                  <a:moveTo>
                    <a:pt x="2489200" y="0"/>
                  </a:moveTo>
                  <a:lnTo>
                    <a:pt x="2578100" y="0"/>
                  </a:lnTo>
                  <a:moveTo>
                    <a:pt x="2667000" y="0"/>
                  </a:moveTo>
                  <a:lnTo>
                    <a:pt x="2755900" y="0"/>
                  </a:lnTo>
                  <a:moveTo>
                    <a:pt x="2844800" y="0"/>
                  </a:moveTo>
                  <a:lnTo>
                    <a:pt x="2933700" y="0"/>
                  </a:lnTo>
                  <a:moveTo>
                    <a:pt x="3022600" y="0"/>
                  </a:moveTo>
                  <a:lnTo>
                    <a:pt x="3111500" y="0"/>
                  </a:lnTo>
                  <a:moveTo>
                    <a:pt x="3200400" y="0"/>
                  </a:moveTo>
                  <a:lnTo>
                    <a:pt x="3289300" y="0"/>
                  </a:lnTo>
                  <a:moveTo>
                    <a:pt x="3378200" y="0"/>
                  </a:moveTo>
                  <a:lnTo>
                    <a:pt x="3467100" y="0"/>
                  </a:lnTo>
                </a:path>
              </a:pathLst>
            </a:custGeom>
            <a:ln w="19050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1" name="node01.branches.source-002.road"/>
            <p:cNvSpPr/>
            <p:nvPr/>
          </p:nvSpPr>
          <p:spPr>
            <a:xfrm>
              <a:off x="4376928" y="3276600"/>
              <a:ext cx="6913372" cy="704088"/>
            </a:xfrm>
            <a:custGeom>
              <a:avLst/>
              <a:gdLst/>
              <a:ahLst/>
              <a:cxnLst/>
              <a:rect l="l" t="t" r="r" b="b"/>
              <a:pathLst>
                <a:path w="6913372" h="704088">
                  <a:moveTo>
                    <a:pt x="0" y="0"/>
                  </a:moveTo>
                  <a:cubicBezTo>
                    <a:pt x="754380" y="0"/>
                    <a:pt x="617220" y="704088"/>
                    <a:pt x="1371600" y="704088"/>
                  </a:cubicBezTo>
                  <a:lnTo>
                    <a:pt x="6913372" y="704088"/>
                  </a:lnTo>
                </a:path>
              </a:pathLst>
            </a:custGeom>
            <a:ln w="228600">
              <a:solidFill>
                <a:srgbClr val="CED7E6"/>
              </a:solidFill>
              <a:prstDash val="solid"/>
              <a:round/>
            </a:ln>
          </p:spPr>
        </p:sp>
        <p:sp>
          <p:nvSpPr>
            <p:cNvPr id="12" name="node01.branches.source-002.road.cap-1"/>
            <p:cNvSpPr/>
            <p:nvPr/>
          </p:nvSpPr>
          <p:spPr>
            <a:xfrm>
              <a:off x="4262628" y="3162300"/>
              <a:ext cx="228600" cy="228600"/>
            </a:xfrm>
            <a:prstGeom prst="ellipse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13" name="node01.branches.source-002.road.cap-2"/>
            <p:cNvSpPr/>
            <p:nvPr/>
          </p:nvSpPr>
          <p:spPr>
            <a:xfrm>
              <a:off x="11176000" y="3866388"/>
              <a:ext cx="228600" cy="228600"/>
            </a:xfrm>
            <a:prstGeom prst="ellipse">
              <a:avLst/>
            </a:prstGeom>
            <a:solidFill>
              <a:srgbClr val="CED7E6"/>
            </a:solidFill>
            <a:ln>
              <a:noFill/>
            </a:ln>
          </p:spPr>
        </p:sp>
        <p:sp>
          <p:nvSpPr>
            <p:cNvPr id="14" name="node01.branches.source-002.centerline"/>
            <p:cNvSpPr/>
            <p:nvPr/>
          </p:nvSpPr>
          <p:spPr>
            <a:xfrm>
              <a:off x="4376928" y="3276600"/>
              <a:ext cx="6913372" cy="704088"/>
            </a:xfrm>
            <a:custGeom>
              <a:avLst/>
              <a:gdLst/>
              <a:ahLst/>
              <a:cxnLst/>
              <a:rect l="l" t="t" r="r" b="b"/>
              <a:pathLst>
                <a:path w="6913372" h="704088">
                  <a:moveTo>
                    <a:pt x="0" y="0"/>
                  </a:moveTo>
                  <a:cubicBezTo>
                    <a:pt x="12958" y="0"/>
                    <a:pt x="25654" y="208"/>
                    <a:pt x="38095" y="616"/>
                  </a:cubicBezTo>
                  <a:moveTo>
                    <a:pt x="101460" y="4596"/>
                  </a:moveTo>
                  <a:cubicBezTo>
                    <a:pt x="114368" y="5814"/>
                    <a:pt x="126980" y="7266"/>
                    <a:pt x="139308" y="8942"/>
                  </a:cubicBezTo>
                  <a:moveTo>
                    <a:pt x="201854" y="19822"/>
                  </a:moveTo>
                  <a:cubicBezTo>
                    <a:pt x="214521" y="22534"/>
                    <a:pt x="226863" y="25502"/>
                    <a:pt x="238898" y="28713"/>
                  </a:cubicBezTo>
                  <a:moveTo>
                    <a:pt x="299451" y="47762"/>
                  </a:moveTo>
                  <a:cubicBezTo>
                    <a:pt x="311581" y="52190"/>
                    <a:pt x="323375" y="56884"/>
                    <a:pt x="334856" y="61825"/>
                  </a:cubicBezTo>
                  <a:moveTo>
                    <a:pt x="391897" y="89671"/>
                  </a:moveTo>
                  <a:cubicBezTo>
                    <a:pt x="403158" y="95851"/>
                    <a:pt x="414103" y="102280"/>
                    <a:pt x="424762" y="108936"/>
                  </a:cubicBezTo>
                  <a:moveTo>
                    <a:pt x="477045" y="144937"/>
                  </a:moveTo>
                  <a:cubicBezTo>
                    <a:pt x="487244" y="152631"/>
                    <a:pt x="497183" y="160529"/>
                    <a:pt x="506897" y="168606"/>
                  </a:cubicBezTo>
                  <a:moveTo>
                    <a:pt x="554270" y="210873"/>
                  </a:moveTo>
                  <a:cubicBezTo>
                    <a:pt x="563490" y="219647"/>
                    <a:pt x="572532" y="228561"/>
                    <a:pt x="581432" y="237588"/>
                  </a:cubicBezTo>
                  <a:moveTo>
                    <a:pt x="625069" y="283714"/>
                  </a:moveTo>
                  <a:cubicBezTo>
                    <a:pt x="633639" y="293095"/>
                    <a:pt x="642124" y="302543"/>
                    <a:pt x="650559" y="312031"/>
                  </a:cubicBezTo>
                  <a:moveTo>
                    <a:pt x="692511" y="359699"/>
                  </a:moveTo>
                  <a:cubicBezTo>
                    <a:pt x="700885" y="369245"/>
                    <a:pt x="709267" y="378785"/>
                    <a:pt x="717695" y="388288"/>
                  </a:cubicBezTo>
                  <a:moveTo>
                    <a:pt x="760337" y="435339"/>
                  </a:moveTo>
                  <a:cubicBezTo>
                    <a:pt x="768988" y="444619"/>
                    <a:pt x="777743" y="453816"/>
                    <a:pt x="786636" y="462904"/>
                  </a:cubicBezTo>
                  <a:moveTo>
                    <a:pt x="832215" y="507107"/>
                  </a:moveTo>
                  <a:cubicBezTo>
                    <a:pt x="841552" y="515648"/>
                    <a:pt x="851081" y="524038"/>
                    <a:pt x="860838" y="532249"/>
                  </a:cubicBezTo>
                  <a:moveTo>
                    <a:pt x="910973" y="571191"/>
                  </a:moveTo>
                  <a:cubicBezTo>
                    <a:pt x="921231" y="578500"/>
                    <a:pt x="931755" y="585601"/>
                    <a:pt x="942574" y="592467"/>
                  </a:cubicBezTo>
                  <a:moveTo>
                    <a:pt x="997699" y="623938"/>
                  </a:moveTo>
                  <a:cubicBezTo>
                    <a:pt x="1008859" y="629625"/>
                    <a:pt x="1020325" y="635071"/>
                    <a:pt x="1032123" y="640254"/>
                  </a:cubicBezTo>
                  <a:moveTo>
                    <a:pt x="1091375" y="663025"/>
                  </a:moveTo>
                  <a:cubicBezTo>
                    <a:pt x="1103209" y="666956"/>
                    <a:pt x="1115357" y="670639"/>
                    <a:pt x="1127837" y="674060"/>
                  </a:cubicBezTo>
                  <a:moveTo>
                    <a:pt x="1189707" y="688274"/>
                  </a:moveTo>
                  <a:cubicBezTo>
                    <a:pt x="1201938" y="690570"/>
                    <a:pt x="1214464" y="692634"/>
                    <a:pt x="1227299" y="694453"/>
                  </a:cubicBezTo>
                  <a:moveTo>
                    <a:pt x="1290429" y="701194"/>
                  </a:moveTo>
                  <a:cubicBezTo>
                    <a:pt x="1302839" y="702108"/>
                    <a:pt x="1315516" y="702811"/>
                    <a:pt x="1328470" y="703295"/>
                  </a:cubicBezTo>
                  <a:moveTo>
                    <a:pt x="1391960" y="704088"/>
                  </a:moveTo>
                  <a:lnTo>
                    <a:pt x="1430060" y="704088"/>
                  </a:lnTo>
                  <a:moveTo>
                    <a:pt x="1493560" y="704088"/>
                  </a:moveTo>
                  <a:lnTo>
                    <a:pt x="1531660" y="704088"/>
                  </a:lnTo>
                  <a:moveTo>
                    <a:pt x="1595160" y="704088"/>
                  </a:moveTo>
                  <a:lnTo>
                    <a:pt x="1633260" y="704088"/>
                  </a:lnTo>
                  <a:moveTo>
                    <a:pt x="1696760" y="704088"/>
                  </a:moveTo>
                  <a:lnTo>
                    <a:pt x="1734860" y="704088"/>
                  </a:lnTo>
                  <a:moveTo>
                    <a:pt x="1798360" y="704088"/>
                  </a:moveTo>
                  <a:lnTo>
                    <a:pt x="1836460" y="704088"/>
                  </a:lnTo>
                  <a:moveTo>
                    <a:pt x="1899960" y="704088"/>
                  </a:moveTo>
                  <a:lnTo>
                    <a:pt x="1938060" y="704088"/>
                  </a:lnTo>
                  <a:moveTo>
                    <a:pt x="2001560" y="704088"/>
                  </a:moveTo>
                  <a:lnTo>
                    <a:pt x="2039660" y="704088"/>
                  </a:lnTo>
                  <a:moveTo>
                    <a:pt x="2103160" y="704088"/>
                  </a:moveTo>
                  <a:lnTo>
                    <a:pt x="2141260" y="704088"/>
                  </a:lnTo>
                  <a:moveTo>
                    <a:pt x="2204760" y="704088"/>
                  </a:moveTo>
                  <a:lnTo>
                    <a:pt x="2242860" y="704088"/>
                  </a:lnTo>
                  <a:moveTo>
                    <a:pt x="2306360" y="704088"/>
                  </a:moveTo>
                  <a:lnTo>
                    <a:pt x="2344460" y="704088"/>
                  </a:lnTo>
                  <a:moveTo>
                    <a:pt x="2407960" y="704088"/>
                  </a:moveTo>
                  <a:lnTo>
                    <a:pt x="2446060" y="704088"/>
                  </a:lnTo>
                  <a:moveTo>
                    <a:pt x="2509560" y="704088"/>
                  </a:moveTo>
                  <a:lnTo>
                    <a:pt x="2547660" y="704088"/>
                  </a:lnTo>
                  <a:moveTo>
                    <a:pt x="2611160" y="704088"/>
                  </a:moveTo>
                  <a:lnTo>
                    <a:pt x="2649260" y="704088"/>
                  </a:lnTo>
                  <a:moveTo>
                    <a:pt x="2712760" y="704088"/>
                  </a:moveTo>
                  <a:lnTo>
                    <a:pt x="2750860" y="704088"/>
                  </a:lnTo>
                  <a:moveTo>
                    <a:pt x="2814360" y="704088"/>
                  </a:moveTo>
                  <a:lnTo>
                    <a:pt x="2852460" y="704088"/>
                  </a:lnTo>
                  <a:moveTo>
                    <a:pt x="2915960" y="704088"/>
                  </a:moveTo>
                  <a:lnTo>
                    <a:pt x="2954060" y="704088"/>
                  </a:lnTo>
                  <a:moveTo>
                    <a:pt x="3017560" y="704088"/>
                  </a:moveTo>
                  <a:lnTo>
                    <a:pt x="3055660" y="704088"/>
                  </a:lnTo>
                  <a:moveTo>
                    <a:pt x="3119160" y="704088"/>
                  </a:moveTo>
                  <a:lnTo>
                    <a:pt x="3157260" y="704088"/>
                  </a:lnTo>
                  <a:moveTo>
                    <a:pt x="3220760" y="704088"/>
                  </a:moveTo>
                  <a:lnTo>
                    <a:pt x="3258860" y="704088"/>
                  </a:lnTo>
                  <a:moveTo>
                    <a:pt x="3322360" y="704088"/>
                  </a:moveTo>
                  <a:lnTo>
                    <a:pt x="3360460" y="704088"/>
                  </a:lnTo>
                  <a:moveTo>
                    <a:pt x="3423960" y="704088"/>
                  </a:moveTo>
                  <a:lnTo>
                    <a:pt x="3462060" y="704088"/>
                  </a:lnTo>
                  <a:moveTo>
                    <a:pt x="3525560" y="704088"/>
                  </a:moveTo>
                  <a:lnTo>
                    <a:pt x="3563660" y="704088"/>
                  </a:lnTo>
                  <a:moveTo>
                    <a:pt x="3627160" y="704088"/>
                  </a:moveTo>
                  <a:lnTo>
                    <a:pt x="3665260" y="704088"/>
                  </a:lnTo>
                  <a:moveTo>
                    <a:pt x="3728760" y="704088"/>
                  </a:moveTo>
                  <a:lnTo>
                    <a:pt x="3766860" y="704088"/>
                  </a:lnTo>
                  <a:moveTo>
                    <a:pt x="3830360" y="704088"/>
                  </a:moveTo>
                  <a:lnTo>
                    <a:pt x="3868460" y="704088"/>
                  </a:lnTo>
                  <a:moveTo>
                    <a:pt x="3931960" y="704088"/>
                  </a:moveTo>
                  <a:lnTo>
                    <a:pt x="3970060" y="704088"/>
                  </a:lnTo>
                  <a:moveTo>
                    <a:pt x="4033560" y="704088"/>
                  </a:moveTo>
                  <a:lnTo>
                    <a:pt x="4071660" y="704088"/>
                  </a:lnTo>
                  <a:moveTo>
                    <a:pt x="4135160" y="704088"/>
                  </a:moveTo>
                  <a:lnTo>
                    <a:pt x="4173260" y="704088"/>
                  </a:lnTo>
                  <a:moveTo>
                    <a:pt x="4236760" y="704088"/>
                  </a:moveTo>
                  <a:lnTo>
                    <a:pt x="4274860" y="704088"/>
                  </a:lnTo>
                  <a:moveTo>
                    <a:pt x="4338360" y="704088"/>
                  </a:moveTo>
                  <a:lnTo>
                    <a:pt x="4376460" y="704088"/>
                  </a:lnTo>
                  <a:moveTo>
                    <a:pt x="4439960" y="704088"/>
                  </a:moveTo>
                  <a:lnTo>
                    <a:pt x="4478060" y="704088"/>
                  </a:lnTo>
                  <a:moveTo>
                    <a:pt x="4541560" y="704088"/>
                  </a:moveTo>
                  <a:lnTo>
                    <a:pt x="4579660" y="704088"/>
                  </a:lnTo>
                  <a:moveTo>
                    <a:pt x="4643160" y="704088"/>
                  </a:moveTo>
                  <a:lnTo>
                    <a:pt x="4681260" y="704088"/>
                  </a:lnTo>
                  <a:moveTo>
                    <a:pt x="4744760" y="704088"/>
                  </a:moveTo>
                  <a:lnTo>
                    <a:pt x="4782860" y="704088"/>
                  </a:lnTo>
                  <a:moveTo>
                    <a:pt x="4846360" y="704088"/>
                  </a:moveTo>
                  <a:lnTo>
                    <a:pt x="4884460" y="704088"/>
                  </a:lnTo>
                  <a:moveTo>
                    <a:pt x="4947960" y="704088"/>
                  </a:moveTo>
                  <a:lnTo>
                    <a:pt x="4986060" y="704088"/>
                  </a:lnTo>
                  <a:moveTo>
                    <a:pt x="5049560" y="704088"/>
                  </a:moveTo>
                  <a:lnTo>
                    <a:pt x="5087660" y="704088"/>
                  </a:lnTo>
                  <a:moveTo>
                    <a:pt x="5151160" y="704088"/>
                  </a:moveTo>
                  <a:lnTo>
                    <a:pt x="5189260" y="704088"/>
                  </a:lnTo>
                  <a:moveTo>
                    <a:pt x="5252760" y="704088"/>
                  </a:moveTo>
                  <a:lnTo>
                    <a:pt x="5290860" y="704088"/>
                  </a:lnTo>
                  <a:moveTo>
                    <a:pt x="5354360" y="704088"/>
                  </a:moveTo>
                  <a:lnTo>
                    <a:pt x="5392460" y="704088"/>
                  </a:lnTo>
                  <a:moveTo>
                    <a:pt x="5455960" y="704088"/>
                  </a:moveTo>
                  <a:lnTo>
                    <a:pt x="5494060" y="704088"/>
                  </a:lnTo>
                  <a:moveTo>
                    <a:pt x="5557560" y="704088"/>
                  </a:moveTo>
                  <a:lnTo>
                    <a:pt x="5595660" y="704088"/>
                  </a:lnTo>
                  <a:moveTo>
                    <a:pt x="5659160" y="704088"/>
                  </a:moveTo>
                  <a:lnTo>
                    <a:pt x="5697260" y="704088"/>
                  </a:lnTo>
                  <a:moveTo>
                    <a:pt x="5760760" y="704088"/>
                  </a:moveTo>
                  <a:lnTo>
                    <a:pt x="5798860" y="704088"/>
                  </a:lnTo>
                  <a:moveTo>
                    <a:pt x="5862360" y="704088"/>
                  </a:moveTo>
                  <a:lnTo>
                    <a:pt x="5900460" y="704088"/>
                  </a:lnTo>
                  <a:moveTo>
                    <a:pt x="5963960" y="704088"/>
                  </a:moveTo>
                  <a:lnTo>
                    <a:pt x="6002060" y="704088"/>
                  </a:lnTo>
                  <a:moveTo>
                    <a:pt x="6065560" y="704088"/>
                  </a:moveTo>
                  <a:lnTo>
                    <a:pt x="6103660" y="704088"/>
                  </a:lnTo>
                  <a:moveTo>
                    <a:pt x="6167160" y="704088"/>
                  </a:moveTo>
                  <a:lnTo>
                    <a:pt x="6205260" y="704088"/>
                  </a:lnTo>
                  <a:moveTo>
                    <a:pt x="6268760" y="704088"/>
                  </a:moveTo>
                  <a:lnTo>
                    <a:pt x="6306860" y="704088"/>
                  </a:lnTo>
                  <a:moveTo>
                    <a:pt x="6370360" y="704088"/>
                  </a:moveTo>
                  <a:lnTo>
                    <a:pt x="6408460" y="704088"/>
                  </a:lnTo>
                  <a:moveTo>
                    <a:pt x="6471960" y="704088"/>
                  </a:moveTo>
                  <a:lnTo>
                    <a:pt x="6510060" y="704088"/>
                  </a:lnTo>
                  <a:moveTo>
                    <a:pt x="6573560" y="704088"/>
                  </a:moveTo>
                  <a:lnTo>
                    <a:pt x="6611660" y="704088"/>
                  </a:lnTo>
                  <a:moveTo>
                    <a:pt x="6675160" y="704088"/>
                  </a:moveTo>
                  <a:lnTo>
                    <a:pt x="6713260" y="704088"/>
                  </a:lnTo>
                  <a:moveTo>
                    <a:pt x="6776760" y="704088"/>
                  </a:moveTo>
                  <a:lnTo>
                    <a:pt x="6814860" y="704088"/>
                  </a:lnTo>
                  <a:moveTo>
                    <a:pt x="6878360" y="704088"/>
                  </a:moveTo>
                  <a:lnTo>
                    <a:pt x="6913372" y="704088"/>
                  </a:lnTo>
                </a:path>
              </a:pathLst>
            </a:custGeom>
            <a:ln w="19050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5" name="node01.branches.source-001.road"/>
            <p:cNvSpPr/>
            <p:nvPr/>
          </p:nvSpPr>
          <p:spPr>
            <a:xfrm>
              <a:off x="4376928" y="2304288"/>
              <a:ext cx="6913372" cy="972312"/>
            </a:xfrm>
            <a:custGeom>
              <a:avLst/>
              <a:gdLst/>
              <a:ahLst/>
              <a:cxnLst/>
              <a:rect l="l" t="t" r="r" b="b"/>
              <a:pathLst>
                <a:path w="6913372" h="972312">
                  <a:moveTo>
                    <a:pt x="0" y="972312"/>
                  </a:moveTo>
                  <a:cubicBezTo>
                    <a:pt x="754380" y="972312"/>
                    <a:pt x="617220" y="0"/>
                    <a:pt x="1371600" y="0"/>
                  </a:cubicBezTo>
                  <a:lnTo>
                    <a:pt x="6913372" y="0"/>
                  </a:lnTo>
                </a:path>
              </a:pathLst>
            </a:custGeom>
            <a:ln w="228600">
              <a:solidFill>
                <a:srgbClr val="070154"/>
              </a:solidFill>
              <a:prstDash val="solid"/>
              <a:round/>
            </a:ln>
          </p:spPr>
        </p:sp>
        <p:sp>
          <p:nvSpPr>
            <p:cNvPr id="16" name="node01.branches.source-001.road.cap-1"/>
            <p:cNvSpPr/>
            <p:nvPr/>
          </p:nvSpPr>
          <p:spPr>
            <a:xfrm>
              <a:off x="4262628" y="3162300"/>
              <a:ext cx="228600" cy="2286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7" name="node01.branches.source-001.road.cap-2"/>
            <p:cNvSpPr/>
            <p:nvPr/>
          </p:nvSpPr>
          <p:spPr>
            <a:xfrm>
              <a:off x="11176000" y="2189988"/>
              <a:ext cx="228600" cy="2286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8" name="node01.branches.source-001.centerline"/>
            <p:cNvSpPr/>
            <p:nvPr/>
          </p:nvSpPr>
          <p:spPr>
            <a:xfrm>
              <a:off x="4376928" y="2304288"/>
              <a:ext cx="6913372" cy="972312"/>
            </a:xfrm>
            <a:custGeom>
              <a:avLst/>
              <a:gdLst/>
              <a:ahLst/>
              <a:cxnLst/>
              <a:rect l="l" t="t" r="r" b="b"/>
              <a:pathLst>
                <a:path w="6913372" h="972312">
                  <a:moveTo>
                    <a:pt x="0" y="972312"/>
                  </a:moveTo>
                  <a:cubicBezTo>
                    <a:pt x="31043" y="972312"/>
                    <a:pt x="60576" y="970666"/>
                    <a:pt x="88724" y="967508"/>
                  </a:cubicBezTo>
                  <a:moveTo>
                    <a:pt x="176182" y="951926"/>
                  </a:moveTo>
                  <a:cubicBezTo>
                    <a:pt x="205977" y="944501"/>
                    <a:pt x="234034" y="935181"/>
                    <a:pt x="260558" y="924188"/>
                  </a:cubicBezTo>
                  <a:moveTo>
                    <a:pt x="339754" y="883992"/>
                  </a:moveTo>
                  <a:cubicBezTo>
                    <a:pt x="365357" y="868439"/>
                    <a:pt x="389397" y="851182"/>
                    <a:pt x="412135" y="832505"/>
                  </a:cubicBezTo>
                  <a:moveTo>
                    <a:pt x="477198" y="772001"/>
                  </a:moveTo>
                  <a:cubicBezTo>
                    <a:pt x="497622" y="750714"/>
                    <a:pt x="517006" y="728294"/>
                    <a:pt x="535615" y="705029"/>
                  </a:cubicBezTo>
                  <a:moveTo>
                    <a:pt x="588802" y="633812"/>
                  </a:moveTo>
                  <a:cubicBezTo>
                    <a:pt x="605767" y="609683"/>
                    <a:pt x="622241" y="585018"/>
                    <a:pt x="638472" y="560087"/>
                  </a:cubicBezTo>
                  <a:moveTo>
                    <a:pt x="686399" y="485213"/>
                  </a:moveTo>
                  <a:cubicBezTo>
                    <a:pt x="702297" y="460168"/>
                    <a:pt x="718199" y="435126"/>
                    <a:pt x="734348" y="410353"/>
                  </a:cubicBezTo>
                  <a:moveTo>
                    <a:pt x="784084" y="336674"/>
                  </a:moveTo>
                  <a:cubicBezTo>
                    <a:pt x="801256" y="312315"/>
                    <a:pt x="818937" y="288511"/>
                    <a:pt x="837382" y="265540"/>
                  </a:cubicBezTo>
                  <a:moveTo>
                    <a:pt x="895951" y="198701"/>
                  </a:moveTo>
                  <a:cubicBezTo>
                    <a:pt x="916550" y="177345"/>
                    <a:pt x="938207" y="157144"/>
                    <a:pt x="961193" y="138392"/>
                  </a:cubicBezTo>
                  <a:moveTo>
                    <a:pt x="1033757" y="87164"/>
                  </a:moveTo>
                  <a:cubicBezTo>
                    <a:pt x="1058652" y="72171"/>
                    <a:pt x="1085022" y="58786"/>
                    <a:pt x="1113107" y="47273"/>
                  </a:cubicBezTo>
                  <a:moveTo>
                    <a:pt x="1197586" y="19850"/>
                  </a:moveTo>
                  <a:cubicBezTo>
                    <a:pt x="1225212" y="13070"/>
                    <a:pt x="1254328" y="7914"/>
                    <a:pt x="1285094" y="4558"/>
                  </a:cubicBezTo>
                  <a:moveTo>
                    <a:pt x="1373834" y="0"/>
                  </a:moveTo>
                  <a:lnTo>
                    <a:pt x="1462734" y="0"/>
                  </a:lnTo>
                  <a:moveTo>
                    <a:pt x="1551634" y="0"/>
                  </a:moveTo>
                  <a:lnTo>
                    <a:pt x="1640534" y="0"/>
                  </a:lnTo>
                  <a:moveTo>
                    <a:pt x="1729434" y="0"/>
                  </a:moveTo>
                  <a:lnTo>
                    <a:pt x="1818334" y="0"/>
                  </a:lnTo>
                  <a:moveTo>
                    <a:pt x="1907234" y="0"/>
                  </a:moveTo>
                  <a:lnTo>
                    <a:pt x="1996134" y="0"/>
                  </a:lnTo>
                  <a:moveTo>
                    <a:pt x="2085034" y="0"/>
                  </a:moveTo>
                  <a:lnTo>
                    <a:pt x="2173934" y="0"/>
                  </a:lnTo>
                  <a:moveTo>
                    <a:pt x="2262834" y="0"/>
                  </a:moveTo>
                  <a:lnTo>
                    <a:pt x="2351734" y="0"/>
                  </a:lnTo>
                  <a:moveTo>
                    <a:pt x="2440634" y="0"/>
                  </a:moveTo>
                  <a:lnTo>
                    <a:pt x="2529534" y="0"/>
                  </a:lnTo>
                  <a:moveTo>
                    <a:pt x="2618434" y="0"/>
                  </a:moveTo>
                  <a:lnTo>
                    <a:pt x="2707334" y="0"/>
                  </a:lnTo>
                  <a:moveTo>
                    <a:pt x="2796234" y="0"/>
                  </a:moveTo>
                  <a:lnTo>
                    <a:pt x="2885134" y="0"/>
                  </a:lnTo>
                  <a:moveTo>
                    <a:pt x="2974034" y="0"/>
                  </a:moveTo>
                  <a:lnTo>
                    <a:pt x="3062934" y="0"/>
                  </a:lnTo>
                  <a:moveTo>
                    <a:pt x="3151834" y="0"/>
                  </a:moveTo>
                  <a:lnTo>
                    <a:pt x="3240734" y="0"/>
                  </a:lnTo>
                  <a:moveTo>
                    <a:pt x="3329634" y="0"/>
                  </a:moveTo>
                  <a:lnTo>
                    <a:pt x="3418534" y="0"/>
                  </a:lnTo>
                  <a:moveTo>
                    <a:pt x="3507434" y="0"/>
                  </a:moveTo>
                  <a:lnTo>
                    <a:pt x="3596334" y="0"/>
                  </a:lnTo>
                  <a:moveTo>
                    <a:pt x="3685234" y="0"/>
                  </a:moveTo>
                  <a:lnTo>
                    <a:pt x="3774134" y="0"/>
                  </a:lnTo>
                  <a:moveTo>
                    <a:pt x="3863034" y="0"/>
                  </a:moveTo>
                  <a:lnTo>
                    <a:pt x="3951934" y="0"/>
                  </a:lnTo>
                  <a:moveTo>
                    <a:pt x="4040834" y="0"/>
                  </a:moveTo>
                  <a:lnTo>
                    <a:pt x="4129734" y="0"/>
                  </a:lnTo>
                  <a:moveTo>
                    <a:pt x="4218634" y="0"/>
                  </a:moveTo>
                  <a:lnTo>
                    <a:pt x="4307534" y="0"/>
                  </a:lnTo>
                  <a:moveTo>
                    <a:pt x="4396434" y="0"/>
                  </a:moveTo>
                  <a:lnTo>
                    <a:pt x="4485334" y="0"/>
                  </a:lnTo>
                  <a:moveTo>
                    <a:pt x="4574234" y="0"/>
                  </a:moveTo>
                  <a:lnTo>
                    <a:pt x="4663134" y="0"/>
                  </a:lnTo>
                  <a:moveTo>
                    <a:pt x="4752034" y="0"/>
                  </a:moveTo>
                  <a:lnTo>
                    <a:pt x="4840934" y="0"/>
                  </a:lnTo>
                  <a:moveTo>
                    <a:pt x="4929834" y="0"/>
                  </a:moveTo>
                  <a:lnTo>
                    <a:pt x="5018734" y="0"/>
                  </a:lnTo>
                  <a:moveTo>
                    <a:pt x="5107634" y="0"/>
                  </a:moveTo>
                  <a:lnTo>
                    <a:pt x="5196534" y="0"/>
                  </a:lnTo>
                  <a:moveTo>
                    <a:pt x="5285434" y="0"/>
                  </a:moveTo>
                  <a:lnTo>
                    <a:pt x="5374334" y="0"/>
                  </a:lnTo>
                  <a:moveTo>
                    <a:pt x="5463234" y="0"/>
                  </a:moveTo>
                  <a:lnTo>
                    <a:pt x="5552134" y="0"/>
                  </a:lnTo>
                  <a:moveTo>
                    <a:pt x="5641034" y="0"/>
                  </a:moveTo>
                  <a:lnTo>
                    <a:pt x="5729934" y="0"/>
                  </a:lnTo>
                  <a:moveTo>
                    <a:pt x="5818834" y="0"/>
                  </a:moveTo>
                  <a:lnTo>
                    <a:pt x="5907734" y="0"/>
                  </a:lnTo>
                  <a:moveTo>
                    <a:pt x="5996634" y="0"/>
                  </a:moveTo>
                  <a:lnTo>
                    <a:pt x="6085534" y="0"/>
                  </a:lnTo>
                  <a:moveTo>
                    <a:pt x="6174434" y="0"/>
                  </a:moveTo>
                  <a:lnTo>
                    <a:pt x="6263334" y="0"/>
                  </a:lnTo>
                  <a:moveTo>
                    <a:pt x="6352234" y="0"/>
                  </a:moveTo>
                  <a:lnTo>
                    <a:pt x="6441134" y="0"/>
                  </a:lnTo>
                  <a:moveTo>
                    <a:pt x="6530034" y="0"/>
                  </a:moveTo>
                  <a:lnTo>
                    <a:pt x="6618934" y="0"/>
                  </a:lnTo>
                  <a:moveTo>
                    <a:pt x="6707834" y="0"/>
                  </a:moveTo>
                  <a:lnTo>
                    <a:pt x="6796734" y="0"/>
                  </a:lnTo>
                  <a:moveTo>
                    <a:pt x="6885634" y="0"/>
                  </a:moveTo>
                  <a:lnTo>
                    <a:pt x="6913372" y="0"/>
                  </a:lnTo>
                </a:path>
              </a:pathLst>
            </a:custGeom>
            <a:ln w="19050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9" name="node01.trunk.source-001.pin"/>
            <p:cNvSpPr/>
            <p:nvPr/>
          </p:nvSpPr>
          <p:spPr>
            <a:xfrm>
              <a:off x="1760982" y="313372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70154"/>
              </a:solidFill>
              <a:prstDash val="solid"/>
            </a:ln>
          </p:spPr>
        </p:sp>
        <p:sp>
          <p:nvSpPr>
            <p:cNvPr id="20" name="node01.trunk.source-001.number"/>
            <p:cNvSpPr/>
            <p:nvPr/>
          </p:nvSpPr>
          <p:spPr>
            <a:xfrm>
              <a:off x="1751457" y="3124200"/>
              <a:ext cx="304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000"/>
                </a:lnSpc>
                <a:buNone/>
              </a:pPr>
              <a:r>
                <a:rPr lang="en-US" sz="10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1</a:t>
              </a:r>
              <a:endParaRPr lang="en-US" sz="10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1" name="node01.trunk.source-001.label.part-1"/>
            <p:cNvSpPr/>
            <p:nvPr/>
          </p:nvSpPr>
          <p:spPr>
            <a:xfrm>
              <a:off x="1181100" y="2250440"/>
              <a:ext cx="1445514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Q4 2026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2" name="node01.trunk.source-001.label.part-2"/>
            <p:cNvSpPr/>
            <p:nvPr/>
          </p:nvSpPr>
          <p:spPr>
            <a:xfrm>
              <a:off x="1181100" y="2428240"/>
              <a:ext cx="1445514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68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Data foundation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23" name="node01.trunk.source-001.label.part-3"/>
            <p:cNvSpPr/>
            <p:nvPr/>
          </p:nvSpPr>
          <p:spPr>
            <a:xfrm>
              <a:off x="1181100" y="2667000"/>
              <a:ext cx="1445514" cy="4191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5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One master patient index.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4" name="node01.trunk.source-002.pin"/>
            <p:cNvSpPr/>
            <p:nvPr/>
          </p:nvSpPr>
          <p:spPr>
            <a:xfrm>
              <a:off x="3308096" y="313372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70154"/>
              </a:solidFill>
              <a:prstDash val="solid"/>
            </a:ln>
          </p:spPr>
        </p:sp>
        <p:sp>
          <p:nvSpPr>
            <p:cNvPr id="25" name="node01.trunk.source-002.number"/>
            <p:cNvSpPr/>
            <p:nvPr/>
          </p:nvSpPr>
          <p:spPr>
            <a:xfrm>
              <a:off x="3298571" y="3124200"/>
              <a:ext cx="304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000"/>
                </a:lnSpc>
                <a:buNone/>
              </a:pPr>
              <a:r>
                <a:rPr lang="en-US" sz="10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2</a:t>
              </a:r>
              <a:endParaRPr lang="en-US" sz="10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6" name="node01.trunk.source-002.label.part-1"/>
            <p:cNvSpPr/>
            <p:nvPr/>
          </p:nvSpPr>
          <p:spPr>
            <a:xfrm>
              <a:off x="2728214" y="3505200"/>
              <a:ext cx="1445514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Q1 2027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7" name="node01.trunk.source-002.label.part-2"/>
            <p:cNvSpPr/>
            <p:nvPr/>
          </p:nvSpPr>
          <p:spPr>
            <a:xfrm>
              <a:off x="2728214" y="3683000"/>
              <a:ext cx="1445514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68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Single sign-in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28" name="node01.trunk.source-002.label.part-3"/>
            <p:cNvSpPr/>
            <p:nvPr/>
          </p:nvSpPr>
          <p:spPr>
            <a:xfrm>
              <a:off x="2728214" y="3921760"/>
              <a:ext cx="144551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5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One ID at every site.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9" name="node01.fork.diamond"/>
            <p:cNvSpPr/>
            <p:nvPr/>
          </p:nvSpPr>
          <p:spPr>
            <a:xfrm>
              <a:off x="4156912" y="3056584"/>
              <a:ext cx="440033" cy="440033"/>
            </a:xfrm>
            <a:prstGeom prst="diamond">
              <a:avLst/>
            </a:prstGeom>
            <a:solidFill>
              <a:srgbClr val="F900D3"/>
            </a:solidFill>
            <a:ln w="19050">
              <a:solidFill>
                <a:srgbClr val="070154"/>
              </a:solidFill>
              <a:prstDash val="solid"/>
              <a:miter/>
            </a:ln>
          </p:spPr>
        </p:sp>
        <p:sp>
          <p:nvSpPr>
            <p:cNvPr id="30" name="node01.fork.chosen"/>
            <p:cNvSpPr/>
            <p:nvPr/>
          </p:nvSpPr>
          <p:spPr>
            <a:xfrm>
              <a:off x="4300728" y="32004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38100" y="78740"/>
                  </a:moveTo>
                  <a:lnTo>
                    <a:pt x="63500" y="104140"/>
                  </a:lnTo>
                  <a:lnTo>
                    <a:pt x="114300" y="48260"/>
                  </a:lnTo>
                </a:path>
              </a:pathLst>
            </a:custGeom>
            <a:ln w="17780">
              <a:solidFill>
                <a:srgbClr val="070154"/>
              </a:solidFill>
              <a:prstDash val="solid"/>
            </a:ln>
          </p:spPr>
        </p:sp>
        <p:sp>
          <p:nvSpPr>
            <p:cNvPr id="31" name="node01.fork.label.part-1"/>
            <p:cNvSpPr/>
            <p:nvPr/>
          </p:nvSpPr>
          <p:spPr>
            <a:xfrm>
              <a:off x="3348228" y="1600200"/>
              <a:ext cx="2057400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DECIDED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2" name="node01.fork.label.part-2"/>
            <p:cNvSpPr/>
            <p:nvPr/>
          </p:nvSpPr>
          <p:spPr>
            <a:xfrm>
              <a:off x="3348228" y="1778000"/>
              <a:ext cx="20574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68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Buy was chosen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33" name="node01.fork.label.part-3"/>
            <p:cNvSpPr/>
            <p:nvPr/>
          </p:nvSpPr>
          <p:spPr>
            <a:xfrm>
              <a:off x="3348228" y="2016760"/>
              <a:ext cx="2057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Made 14 Sep 2026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4" name="node01.branches.source-001.title.part-1"/>
            <p:cNvSpPr/>
            <p:nvPr/>
          </p:nvSpPr>
          <p:spPr>
            <a:xfrm>
              <a:off x="6463796" y="1838198"/>
              <a:ext cx="4618732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7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Buy a platform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35" name="node01.branches.source-001.tag"/>
            <p:cNvSpPr/>
            <p:nvPr/>
          </p:nvSpPr>
          <p:spPr>
            <a:xfrm>
              <a:off x="5748528" y="1921066"/>
              <a:ext cx="626368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OPTION A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6" name="node01.branches.source-001.milestones.source-001.pin"/>
            <p:cNvSpPr/>
            <p:nvPr/>
          </p:nvSpPr>
          <p:spPr>
            <a:xfrm>
              <a:off x="7105396" y="2161413"/>
              <a:ext cx="285750" cy="2857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70154"/>
              </a:solidFill>
              <a:prstDash val="solid"/>
            </a:ln>
          </p:spPr>
        </p:sp>
        <p:sp>
          <p:nvSpPr>
            <p:cNvPr id="37" name="node01.branches.source-001.milestones.source-001.number"/>
            <p:cNvSpPr/>
            <p:nvPr/>
          </p:nvSpPr>
          <p:spPr>
            <a:xfrm>
              <a:off x="7095871" y="2151888"/>
              <a:ext cx="304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000"/>
                </a:lnSpc>
                <a:buNone/>
              </a:pPr>
              <a:r>
                <a:rPr lang="en-US" sz="10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A1</a:t>
              </a:r>
              <a:endParaRPr lang="en-US" sz="10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8" name="node01.branches.source-001.milestones.source-001.label.part-1"/>
            <p:cNvSpPr/>
            <p:nvPr/>
          </p:nvSpPr>
          <p:spPr>
            <a:xfrm>
              <a:off x="5951728" y="2532888"/>
              <a:ext cx="2593086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Q2 2027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9" name="node01.branches.source-001.milestones.source-001.label.part-2"/>
            <p:cNvSpPr/>
            <p:nvPr/>
          </p:nvSpPr>
          <p:spPr>
            <a:xfrm>
              <a:off x="5951728" y="2710688"/>
              <a:ext cx="2593086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68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Select vendor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40" name="node01.branches.source-001.milestones.source-001.label.part-3"/>
            <p:cNvSpPr/>
            <p:nvPr/>
          </p:nvSpPr>
          <p:spPr>
            <a:xfrm>
              <a:off x="5951728" y="2949448"/>
              <a:ext cx="2593086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5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Scored shortlist.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1" name="node01.branches.source-001.milestones.source-002.pin"/>
            <p:cNvSpPr/>
            <p:nvPr/>
          </p:nvSpPr>
          <p:spPr>
            <a:xfrm>
              <a:off x="9800082" y="2161413"/>
              <a:ext cx="285750" cy="2857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70154"/>
              </a:solidFill>
              <a:prstDash val="solid"/>
            </a:ln>
          </p:spPr>
        </p:sp>
        <p:sp>
          <p:nvSpPr>
            <p:cNvPr id="42" name="node01.branches.source-001.milestones.source-002.number"/>
            <p:cNvSpPr/>
            <p:nvPr/>
          </p:nvSpPr>
          <p:spPr>
            <a:xfrm>
              <a:off x="9790557" y="2151888"/>
              <a:ext cx="304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000"/>
                </a:lnSpc>
                <a:buNone/>
              </a:pPr>
              <a:r>
                <a:rPr lang="en-US" sz="10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A2</a:t>
              </a:r>
              <a:endParaRPr lang="en-US" sz="10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3" name="node01.branches.source-001.milestones.source-002.label.part-1"/>
            <p:cNvSpPr/>
            <p:nvPr/>
          </p:nvSpPr>
          <p:spPr>
            <a:xfrm>
              <a:off x="8646414" y="2532888"/>
              <a:ext cx="2593086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Q4 2027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4" name="node01.branches.source-001.milestones.source-002.label.part-2"/>
            <p:cNvSpPr/>
            <p:nvPr/>
          </p:nvSpPr>
          <p:spPr>
            <a:xfrm>
              <a:off x="8646414" y="2710688"/>
              <a:ext cx="2593086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68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Go live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45" name="node01.branches.source-001.milestones.source-002.label.part-3"/>
            <p:cNvSpPr/>
            <p:nvPr/>
          </p:nvSpPr>
          <p:spPr>
            <a:xfrm>
              <a:off x="8646414" y="2949448"/>
              <a:ext cx="2593086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5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All sites on one suite.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6" name="node01.branches.source-002.title.part-1"/>
            <p:cNvSpPr/>
            <p:nvPr/>
          </p:nvSpPr>
          <p:spPr>
            <a:xfrm>
              <a:off x="6463796" y="3514598"/>
              <a:ext cx="4618732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70"/>
                </a:lnSpc>
                <a:buNone/>
              </a:pPr>
              <a:r>
                <a:rPr lang="en-US" sz="1800" spc="-18" kern="0" b="0" i="0" dirty="0">
                  <a:solidFill>
                    <a:srgbClr val="50658E"/>
                  </a:solidFill>
                  <a:latin typeface="IBM Plex Sans SemiBold"/>
                  <a:ea typeface="IBM Plex Sans SemiBold"/>
                  <a:cs typeface="IBM Plex Sans SemiBold"/>
                </a:rPr>
                <a:t>Build on our EHR</a:t>
              </a:r>
              <a:endParaRPr lang="en-US" sz="1800" spc="-18" kern="0" b="0" i="0" dirty="0">
                <a:solidFill>
                  <a:srgbClr val="50658E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47" name="node01.branches.source-002.tag"/>
            <p:cNvSpPr/>
            <p:nvPr/>
          </p:nvSpPr>
          <p:spPr>
            <a:xfrm>
              <a:off x="5748528" y="3597465"/>
              <a:ext cx="626368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OPTION B</a:t>
              </a:r>
              <a:endParaRPr lang="en-US" sz="900" spc="54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8" name="node01.branches.source-002.milestones.source-001.pin"/>
            <p:cNvSpPr/>
            <p:nvPr/>
          </p:nvSpPr>
          <p:spPr>
            <a:xfrm>
              <a:off x="7105396" y="3837813"/>
              <a:ext cx="285750" cy="2857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7A4BA"/>
              </a:solidFill>
              <a:prstDash val="solid"/>
            </a:ln>
          </p:spPr>
        </p:sp>
        <p:sp>
          <p:nvSpPr>
            <p:cNvPr id="49" name="node01.branches.source-002.milestones.source-001.number"/>
            <p:cNvSpPr/>
            <p:nvPr/>
          </p:nvSpPr>
          <p:spPr>
            <a:xfrm>
              <a:off x="7095871" y="3828288"/>
              <a:ext cx="304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000"/>
                </a:lnSpc>
                <a:buNone/>
              </a:pPr>
              <a:r>
                <a:rPr lang="en-US" sz="1000" spc="0" kern="0" b="0" i="0" dirty="0">
                  <a:solidFill>
                    <a:srgbClr val="97A4BA"/>
                  </a:solidFill>
                  <a:latin typeface="IBM Plex Mono SemiBold"/>
                  <a:ea typeface="IBM Plex Mono SemiBold"/>
                  <a:cs typeface="IBM Plex Mono SemiBold"/>
                </a:rPr>
                <a:t>B1</a:t>
              </a:r>
              <a:endParaRPr lang="en-US" sz="1000" spc="0" kern="0" b="0" i="0" dirty="0">
                <a:solidFill>
                  <a:srgbClr val="97A4BA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50" name="node01.branches.source-002.milestones.source-001.label.part-1"/>
            <p:cNvSpPr/>
            <p:nvPr/>
          </p:nvSpPr>
          <p:spPr>
            <a:xfrm>
              <a:off x="5951728" y="4209288"/>
              <a:ext cx="2593086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Q3 2027</a:t>
              </a:r>
              <a:endParaRPr lang="en-US" sz="900" spc="54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51" name="node01.branches.source-002.milestones.source-001.label.part-2"/>
            <p:cNvSpPr/>
            <p:nvPr/>
          </p:nvSpPr>
          <p:spPr>
            <a:xfrm>
              <a:off x="5951728" y="4387088"/>
              <a:ext cx="2593086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68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 SemiBold"/>
                  <a:ea typeface="IBM Plex Sans SemiBold"/>
                  <a:cs typeface="IBM Plex Sans SemiBold"/>
                </a:rPr>
                <a:t>Extend portal</a:t>
              </a:r>
              <a:endParaRPr lang="en-US" sz="1400" spc="0" kern="0" b="0" i="0" dirty="0">
                <a:solidFill>
                  <a:srgbClr val="50658E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52" name="node01.branches.source-002.milestones.source-001.label.part-3"/>
            <p:cNvSpPr/>
            <p:nvPr/>
          </p:nvSpPr>
          <p:spPr>
            <a:xfrm>
              <a:off x="5951728" y="4625848"/>
              <a:ext cx="2593086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5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Use the EHR's tools.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3" name="node01.branches.source-002.milestones.source-002.pin"/>
            <p:cNvSpPr/>
            <p:nvPr/>
          </p:nvSpPr>
          <p:spPr>
            <a:xfrm>
              <a:off x="9800082" y="3837813"/>
              <a:ext cx="285750" cy="2857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97A4BA"/>
              </a:solidFill>
              <a:prstDash val="solid"/>
            </a:ln>
          </p:spPr>
        </p:sp>
        <p:sp>
          <p:nvSpPr>
            <p:cNvPr id="54" name="node01.branches.source-002.milestones.source-002.number"/>
            <p:cNvSpPr/>
            <p:nvPr/>
          </p:nvSpPr>
          <p:spPr>
            <a:xfrm>
              <a:off x="9790557" y="3828288"/>
              <a:ext cx="304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000"/>
                </a:lnSpc>
                <a:buNone/>
              </a:pPr>
              <a:r>
                <a:rPr lang="en-US" sz="1000" spc="0" kern="0" b="0" i="0" dirty="0">
                  <a:solidFill>
                    <a:srgbClr val="97A4BA"/>
                  </a:solidFill>
                  <a:latin typeface="IBM Plex Mono SemiBold"/>
                  <a:ea typeface="IBM Plex Mono SemiBold"/>
                  <a:cs typeface="IBM Plex Mono SemiBold"/>
                </a:rPr>
                <a:t>B2</a:t>
              </a:r>
              <a:endParaRPr lang="en-US" sz="1000" spc="0" kern="0" b="0" i="0" dirty="0">
                <a:solidFill>
                  <a:srgbClr val="97A4BA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55" name="node01.branches.source-002.milestones.source-002.label.part-1"/>
            <p:cNvSpPr/>
            <p:nvPr/>
          </p:nvSpPr>
          <p:spPr>
            <a:xfrm>
              <a:off x="8646414" y="4209288"/>
              <a:ext cx="2593086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SemiBold"/>
                  <a:ea typeface="IBM Plex Mono SemiBold"/>
                  <a:cs typeface="IBM Plex Mono SemiBold"/>
                </a:rPr>
                <a:t>Q2 2028</a:t>
              </a:r>
              <a:endParaRPr lang="en-US" sz="900" spc="54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56" name="node01.branches.source-002.milestones.source-002.label.part-2"/>
            <p:cNvSpPr/>
            <p:nvPr/>
          </p:nvSpPr>
          <p:spPr>
            <a:xfrm>
              <a:off x="8646414" y="4387088"/>
              <a:ext cx="2593086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68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 SemiBold"/>
                  <a:ea typeface="IBM Plex Sans SemiBold"/>
                  <a:cs typeface="IBM Plex Sans SemiBold"/>
                </a:rPr>
                <a:t>Go live</a:t>
              </a:r>
              <a:endParaRPr lang="en-US" sz="1400" spc="0" kern="0" b="0" i="0" dirty="0">
                <a:solidFill>
                  <a:srgbClr val="50658E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57" name="node01.branches.source-002.milestones.source-002.label.part-3"/>
            <p:cNvSpPr/>
            <p:nvPr/>
          </p:nvSpPr>
          <p:spPr>
            <a:xfrm>
              <a:off x="8646414" y="4625848"/>
              <a:ext cx="2593086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5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Phased by region.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3" name="node02"/>
          <p:cNvGrpSpPr/>
          <p:nvPr/>
        </p:nvGrpSpPr>
        <p:grpSpPr>
          <a:xfrm>
            <a:off x="723900" y="5029200"/>
            <a:ext cx="10744200" cy="228600"/>
            <a:chOff x="723900" y="5029200"/>
            <a:chExt cx="10744200" cy="228600"/>
          </a:xfrm>
        </p:grpSpPr>
        <p:sp>
          <p:nvSpPr>
            <p:cNvPr id="58" name="node02.label"/>
            <p:cNvSpPr/>
            <p:nvPr/>
          </p:nvSpPr>
          <p:spPr>
            <a:xfrm>
              <a:off x="723900" y="5029200"/>
              <a:ext cx="1452699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WHY WE CHOSE TO BUY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59" name="node02.rule"/>
            <p:cNvSpPr/>
            <p:nvPr/>
          </p:nvSpPr>
          <p:spPr>
            <a:xfrm>
              <a:off x="2303599" y="5138738"/>
              <a:ext cx="9164501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60" name="node03"/>
          <p:cNvSpPr/>
          <p:nvPr/>
        </p:nvSpPr>
        <p:spPr>
          <a:xfrm>
            <a:off x="723900" y="52578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64" name="node04"/>
          <p:cNvGrpSpPr/>
          <p:nvPr/>
        </p:nvGrpSpPr>
        <p:grpSpPr>
          <a:xfrm>
            <a:off x="723900" y="5334000"/>
            <a:ext cx="10744200" cy="228600"/>
            <a:chOff x="723900" y="5334000"/>
            <a:chExt cx="10744200" cy="228600"/>
          </a:xfrm>
        </p:grpSpPr>
        <p:sp>
          <p:nvSpPr>
            <p:cNvPr id="61" name="node04.text"/>
            <p:cNvSpPr/>
            <p:nvPr/>
          </p:nvSpPr>
          <p:spPr>
            <a:xfrm>
              <a:off x="723900" y="5334000"/>
              <a:ext cx="10744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Fastest to every site, lowest integration risk, and a vendor roadmap we do not have to fund.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4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3429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ROADMAP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spc="-3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Three tracks share one foundation</a:t>
            </a:r>
            <a:endParaRPr lang="en-US" sz="2400" spc="-36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3429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Northfield Health System digital front door program.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9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88" name="node01"/>
          <p:cNvGrpSpPr/>
          <p:nvPr/>
        </p:nvGrpSpPr>
        <p:grpSpPr>
          <a:xfrm>
            <a:off x="723900" y="2514600"/>
            <a:ext cx="3429000" cy="800100"/>
            <a:chOff x="723900" y="2514600"/>
            <a:chExt cx="3429000" cy="800100"/>
          </a:xfrm>
        </p:grpSpPr>
        <p:sp>
          <p:nvSpPr>
            <p:cNvPr id="7" name="node01.text"/>
            <p:cNvSpPr/>
            <p:nvPr/>
          </p:nvSpPr>
          <p:spPr>
            <a:xfrm>
              <a:off x="723900" y="2514600"/>
              <a:ext cx="3429000" cy="8001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The foundation must land first. After that, access, revenue and clinical teams ship independently.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89" name="node02"/>
          <p:cNvGrpSpPr/>
          <p:nvPr/>
        </p:nvGrpSpPr>
        <p:grpSpPr>
          <a:xfrm>
            <a:off x="723900" y="3657600"/>
            <a:ext cx="3429000" cy="228600"/>
            <a:chOff x="723900" y="3657600"/>
            <a:chExt cx="3429000" cy="228600"/>
          </a:xfrm>
        </p:grpSpPr>
        <p:sp>
          <p:nvSpPr>
            <p:cNvPr id="8" name="node02.label"/>
            <p:cNvSpPr/>
            <p:nvPr/>
          </p:nvSpPr>
          <p:spPr>
            <a:xfrm>
              <a:off x="723900" y="3657600"/>
              <a:ext cx="92685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TRACK OWNERS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9" name="node02.rule"/>
            <p:cNvSpPr/>
            <p:nvPr/>
          </p:nvSpPr>
          <p:spPr>
            <a:xfrm>
              <a:off x="1777752" y="3767138"/>
              <a:ext cx="2375148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10" name="node03"/>
          <p:cNvSpPr/>
          <p:nvPr/>
        </p:nvSpPr>
        <p:spPr>
          <a:xfrm>
            <a:off x="723900" y="38862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90" name="node04"/>
          <p:cNvGrpSpPr/>
          <p:nvPr/>
        </p:nvGrpSpPr>
        <p:grpSpPr>
          <a:xfrm>
            <a:off x="723900" y="3962400"/>
            <a:ext cx="3429000" cy="762000"/>
            <a:chOff x="723900" y="3962400"/>
            <a:chExt cx="3429000" cy="762000"/>
          </a:xfrm>
        </p:grpSpPr>
        <p:sp>
          <p:nvSpPr>
            <p:cNvPr id="11" name="node04.source-001.bullet"/>
            <p:cNvSpPr/>
            <p:nvPr/>
          </p:nvSpPr>
          <p:spPr>
            <a:xfrm>
              <a:off x="723900" y="40513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2" name="node04.source-001.text"/>
            <p:cNvSpPr/>
            <p:nvPr/>
          </p:nvSpPr>
          <p:spPr>
            <a:xfrm>
              <a:off x="876300" y="39624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Access.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Chief patient access officer.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3" name="node04.source-002.bullet"/>
            <p:cNvSpPr/>
            <p:nvPr/>
          </p:nvSpPr>
          <p:spPr>
            <a:xfrm>
              <a:off x="723900" y="43180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4" name="node04.source-002.text"/>
            <p:cNvSpPr/>
            <p:nvPr/>
          </p:nvSpPr>
          <p:spPr>
            <a:xfrm>
              <a:off x="876300" y="42291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Revenue.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VP revenue cycle.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5" name="node04.source-003.bullet"/>
            <p:cNvSpPr/>
            <p:nvPr/>
          </p:nvSpPr>
          <p:spPr>
            <a:xfrm>
              <a:off x="723900" y="45847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6" name="node04.source-003.text"/>
            <p:cNvSpPr/>
            <p:nvPr/>
          </p:nvSpPr>
          <p:spPr>
            <a:xfrm>
              <a:off x="876300" y="44958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Clinical.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Chief nursing informatics officer.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91" name="node05"/>
          <p:cNvGrpSpPr/>
          <p:nvPr/>
        </p:nvGrpSpPr>
        <p:grpSpPr>
          <a:xfrm>
            <a:off x="723900" y="4953000"/>
            <a:ext cx="3429000" cy="228600"/>
            <a:chOff x="723900" y="4953000"/>
            <a:chExt cx="3429000" cy="228600"/>
          </a:xfrm>
        </p:grpSpPr>
        <p:sp>
          <p:nvSpPr>
            <p:cNvPr id="17" name="node05.label"/>
            <p:cNvSpPr/>
            <p:nvPr/>
          </p:nvSpPr>
          <p:spPr>
            <a:xfrm>
              <a:off x="723900" y="4953000"/>
              <a:ext cx="1377578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BIGGEST DEPENDENCY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18" name="node05.rule"/>
            <p:cNvSpPr/>
            <p:nvPr/>
          </p:nvSpPr>
          <p:spPr>
            <a:xfrm>
              <a:off x="2228478" y="5062538"/>
              <a:ext cx="1924422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19" name="node06"/>
          <p:cNvSpPr/>
          <p:nvPr/>
        </p:nvSpPr>
        <p:spPr>
          <a:xfrm>
            <a:off x="723900" y="51816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92" name="node07"/>
          <p:cNvGrpSpPr/>
          <p:nvPr/>
        </p:nvGrpSpPr>
        <p:grpSpPr>
          <a:xfrm>
            <a:off x="723900" y="5257800"/>
            <a:ext cx="3429000" cy="228600"/>
            <a:chOff x="723900" y="5257800"/>
            <a:chExt cx="3429000" cy="228600"/>
          </a:xfrm>
        </p:grpSpPr>
        <p:sp>
          <p:nvSpPr>
            <p:cNvPr id="20" name="node07.text"/>
            <p:cNvSpPr/>
            <p:nvPr/>
          </p:nvSpPr>
          <p:spPr>
            <a:xfrm>
              <a:off x="723900" y="5257800"/>
              <a:ext cx="34290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Single sign-in gates all three tracks.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93" name="node08"/>
          <p:cNvGrpSpPr/>
          <p:nvPr/>
        </p:nvGrpSpPr>
        <p:grpSpPr>
          <a:xfrm>
            <a:off x="4381500" y="457200"/>
            <a:ext cx="7086600" cy="5257800"/>
            <a:chOff x="4381500" y="457200"/>
            <a:chExt cx="7086600" cy="5257800"/>
          </a:xfrm>
        </p:grpSpPr>
        <p:sp>
          <p:nvSpPr>
            <p:cNvPr id="21" name="node08.trunk.road"/>
            <p:cNvSpPr/>
            <p:nvPr/>
          </p:nvSpPr>
          <p:spPr>
            <a:xfrm>
              <a:off x="4559300" y="3086100"/>
              <a:ext cx="2231644" cy="0"/>
            </a:xfrm>
            <a:custGeom>
              <a:avLst/>
              <a:gdLst/>
              <a:ahLst/>
              <a:cxnLst/>
              <a:rect l="l" t="t" r="r" b="b"/>
              <a:pathLst>
                <a:path w="2231644">
                  <a:moveTo>
                    <a:pt x="0" y="0"/>
                  </a:moveTo>
                  <a:lnTo>
                    <a:pt x="2231644" y="0"/>
                  </a:lnTo>
                </a:path>
              </a:pathLst>
            </a:custGeom>
            <a:ln w="228600">
              <a:solidFill>
                <a:srgbClr val="070154"/>
              </a:solidFill>
              <a:prstDash val="solid"/>
              <a:round/>
            </a:ln>
          </p:spPr>
        </p:sp>
        <p:sp>
          <p:nvSpPr>
            <p:cNvPr id="22" name="node08.trunk.road.cap-1"/>
            <p:cNvSpPr/>
            <p:nvPr/>
          </p:nvSpPr>
          <p:spPr>
            <a:xfrm>
              <a:off x="4445000" y="2971800"/>
              <a:ext cx="228600" cy="2286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3" name="node08.trunk.road.cap-2"/>
            <p:cNvSpPr/>
            <p:nvPr/>
          </p:nvSpPr>
          <p:spPr>
            <a:xfrm>
              <a:off x="6676644" y="2971800"/>
              <a:ext cx="228600" cy="2286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4" name="node08.trunk.centerline"/>
            <p:cNvSpPr/>
            <p:nvPr/>
          </p:nvSpPr>
          <p:spPr>
            <a:xfrm>
              <a:off x="4559300" y="3086100"/>
              <a:ext cx="2231644" cy="0"/>
            </a:xfrm>
            <a:custGeom>
              <a:avLst/>
              <a:gdLst/>
              <a:ahLst/>
              <a:cxnLst/>
              <a:rect l="l" t="t" r="r" b="b"/>
              <a:pathLst>
                <a:path w="2231644">
                  <a:moveTo>
                    <a:pt x="0" y="0"/>
                  </a:moveTo>
                  <a:lnTo>
                    <a:pt x="88900" y="0"/>
                  </a:lnTo>
                  <a:moveTo>
                    <a:pt x="177800" y="0"/>
                  </a:moveTo>
                  <a:lnTo>
                    <a:pt x="266700" y="0"/>
                  </a:lnTo>
                  <a:moveTo>
                    <a:pt x="355600" y="0"/>
                  </a:moveTo>
                  <a:lnTo>
                    <a:pt x="444500" y="0"/>
                  </a:lnTo>
                  <a:moveTo>
                    <a:pt x="533400" y="0"/>
                  </a:moveTo>
                  <a:lnTo>
                    <a:pt x="622300" y="0"/>
                  </a:lnTo>
                  <a:moveTo>
                    <a:pt x="711200" y="0"/>
                  </a:moveTo>
                  <a:lnTo>
                    <a:pt x="800100" y="0"/>
                  </a:lnTo>
                  <a:moveTo>
                    <a:pt x="889000" y="0"/>
                  </a:moveTo>
                  <a:lnTo>
                    <a:pt x="977900" y="0"/>
                  </a:lnTo>
                  <a:moveTo>
                    <a:pt x="1066800" y="0"/>
                  </a:moveTo>
                  <a:lnTo>
                    <a:pt x="1155700" y="0"/>
                  </a:lnTo>
                  <a:moveTo>
                    <a:pt x="1244600" y="0"/>
                  </a:moveTo>
                  <a:lnTo>
                    <a:pt x="1333500" y="0"/>
                  </a:lnTo>
                  <a:moveTo>
                    <a:pt x="1422400" y="0"/>
                  </a:moveTo>
                  <a:lnTo>
                    <a:pt x="1511300" y="0"/>
                  </a:lnTo>
                  <a:moveTo>
                    <a:pt x="1600200" y="0"/>
                  </a:moveTo>
                  <a:lnTo>
                    <a:pt x="1689100" y="0"/>
                  </a:lnTo>
                  <a:moveTo>
                    <a:pt x="1778000" y="0"/>
                  </a:moveTo>
                  <a:lnTo>
                    <a:pt x="1866900" y="0"/>
                  </a:lnTo>
                  <a:moveTo>
                    <a:pt x="1955800" y="0"/>
                  </a:moveTo>
                  <a:lnTo>
                    <a:pt x="2044700" y="0"/>
                  </a:lnTo>
                  <a:moveTo>
                    <a:pt x="2133600" y="0"/>
                  </a:moveTo>
                  <a:lnTo>
                    <a:pt x="2222500" y="0"/>
                  </a:lnTo>
                </a:path>
              </a:pathLst>
            </a:custGeom>
            <a:ln w="19050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5" name="node08.branches.source-001.road"/>
            <p:cNvSpPr/>
            <p:nvPr/>
          </p:nvSpPr>
          <p:spPr>
            <a:xfrm>
              <a:off x="6790944" y="1193292"/>
              <a:ext cx="4499356" cy="1892808"/>
            </a:xfrm>
            <a:custGeom>
              <a:avLst/>
              <a:gdLst/>
              <a:ahLst/>
              <a:cxnLst/>
              <a:rect l="l" t="t" r="r" b="b"/>
              <a:pathLst>
                <a:path w="4499356" h="1892808">
                  <a:moveTo>
                    <a:pt x="0" y="1892808"/>
                  </a:moveTo>
                  <a:cubicBezTo>
                    <a:pt x="544422" y="1892808"/>
                    <a:pt x="445436" y="0"/>
                    <a:pt x="989858" y="0"/>
                  </a:cubicBezTo>
                  <a:lnTo>
                    <a:pt x="4499356" y="0"/>
                  </a:lnTo>
                </a:path>
              </a:pathLst>
            </a:custGeom>
            <a:ln w="228600">
              <a:solidFill>
                <a:srgbClr val="070154"/>
              </a:solidFill>
              <a:prstDash val="solid"/>
              <a:round/>
            </a:ln>
          </p:spPr>
        </p:sp>
        <p:sp>
          <p:nvSpPr>
            <p:cNvPr id="26" name="node08.branches.source-001.road.cap-1"/>
            <p:cNvSpPr/>
            <p:nvPr/>
          </p:nvSpPr>
          <p:spPr>
            <a:xfrm>
              <a:off x="6676644" y="2971800"/>
              <a:ext cx="228600" cy="2286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7" name="node08.branches.source-001.road.cap-2"/>
            <p:cNvSpPr/>
            <p:nvPr/>
          </p:nvSpPr>
          <p:spPr>
            <a:xfrm>
              <a:off x="11176000" y="1078992"/>
              <a:ext cx="228600" cy="2286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8" name="node08.branches.source-001.centerline"/>
            <p:cNvSpPr/>
            <p:nvPr/>
          </p:nvSpPr>
          <p:spPr>
            <a:xfrm>
              <a:off x="6790944" y="1193292"/>
              <a:ext cx="4499356" cy="1892808"/>
            </a:xfrm>
            <a:custGeom>
              <a:avLst/>
              <a:gdLst/>
              <a:ahLst/>
              <a:cxnLst/>
              <a:rect l="l" t="t" r="r" b="b"/>
              <a:pathLst>
                <a:path w="4499356" h="1892808">
                  <a:moveTo>
                    <a:pt x="0" y="1892808"/>
                  </a:moveTo>
                  <a:cubicBezTo>
                    <a:pt x="30831" y="1892808"/>
                    <a:pt x="59599" y="1886738"/>
                    <a:pt x="86537" y="1875285"/>
                  </a:cubicBezTo>
                  <a:moveTo>
                    <a:pt x="160583" y="1826840"/>
                  </a:moveTo>
                  <a:cubicBezTo>
                    <a:pt x="181295" y="1808105"/>
                    <a:pt x="200773" y="1785735"/>
                    <a:pt x="219173" y="1760197"/>
                  </a:cubicBezTo>
                  <a:moveTo>
                    <a:pt x="265935" y="1684664"/>
                  </a:moveTo>
                  <a:cubicBezTo>
                    <a:pt x="279386" y="1659702"/>
                    <a:pt x="292224" y="1632934"/>
                    <a:pt x="304532" y="1604608"/>
                  </a:cubicBezTo>
                  <a:moveTo>
                    <a:pt x="337450" y="1522040"/>
                  </a:moveTo>
                  <a:cubicBezTo>
                    <a:pt x="347401" y="1494974"/>
                    <a:pt x="357008" y="1466894"/>
                    <a:pt x="366326" y="1437967"/>
                  </a:cubicBezTo>
                  <a:moveTo>
                    <a:pt x="392275" y="1352942"/>
                  </a:moveTo>
                  <a:cubicBezTo>
                    <a:pt x="400401" y="1324936"/>
                    <a:pt x="408327" y="1296343"/>
                    <a:pt x="416098" y="1267294"/>
                  </a:cubicBezTo>
                  <a:moveTo>
                    <a:pt x="438398" y="1181237"/>
                  </a:moveTo>
                  <a:cubicBezTo>
                    <a:pt x="445577" y="1152730"/>
                    <a:pt x="452653" y="1123919"/>
                    <a:pt x="459664" y="1094918"/>
                  </a:cubicBezTo>
                  <a:moveTo>
                    <a:pt x="480306" y="1008448"/>
                  </a:moveTo>
                  <a:cubicBezTo>
                    <a:pt x="487115" y="979645"/>
                    <a:pt x="493899" y="950766"/>
                    <a:pt x="500693" y="921917"/>
                  </a:cubicBezTo>
                  <a:moveTo>
                    <a:pt x="521180" y="835410"/>
                  </a:moveTo>
                  <a:cubicBezTo>
                    <a:pt x="528103" y="806433"/>
                    <a:pt x="535072" y="777597"/>
                    <a:pt x="542128" y="749013"/>
                  </a:cubicBezTo>
                  <a:moveTo>
                    <a:pt x="563925" y="662827"/>
                  </a:moveTo>
                  <a:cubicBezTo>
                    <a:pt x="571476" y="633777"/>
                    <a:pt x="579161" y="605120"/>
                    <a:pt x="587021" y="576980"/>
                  </a:cubicBezTo>
                  <a:moveTo>
                    <a:pt x="611962" y="491653"/>
                  </a:moveTo>
                  <a:cubicBezTo>
                    <a:pt x="620854" y="462676"/>
                    <a:pt x="630000" y="434445"/>
                    <a:pt x="639453" y="407115"/>
                  </a:cubicBezTo>
                  <a:moveTo>
                    <a:pt x="670453" y="323804"/>
                  </a:moveTo>
                  <a:cubicBezTo>
                    <a:pt x="681928" y="295267"/>
                    <a:pt x="693864" y="268087"/>
                    <a:pt x="706338" y="242489"/>
                  </a:cubicBezTo>
                  <a:moveTo>
                    <a:pt x="749177" y="164641"/>
                  </a:moveTo>
                  <a:cubicBezTo>
                    <a:pt x="765863" y="138055"/>
                    <a:pt x="783464" y="114159"/>
                    <a:pt x="802115" y="93353"/>
                  </a:cubicBezTo>
                  <a:moveTo>
                    <a:pt x="869204" y="35459"/>
                  </a:moveTo>
                  <a:cubicBezTo>
                    <a:pt x="894787" y="19333"/>
                    <a:pt x="922125" y="8369"/>
                    <a:pt x="951457" y="3270"/>
                  </a:cubicBezTo>
                  <a:moveTo>
                    <a:pt x="1040171" y="0"/>
                  </a:moveTo>
                  <a:lnTo>
                    <a:pt x="1129071" y="0"/>
                  </a:lnTo>
                  <a:moveTo>
                    <a:pt x="1217971" y="0"/>
                  </a:moveTo>
                  <a:lnTo>
                    <a:pt x="1306871" y="0"/>
                  </a:lnTo>
                  <a:moveTo>
                    <a:pt x="1395771" y="0"/>
                  </a:moveTo>
                  <a:lnTo>
                    <a:pt x="1484671" y="0"/>
                  </a:lnTo>
                  <a:moveTo>
                    <a:pt x="1573571" y="0"/>
                  </a:moveTo>
                  <a:lnTo>
                    <a:pt x="1662471" y="0"/>
                  </a:lnTo>
                  <a:moveTo>
                    <a:pt x="1751371" y="0"/>
                  </a:moveTo>
                  <a:lnTo>
                    <a:pt x="1840271" y="0"/>
                  </a:lnTo>
                  <a:moveTo>
                    <a:pt x="1929171" y="0"/>
                  </a:moveTo>
                  <a:lnTo>
                    <a:pt x="2018071" y="0"/>
                  </a:lnTo>
                  <a:moveTo>
                    <a:pt x="2106971" y="0"/>
                  </a:moveTo>
                  <a:lnTo>
                    <a:pt x="2195871" y="0"/>
                  </a:lnTo>
                  <a:moveTo>
                    <a:pt x="2284771" y="0"/>
                  </a:moveTo>
                  <a:lnTo>
                    <a:pt x="2373671" y="0"/>
                  </a:lnTo>
                  <a:moveTo>
                    <a:pt x="2462571" y="0"/>
                  </a:moveTo>
                  <a:lnTo>
                    <a:pt x="2551471" y="0"/>
                  </a:lnTo>
                  <a:moveTo>
                    <a:pt x="2640371" y="0"/>
                  </a:moveTo>
                  <a:lnTo>
                    <a:pt x="2729271" y="0"/>
                  </a:lnTo>
                  <a:moveTo>
                    <a:pt x="2818171" y="0"/>
                  </a:moveTo>
                  <a:lnTo>
                    <a:pt x="2907071" y="0"/>
                  </a:lnTo>
                  <a:moveTo>
                    <a:pt x="2995971" y="0"/>
                  </a:moveTo>
                  <a:lnTo>
                    <a:pt x="3084871" y="0"/>
                  </a:lnTo>
                  <a:moveTo>
                    <a:pt x="3173771" y="0"/>
                  </a:moveTo>
                  <a:lnTo>
                    <a:pt x="3262671" y="0"/>
                  </a:lnTo>
                  <a:moveTo>
                    <a:pt x="3351571" y="0"/>
                  </a:moveTo>
                  <a:lnTo>
                    <a:pt x="3440471" y="0"/>
                  </a:lnTo>
                  <a:moveTo>
                    <a:pt x="3529371" y="0"/>
                  </a:moveTo>
                  <a:lnTo>
                    <a:pt x="3618271" y="0"/>
                  </a:lnTo>
                  <a:moveTo>
                    <a:pt x="3707171" y="0"/>
                  </a:moveTo>
                  <a:lnTo>
                    <a:pt x="3796071" y="0"/>
                  </a:lnTo>
                  <a:moveTo>
                    <a:pt x="3884971" y="0"/>
                  </a:moveTo>
                  <a:lnTo>
                    <a:pt x="3973871" y="0"/>
                  </a:lnTo>
                  <a:moveTo>
                    <a:pt x="4062771" y="0"/>
                  </a:moveTo>
                  <a:lnTo>
                    <a:pt x="4151671" y="0"/>
                  </a:lnTo>
                  <a:moveTo>
                    <a:pt x="4240571" y="0"/>
                  </a:moveTo>
                  <a:lnTo>
                    <a:pt x="4329471" y="0"/>
                  </a:lnTo>
                  <a:moveTo>
                    <a:pt x="4418371" y="0"/>
                  </a:moveTo>
                  <a:lnTo>
                    <a:pt x="4499356" y="0"/>
                  </a:lnTo>
                </a:path>
              </a:pathLst>
            </a:custGeom>
            <a:ln w="19050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9" name="node08.branches.source-002.road"/>
            <p:cNvSpPr/>
            <p:nvPr/>
          </p:nvSpPr>
          <p:spPr>
            <a:xfrm>
              <a:off x="6790944" y="2945892"/>
              <a:ext cx="4499356" cy="140208"/>
            </a:xfrm>
            <a:custGeom>
              <a:avLst/>
              <a:gdLst/>
              <a:ahLst/>
              <a:cxnLst/>
              <a:rect l="l" t="t" r="r" b="b"/>
              <a:pathLst>
                <a:path w="4499356" h="140208">
                  <a:moveTo>
                    <a:pt x="0" y="140208"/>
                  </a:moveTo>
                  <a:cubicBezTo>
                    <a:pt x="544422" y="140208"/>
                    <a:pt x="445436" y="0"/>
                    <a:pt x="989858" y="0"/>
                  </a:cubicBezTo>
                  <a:lnTo>
                    <a:pt x="4499356" y="0"/>
                  </a:lnTo>
                </a:path>
              </a:pathLst>
            </a:custGeom>
            <a:ln w="228600">
              <a:solidFill>
                <a:srgbClr val="070154"/>
              </a:solidFill>
              <a:prstDash val="solid"/>
              <a:round/>
            </a:ln>
          </p:spPr>
        </p:sp>
        <p:sp>
          <p:nvSpPr>
            <p:cNvPr id="30" name="node08.branches.source-002.road.cap-1"/>
            <p:cNvSpPr/>
            <p:nvPr/>
          </p:nvSpPr>
          <p:spPr>
            <a:xfrm>
              <a:off x="6676644" y="2971800"/>
              <a:ext cx="228600" cy="2286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1" name="node08.branches.source-002.road.cap-2"/>
            <p:cNvSpPr/>
            <p:nvPr/>
          </p:nvSpPr>
          <p:spPr>
            <a:xfrm>
              <a:off x="11176000" y="2831592"/>
              <a:ext cx="228600" cy="2286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2" name="node08.branches.source-002.centerline"/>
            <p:cNvSpPr/>
            <p:nvPr/>
          </p:nvSpPr>
          <p:spPr>
            <a:xfrm>
              <a:off x="6790944" y="2945892"/>
              <a:ext cx="4499356" cy="140208"/>
            </a:xfrm>
            <a:custGeom>
              <a:avLst/>
              <a:gdLst/>
              <a:ahLst/>
              <a:cxnLst/>
              <a:rect l="l" t="t" r="r" b="b"/>
              <a:pathLst>
                <a:path w="4499356" h="140208">
                  <a:moveTo>
                    <a:pt x="0" y="140208"/>
                  </a:moveTo>
                  <a:cubicBezTo>
                    <a:pt x="31729" y="140208"/>
                    <a:pt x="61273" y="139732"/>
                    <a:pt x="88886" y="138835"/>
                  </a:cubicBezTo>
                  <a:moveTo>
                    <a:pt x="177653" y="134096"/>
                  </a:moveTo>
                  <a:cubicBezTo>
                    <a:pt x="210001" y="131617"/>
                    <a:pt x="239244" y="128461"/>
                    <a:pt x="266049" y="124774"/>
                  </a:cubicBezTo>
                  <a:moveTo>
                    <a:pt x="353581" y="109366"/>
                  </a:moveTo>
                  <a:cubicBezTo>
                    <a:pt x="384969" y="102545"/>
                    <a:pt x="412999" y="94992"/>
                    <a:pt x="439635" y="87135"/>
                  </a:cubicBezTo>
                  <a:moveTo>
                    <a:pt x="524555" y="60838"/>
                  </a:moveTo>
                  <a:cubicBezTo>
                    <a:pt x="551532" y="52507"/>
                    <a:pt x="579325" y="44353"/>
                    <a:pt x="610145" y="36859"/>
                  </a:cubicBezTo>
                  <a:moveTo>
                    <a:pt x="697283" y="19374"/>
                  </a:moveTo>
                  <a:cubicBezTo>
                    <a:pt x="723949" y="15112"/>
                    <a:pt x="753087" y="11388"/>
                    <a:pt x="785484" y="8375"/>
                  </a:cubicBezTo>
                  <a:moveTo>
                    <a:pt x="874174" y="2400"/>
                  </a:moveTo>
                  <a:cubicBezTo>
                    <a:pt x="901688" y="1180"/>
                    <a:pt x="931213" y="398"/>
                    <a:pt x="963040" y="117"/>
                  </a:cubicBezTo>
                  <a:moveTo>
                    <a:pt x="1051941" y="0"/>
                  </a:moveTo>
                  <a:lnTo>
                    <a:pt x="1140841" y="0"/>
                  </a:lnTo>
                  <a:moveTo>
                    <a:pt x="1229741" y="0"/>
                  </a:moveTo>
                  <a:lnTo>
                    <a:pt x="1318641" y="0"/>
                  </a:lnTo>
                  <a:moveTo>
                    <a:pt x="1407541" y="0"/>
                  </a:moveTo>
                  <a:lnTo>
                    <a:pt x="1496441" y="0"/>
                  </a:lnTo>
                  <a:moveTo>
                    <a:pt x="1585341" y="0"/>
                  </a:moveTo>
                  <a:lnTo>
                    <a:pt x="1674241" y="0"/>
                  </a:lnTo>
                  <a:moveTo>
                    <a:pt x="1763141" y="0"/>
                  </a:moveTo>
                  <a:lnTo>
                    <a:pt x="1852041" y="0"/>
                  </a:lnTo>
                  <a:moveTo>
                    <a:pt x="1940941" y="0"/>
                  </a:moveTo>
                  <a:lnTo>
                    <a:pt x="2029841" y="0"/>
                  </a:lnTo>
                  <a:moveTo>
                    <a:pt x="2118741" y="0"/>
                  </a:moveTo>
                  <a:lnTo>
                    <a:pt x="2207641" y="0"/>
                  </a:lnTo>
                  <a:moveTo>
                    <a:pt x="2296541" y="0"/>
                  </a:moveTo>
                  <a:lnTo>
                    <a:pt x="2385441" y="0"/>
                  </a:lnTo>
                  <a:moveTo>
                    <a:pt x="2474341" y="0"/>
                  </a:moveTo>
                  <a:lnTo>
                    <a:pt x="2563241" y="0"/>
                  </a:lnTo>
                  <a:moveTo>
                    <a:pt x="2652141" y="0"/>
                  </a:moveTo>
                  <a:lnTo>
                    <a:pt x="2741041" y="0"/>
                  </a:lnTo>
                  <a:moveTo>
                    <a:pt x="2829941" y="0"/>
                  </a:moveTo>
                  <a:lnTo>
                    <a:pt x="2918841" y="0"/>
                  </a:lnTo>
                  <a:moveTo>
                    <a:pt x="3007741" y="0"/>
                  </a:moveTo>
                  <a:lnTo>
                    <a:pt x="3096641" y="0"/>
                  </a:lnTo>
                  <a:moveTo>
                    <a:pt x="3185541" y="0"/>
                  </a:moveTo>
                  <a:lnTo>
                    <a:pt x="3274441" y="0"/>
                  </a:lnTo>
                  <a:moveTo>
                    <a:pt x="3363341" y="0"/>
                  </a:moveTo>
                  <a:lnTo>
                    <a:pt x="3452241" y="0"/>
                  </a:lnTo>
                  <a:moveTo>
                    <a:pt x="3541141" y="0"/>
                  </a:moveTo>
                  <a:lnTo>
                    <a:pt x="3630041" y="0"/>
                  </a:lnTo>
                  <a:moveTo>
                    <a:pt x="3718941" y="0"/>
                  </a:moveTo>
                  <a:lnTo>
                    <a:pt x="3807841" y="0"/>
                  </a:lnTo>
                  <a:moveTo>
                    <a:pt x="3896741" y="0"/>
                  </a:moveTo>
                  <a:lnTo>
                    <a:pt x="3985641" y="0"/>
                  </a:lnTo>
                  <a:moveTo>
                    <a:pt x="4074541" y="0"/>
                  </a:moveTo>
                  <a:lnTo>
                    <a:pt x="4163441" y="0"/>
                  </a:lnTo>
                  <a:moveTo>
                    <a:pt x="4252341" y="0"/>
                  </a:moveTo>
                  <a:lnTo>
                    <a:pt x="4341241" y="0"/>
                  </a:lnTo>
                  <a:moveTo>
                    <a:pt x="4430141" y="0"/>
                  </a:moveTo>
                  <a:lnTo>
                    <a:pt x="4499356" y="0"/>
                  </a:lnTo>
                </a:path>
              </a:pathLst>
            </a:custGeom>
            <a:ln w="19050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33" name="node08.branches.source-003.road"/>
            <p:cNvSpPr/>
            <p:nvPr/>
          </p:nvSpPr>
          <p:spPr>
            <a:xfrm>
              <a:off x="6790944" y="3086100"/>
              <a:ext cx="4499356" cy="1612392"/>
            </a:xfrm>
            <a:custGeom>
              <a:avLst/>
              <a:gdLst/>
              <a:ahLst/>
              <a:cxnLst/>
              <a:rect l="l" t="t" r="r" b="b"/>
              <a:pathLst>
                <a:path w="4499356" h="1612392">
                  <a:moveTo>
                    <a:pt x="0" y="0"/>
                  </a:moveTo>
                  <a:cubicBezTo>
                    <a:pt x="544422" y="0"/>
                    <a:pt x="445436" y="1612392"/>
                    <a:pt x="989858" y="1612392"/>
                  </a:cubicBezTo>
                  <a:lnTo>
                    <a:pt x="4499356" y="1612392"/>
                  </a:lnTo>
                </a:path>
              </a:pathLst>
            </a:custGeom>
            <a:ln w="228600">
              <a:solidFill>
                <a:srgbClr val="070154"/>
              </a:solidFill>
              <a:prstDash val="solid"/>
              <a:round/>
            </a:ln>
          </p:spPr>
        </p:sp>
        <p:sp>
          <p:nvSpPr>
            <p:cNvPr id="34" name="node08.branches.source-003.road.cap-1"/>
            <p:cNvSpPr/>
            <p:nvPr/>
          </p:nvSpPr>
          <p:spPr>
            <a:xfrm>
              <a:off x="6676644" y="2971800"/>
              <a:ext cx="228600" cy="2286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5" name="node08.branches.source-003.road.cap-2"/>
            <p:cNvSpPr/>
            <p:nvPr/>
          </p:nvSpPr>
          <p:spPr>
            <a:xfrm>
              <a:off x="11176000" y="4584192"/>
              <a:ext cx="228600" cy="2286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6" name="node08.branches.source-003.centerline"/>
            <p:cNvSpPr/>
            <p:nvPr/>
          </p:nvSpPr>
          <p:spPr>
            <a:xfrm>
              <a:off x="6790944" y="3086100"/>
              <a:ext cx="4499356" cy="1612392"/>
            </a:xfrm>
            <a:custGeom>
              <a:avLst/>
              <a:gdLst/>
              <a:ahLst/>
              <a:cxnLst/>
              <a:rect l="l" t="t" r="r" b="b"/>
              <a:pathLst>
                <a:path w="4499356" h="1612392">
                  <a:moveTo>
                    <a:pt x="0" y="0"/>
                  </a:moveTo>
                  <a:cubicBezTo>
                    <a:pt x="31060" y="0"/>
                    <a:pt x="60025" y="5248"/>
                    <a:pt x="87135" y="15145"/>
                  </a:cubicBezTo>
                  <a:moveTo>
                    <a:pt x="164070" y="58920"/>
                  </a:moveTo>
                  <a:cubicBezTo>
                    <a:pt x="186258" y="76506"/>
                    <a:pt x="207018" y="97666"/>
                    <a:pt x="226552" y="121903"/>
                  </a:cubicBezTo>
                  <a:moveTo>
                    <a:pt x="276848" y="195117"/>
                  </a:moveTo>
                  <a:cubicBezTo>
                    <a:pt x="291381" y="219583"/>
                    <a:pt x="305189" y="245867"/>
                    <a:pt x="318387" y="273680"/>
                  </a:cubicBezTo>
                  <a:moveTo>
                    <a:pt x="353793" y="355209"/>
                  </a:moveTo>
                  <a:cubicBezTo>
                    <a:pt x="364523" y="382050"/>
                    <a:pt x="374860" y="409876"/>
                    <a:pt x="384884" y="438487"/>
                  </a:cubicBezTo>
                  <a:moveTo>
                    <a:pt x="412941" y="522841"/>
                  </a:moveTo>
                  <a:cubicBezTo>
                    <a:pt x="421780" y="550717"/>
                    <a:pt x="430414" y="579111"/>
                    <a:pt x="438904" y="607864"/>
                  </a:cubicBezTo>
                  <a:moveTo>
                    <a:pt x="463514" y="693289"/>
                  </a:moveTo>
                  <a:cubicBezTo>
                    <a:pt x="471530" y="721691"/>
                    <a:pt x="479470" y="750284"/>
                    <a:pt x="487392" y="778923"/>
                  </a:cubicBezTo>
                  <a:moveTo>
                    <a:pt x="511096" y="864604"/>
                  </a:moveTo>
                  <a:cubicBezTo>
                    <a:pt x="519062" y="893278"/>
                    <a:pt x="527069" y="921852"/>
                    <a:pt x="535173" y="950182"/>
                  </a:cubicBezTo>
                  <a:moveTo>
                    <a:pt x="560198" y="1035486"/>
                  </a:moveTo>
                  <a:cubicBezTo>
                    <a:pt x="568883" y="1064237"/>
                    <a:pt x="577738" y="1092563"/>
                    <a:pt x="586828" y="1120302"/>
                  </a:cubicBezTo>
                  <a:moveTo>
                    <a:pt x="615864" y="1204322"/>
                  </a:moveTo>
                  <a:cubicBezTo>
                    <a:pt x="626311" y="1232861"/>
                    <a:pt x="637113" y="1260510"/>
                    <a:pt x="648353" y="1287063"/>
                  </a:cubicBezTo>
                  <a:moveTo>
                    <a:pt x="685740" y="1367697"/>
                  </a:moveTo>
                  <a:cubicBezTo>
                    <a:pt x="699797" y="1395196"/>
                    <a:pt x="714545" y="1420964"/>
                    <a:pt x="730108" y="1444686"/>
                  </a:cubicBezTo>
                  <a:moveTo>
                    <a:pt x="784418" y="1514938"/>
                  </a:moveTo>
                  <a:cubicBezTo>
                    <a:pt x="805520" y="1537678"/>
                    <a:pt x="828009" y="1556945"/>
                    <a:pt x="852101" y="1572192"/>
                  </a:cubicBezTo>
                  <a:moveTo>
                    <a:pt x="933707" y="1606319"/>
                  </a:moveTo>
                  <a:cubicBezTo>
                    <a:pt x="951636" y="1610318"/>
                    <a:pt x="970333" y="1612392"/>
                    <a:pt x="989858" y="1612392"/>
                  </a:cubicBezTo>
                  <a:lnTo>
                    <a:pt x="1022167" y="1612392"/>
                  </a:lnTo>
                  <a:moveTo>
                    <a:pt x="1111067" y="1612392"/>
                  </a:moveTo>
                  <a:lnTo>
                    <a:pt x="1199967" y="1612392"/>
                  </a:lnTo>
                  <a:moveTo>
                    <a:pt x="1288867" y="1612392"/>
                  </a:moveTo>
                  <a:lnTo>
                    <a:pt x="1377767" y="1612392"/>
                  </a:lnTo>
                  <a:moveTo>
                    <a:pt x="1466667" y="1612392"/>
                  </a:moveTo>
                  <a:lnTo>
                    <a:pt x="1555567" y="1612392"/>
                  </a:lnTo>
                  <a:moveTo>
                    <a:pt x="1644467" y="1612392"/>
                  </a:moveTo>
                  <a:lnTo>
                    <a:pt x="1733367" y="1612392"/>
                  </a:lnTo>
                  <a:moveTo>
                    <a:pt x="1822267" y="1612392"/>
                  </a:moveTo>
                  <a:lnTo>
                    <a:pt x="1911167" y="1612392"/>
                  </a:lnTo>
                  <a:moveTo>
                    <a:pt x="2000067" y="1612392"/>
                  </a:moveTo>
                  <a:lnTo>
                    <a:pt x="2088967" y="1612392"/>
                  </a:lnTo>
                  <a:moveTo>
                    <a:pt x="2177867" y="1612392"/>
                  </a:moveTo>
                  <a:lnTo>
                    <a:pt x="2266767" y="1612392"/>
                  </a:lnTo>
                  <a:moveTo>
                    <a:pt x="2355667" y="1612392"/>
                  </a:moveTo>
                  <a:lnTo>
                    <a:pt x="2444567" y="1612392"/>
                  </a:lnTo>
                  <a:moveTo>
                    <a:pt x="2533467" y="1612392"/>
                  </a:moveTo>
                  <a:lnTo>
                    <a:pt x="2622367" y="1612392"/>
                  </a:lnTo>
                  <a:moveTo>
                    <a:pt x="2711267" y="1612392"/>
                  </a:moveTo>
                  <a:lnTo>
                    <a:pt x="2800167" y="1612392"/>
                  </a:lnTo>
                  <a:moveTo>
                    <a:pt x="2889067" y="1612392"/>
                  </a:moveTo>
                  <a:lnTo>
                    <a:pt x="2977967" y="1612392"/>
                  </a:lnTo>
                  <a:moveTo>
                    <a:pt x="3066867" y="1612392"/>
                  </a:moveTo>
                  <a:lnTo>
                    <a:pt x="3155767" y="1612392"/>
                  </a:lnTo>
                  <a:moveTo>
                    <a:pt x="3244667" y="1612392"/>
                  </a:moveTo>
                  <a:lnTo>
                    <a:pt x="3333567" y="1612392"/>
                  </a:lnTo>
                  <a:moveTo>
                    <a:pt x="3422467" y="1612392"/>
                  </a:moveTo>
                  <a:lnTo>
                    <a:pt x="3511367" y="1612392"/>
                  </a:lnTo>
                  <a:moveTo>
                    <a:pt x="3600267" y="1612392"/>
                  </a:moveTo>
                  <a:lnTo>
                    <a:pt x="3689167" y="1612392"/>
                  </a:lnTo>
                  <a:moveTo>
                    <a:pt x="3778067" y="1612392"/>
                  </a:moveTo>
                  <a:lnTo>
                    <a:pt x="3866967" y="1612392"/>
                  </a:lnTo>
                  <a:moveTo>
                    <a:pt x="3955867" y="1612392"/>
                  </a:moveTo>
                  <a:lnTo>
                    <a:pt x="4044767" y="1612392"/>
                  </a:lnTo>
                  <a:moveTo>
                    <a:pt x="4133667" y="1612392"/>
                  </a:moveTo>
                  <a:lnTo>
                    <a:pt x="4222567" y="1612392"/>
                  </a:lnTo>
                  <a:moveTo>
                    <a:pt x="4311467" y="1612392"/>
                  </a:moveTo>
                  <a:lnTo>
                    <a:pt x="4400367" y="1612392"/>
                  </a:lnTo>
                  <a:moveTo>
                    <a:pt x="4489267" y="1612392"/>
                  </a:moveTo>
                  <a:lnTo>
                    <a:pt x="4499356" y="1612392"/>
                  </a:lnTo>
                </a:path>
              </a:pathLst>
            </a:custGeom>
            <a:ln w="19050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37" name="node08.trunk.source-001.pin"/>
            <p:cNvSpPr/>
            <p:nvPr/>
          </p:nvSpPr>
          <p:spPr>
            <a:xfrm>
              <a:off x="5107686" y="294322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70154"/>
              </a:solidFill>
              <a:prstDash val="solid"/>
            </a:ln>
          </p:spPr>
        </p:sp>
        <p:sp>
          <p:nvSpPr>
            <p:cNvPr id="38" name="node08.trunk.source-001.number"/>
            <p:cNvSpPr/>
            <p:nvPr/>
          </p:nvSpPr>
          <p:spPr>
            <a:xfrm>
              <a:off x="5098161" y="2933700"/>
              <a:ext cx="304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000"/>
                </a:lnSpc>
                <a:buNone/>
              </a:pPr>
              <a:r>
                <a:rPr lang="en-US" sz="10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1</a:t>
              </a:r>
              <a:endParaRPr lang="en-US" sz="10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9" name="node08.trunk.source-001.label.part-1"/>
            <p:cNvSpPr/>
            <p:nvPr/>
          </p:nvSpPr>
          <p:spPr>
            <a:xfrm>
              <a:off x="4838700" y="2090420"/>
              <a:ext cx="823722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Q4 2026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0" name="node08.trunk.source-001.label.part-2"/>
            <p:cNvSpPr/>
            <p:nvPr/>
          </p:nvSpPr>
          <p:spPr>
            <a:xfrm>
              <a:off x="4838700" y="2268220"/>
              <a:ext cx="82372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44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Data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41" name="node08.trunk.source-001.label.part-3"/>
            <p:cNvSpPr/>
            <p:nvPr/>
          </p:nvSpPr>
          <p:spPr>
            <a:xfrm>
              <a:off x="4838700" y="2476500"/>
              <a:ext cx="823722" cy="4191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5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Patient index.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2" name="node08.trunk.source-002.pin"/>
            <p:cNvSpPr/>
            <p:nvPr/>
          </p:nvSpPr>
          <p:spPr>
            <a:xfrm>
              <a:off x="6033008" y="294322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70154"/>
              </a:solidFill>
              <a:prstDash val="solid"/>
            </a:ln>
          </p:spPr>
        </p:sp>
        <p:sp>
          <p:nvSpPr>
            <p:cNvPr id="43" name="node08.trunk.source-002.number"/>
            <p:cNvSpPr/>
            <p:nvPr/>
          </p:nvSpPr>
          <p:spPr>
            <a:xfrm>
              <a:off x="6023483" y="2933700"/>
              <a:ext cx="304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000"/>
                </a:lnSpc>
                <a:buNone/>
              </a:pPr>
              <a:r>
                <a:rPr lang="en-US" sz="10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2</a:t>
              </a:r>
              <a:endParaRPr lang="en-US" sz="10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4" name="node08.trunk.source-002.label.part-1"/>
            <p:cNvSpPr/>
            <p:nvPr/>
          </p:nvSpPr>
          <p:spPr>
            <a:xfrm>
              <a:off x="5764022" y="3314700"/>
              <a:ext cx="823722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Q1 2027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5" name="node08.trunk.source-002.label.part-2"/>
            <p:cNvSpPr/>
            <p:nvPr/>
          </p:nvSpPr>
          <p:spPr>
            <a:xfrm>
              <a:off x="5764022" y="3492500"/>
              <a:ext cx="82372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44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Sign-in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46" name="node08.trunk.source-002.label.part-3"/>
            <p:cNvSpPr/>
            <p:nvPr/>
          </p:nvSpPr>
          <p:spPr>
            <a:xfrm>
              <a:off x="5764022" y="3700780"/>
              <a:ext cx="82372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5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One ID.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7" name="node08.fork.split"/>
            <p:cNvSpPr/>
            <p:nvPr/>
          </p:nvSpPr>
          <p:spPr>
            <a:xfrm>
              <a:off x="6651244" y="2946400"/>
              <a:ext cx="279400" cy="279400"/>
            </a:xfrm>
            <a:prstGeom prst="rect">
              <a:avLst/>
            </a:prstGeom>
            <a:solidFill>
              <a:srgbClr val="070154"/>
            </a:solidFill>
            <a:ln w="38100">
              <a:solidFill>
                <a:srgbClr val="070154"/>
              </a:solidFill>
              <a:prstDash val="solid"/>
            </a:ln>
          </p:spPr>
        </p:sp>
        <p:sp>
          <p:nvSpPr>
            <p:cNvPr id="48" name="node08.fork.split.inset"/>
            <p:cNvSpPr/>
            <p:nvPr/>
          </p:nvSpPr>
          <p:spPr>
            <a:xfrm>
              <a:off x="6670294" y="2965450"/>
              <a:ext cx="241300" cy="241300"/>
            </a:xfrm>
            <a:prstGeom prst="rect">
              <a:avLst/>
            </a:prstGeom>
            <a:solidFill>
              <a:srgbClr val="070154"/>
            </a:solidFill>
            <a:ln w="38100">
              <a:solidFill>
                <a:srgbClr val="FFFFFF"/>
              </a:solidFill>
              <a:prstDash val="solid"/>
            </a:ln>
          </p:spPr>
        </p:sp>
        <p:sp>
          <p:nvSpPr>
            <p:cNvPr id="49" name="node08.fork.label.part-1"/>
            <p:cNvSpPr/>
            <p:nvPr/>
          </p:nvSpPr>
          <p:spPr>
            <a:xfrm>
              <a:off x="6257544" y="457200"/>
              <a:ext cx="1066800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PARALLEL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50" name="node08.fork.label.part-2"/>
            <p:cNvSpPr/>
            <p:nvPr/>
          </p:nvSpPr>
          <p:spPr>
            <a:xfrm>
              <a:off x="6257544" y="635000"/>
              <a:ext cx="1066800" cy="4800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68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Foundation done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51" name="node08.fork.label.part-3"/>
            <p:cNvSpPr/>
            <p:nvPr/>
          </p:nvSpPr>
          <p:spPr>
            <a:xfrm>
              <a:off x="6257544" y="1087120"/>
              <a:ext cx="1066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Tracks start.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2" name="node08.branches.source-001.title.part-1"/>
            <p:cNvSpPr/>
            <p:nvPr/>
          </p:nvSpPr>
          <p:spPr>
            <a:xfrm>
              <a:off x="8420949" y="727202"/>
              <a:ext cx="2869351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7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Patient access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53" name="node08.branches.source-001.tag"/>
            <p:cNvSpPr/>
            <p:nvPr/>
          </p:nvSpPr>
          <p:spPr>
            <a:xfrm>
              <a:off x="7780802" y="810069"/>
              <a:ext cx="551247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TRACK A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54" name="node08.branches.source-001.milestones.source-001.pin"/>
            <p:cNvSpPr/>
            <p:nvPr/>
          </p:nvSpPr>
          <p:spPr>
            <a:xfrm>
              <a:off x="8629602" y="1050417"/>
              <a:ext cx="285750" cy="2857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70154"/>
              </a:solidFill>
              <a:prstDash val="solid"/>
            </a:ln>
          </p:spPr>
        </p:sp>
        <p:sp>
          <p:nvSpPr>
            <p:cNvPr id="55" name="node08.branches.source-001.milestones.source-001.number"/>
            <p:cNvSpPr/>
            <p:nvPr/>
          </p:nvSpPr>
          <p:spPr>
            <a:xfrm>
              <a:off x="8620077" y="1040892"/>
              <a:ext cx="304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000"/>
                </a:lnSpc>
                <a:buNone/>
              </a:pPr>
              <a:r>
                <a:rPr lang="en-US" sz="10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A1</a:t>
              </a:r>
              <a:endParaRPr lang="en-US" sz="10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56" name="node08.branches.source-001.milestones.source-001.label.part-1"/>
            <p:cNvSpPr/>
            <p:nvPr/>
          </p:nvSpPr>
          <p:spPr>
            <a:xfrm>
              <a:off x="7984002" y="1421892"/>
              <a:ext cx="1576949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Q2 2027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57" name="node08.branches.source-001.milestones.source-001.label.part-2"/>
            <p:cNvSpPr/>
            <p:nvPr/>
          </p:nvSpPr>
          <p:spPr>
            <a:xfrm>
              <a:off x="7984002" y="1599692"/>
              <a:ext cx="1576949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44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Self-scheduling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58" name="node08.branches.source-001.milestones.source-001.label.part-3"/>
            <p:cNvSpPr/>
            <p:nvPr/>
          </p:nvSpPr>
          <p:spPr>
            <a:xfrm>
              <a:off x="7984002" y="1807972"/>
              <a:ext cx="1576949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5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Primary care first.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9" name="node08.branches.source-001.milestones.source-002.pin"/>
            <p:cNvSpPr/>
            <p:nvPr/>
          </p:nvSpPr>
          <p:spPr>
            <a:xfrm>
              <a:off x="10308151" y="1050417"/>
              <a:ext cx="285750" cy="2857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70154"/>
              </a:solidFill>
              <a:prstDash val="solid"/>
            </a:ln>
          </p:spPr>
        </p:sp>
        <p:sp>
          <p:nvSpPr>
            <p:cNvPr id="60" name="node08.branches.source-001.milestones.source-002.number"/>
            <p:cNvSpPr/>
            <p:nvPr/>
          </p:nvSpPr>
          <p:spPr>
            <a:xfrm>
              <a:off x="10298626" y="1040892"/>
              <a:ext cx="304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000"/>
                </a:lnSpc>
                <a:buNone/>
              </a:pPr>
              <a:r>
                <a:rPr lang="en-US" sz="10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A2</a:t>
              </a:r>
              <a:endParaRPr lang="en-US" sz="10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61" name="node08.branches.source-001.milestones.source-002.label.part-1"/>
            <p:cNvSpPr/>
            <p:nvPr/>
          </p:nvSpPr>
          <p:spPr>
            <a:xfrm>
              <a:off x="9662551" y="1421892"/>
              <a:ext cx="1576949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Q3 2027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62" name="node08.branches.source-001.milestones.source-002.label.part-2"/>
            <p:cNvSpPr/>
            <p:nvPr/>
          </p:nvSpPr>
          <p:spPr>
            <a:xfrm>
              <a:off x="9662551" y="1599692"/>
              <a:ext cx="1576949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44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Digital intake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63" name="node08.branches.source-001.milestones.source-002.label.part-3"/>
            <p:cNvSpPr/>
            <p:nvPr/>
          </p:nvSpPr>
          <p:spPr>
            <a:xfrm>
              <a:off x="9662551" y="1807972"/>
              <a:ext cx="1576949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5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Forms before arrival.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4" name="node08.branches.source-002.title.part-1"/>
            <p:cNvSpPr/>
            <p:nvPr/>
          </p:nvSpPr>
          <p:spPr>
            <a:xfrm>
              <a:off x="8420949" y="2479802"/>
              <a:ext cx="2869351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7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Revenue cycle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65" name="node08.branches.source-002.tag"/>
            <p:cNvSpPr/>
            <p:nvPr/>
          </p:nvSpPr>
          <p:spPr>
            <a:xfrm>
              <a:off x="7780802" y="2562670"/>
              <a:ext cx="551247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TRACK B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66" name="node08.branches.source-002.milestones.source-001.pin"/>
            <p:cNvSpPr/>
            <p:nvPr/>
          </p:nvSpPr>
          <p:spPr>
            <a:xfrm>
              <a:off x="8629602" y="2803017"/>
              <a:ext cx="285750" cy="2857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70154"/>
              </a:solidFill>
              <a:prstDash val="solid"/>
            </a:ln>
          </p:spPr>
        </p:sp>
        <p:sp>
          <p:nvSpPr>
            <p:cNvPr id="67" name="node08.branches.source-002.milestones.source-001.number"/>
            <p:cNvSpPr/>
            <p:nvPr/>
          </p:nvSpPr>
          <p:spPr>
            <a:xfrm>
              <a:off x="8620077" y="2793492"/>
              <a:ext cx="304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000"/>
                </a:lnSpc>
                <a:buNone/>
              </a:pPr>
              <a:r>
                <a:rPr lang="en-US" sz="10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B1</a:t>
              </a:r>
              <a:endParaRPr lang="en-US" sz="10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68" name="node08.branches.source-002.milestones.source-001.label.part-1"/>
            <p:cNvSpPr/>
            <p:nvPr/>
          </p:nvSpPr>
          <p:spPr>
            <a:xfrm>
              <a:off x="7984002" y="3174492"/>
              <a:ext cx="1576949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Q2 2027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69" name="node08.branches.source-002.milestones.source-001.label.part-2"/>
            <p:cNvSpPr/>
            <p:nvPr/>
          </p:nvSpPr>
          <p:spPr>
            <a:xfrm>
              <a:off x="7984002" y="3352292"/>
              <a:ext cx="1576949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44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Price estimates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70" name="node08.branches.source-002.milestones.source-001.label.part-3"/>
            <p:cNvSpPr/>
            <p:nvPr/>
          </p:nvSpPr>
          <p:spPr>
            <a:xfrm>
              <a:off x="7984002" y="3560572"/>
              <a:ext cx="1576949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5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Shown before booking.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71" name="node08.branches.source-002.milestones.source-002.pin"/>
            <p:cNvSpPr/>
            <p:nvPr/>
          </p:nvSpPr>
          <p:spPr>
            <a:xfrm>
              <a:off x="10308151" y="2803017"/>
              <a:ext cx="285750" cy="2857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70154"/>
              </a:solidFill>
              <a:prstDash val="solid"/>
            </a:ln>
          </p:spPr>
        </p:sp>
        <p:sp>
          <p:nvSpPr>
            <p:cNvPr id="72" name="node08.branches.source-002.milestones.source-002.number"/>
            <p:cNvSpPr/>
            <p:nvPr/>
          </p:nvSpPr>
          <p:spPr>
            <a:xfrm>
              <a:off x="10298626" y="2793492"/>
              <a:ext cx="304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000"/>
                </a:lnSpc>
                <a:buNone/>
              </a:pPr>
              <a:r>
                <a:rPr lang="en-US" sz="10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B2</a:t>
              </a:r>
              <a:endParaRPr lang="en-US" sz="10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73" name="node08.branches.source-002.milestones.source-002.label.part-1"/>
            <p:cNvSpPr/>
            <p:nvPr/>
          </p:nvSpPr>
          <p:spPr>
            <a:xfrm>
              <a:off x="9662551" y="3174492"/>
              <a:ext cx="1576949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Q4 2027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74" name="node08.branches.source-002.milestones.source-002.label.part-2"/>
            <p:cNvSpPr/>
            <p:nvPr/>
          </p:nvSpPr>
          <p:spPr>
            <a:xfrm>
              <a:off x="9662551" y="3352292"/>
              <a:ext cx="1576949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44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Online payment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75" name="node08.branches.source-002.milestones.source-002.label.part-3"/>
            <p:cNvSpPr/>
            <p:nvPr/>
          </p:nvSpPr>
          <p:spPr>
            <a:xfrm>
              <a:off x="9662551" y="3560572"/>
              <a:ext cx="1576949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5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Pay at the visit.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76" name="node08.branches.source-003.title.part-1"/>
            <p:cNvSpPr/>
            <p:nvPr/>
          </p:nvSpPr>
          <p:spPr>
            <a:xfrm>
              <a:off x="8420949" y="4232402"/>
              <a:ext cx="2869351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7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Clinical operations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77" name="node08.branches.source-003.tag"/>
            <p:cNvSpPr/>
            <p:nvPr/>
          </p:nvSpPr>
          <p:spPr>
            <a:xfrm>
              <a:off x="7780802" y="4315270"/>
              <a:ext cx="551247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TRACK C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78" name="node08.branches.source-003.milestones.source-001.pin"/>
            <p:cNvSpPr/>
            <p:nvPr/>
          </p:nvSpPr>
          <p:spPr>
            <a:xfrm>
              <a:off x="8629602" y="4555617"/>
              <a:ext cx="285750" cy="2857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70154"/>
              </a:solidFill>
              <a:prstDash val="solid"/>
            </a:ln>
          </p:spPr>
        </p:sp>
        <p:sp>
          <p:nvSpPr>
            <p:cNvPr id="79" name="node08.branches.source-003.milestones.source-001.number"/>
            <p:cNvSpPr/>
            <p:nvPr/>
          </p:nvSpPr>
          <p:spPr>
            <a:xfrm>
              <a:off x="8620077" y="4546092"/>
              <a:ext cx="304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000"/>
                </a:lnSpc>
                <a:buNone/>
              </a:pPr>
              <a:r>
                <a:rPr lang="en-US" sz="10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C1</a:t>
              </a:r>
              <a:endParaRPr lang="en-US" sz="10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80" name="node08.branches.source-003.milestones.source-001.label.part-1"/>
            <p:cNvSpPr/>
            <p:nvPr/>
          </p:nvSpPr>
          <p:spPr>
            <a:xfrm>
              <a:off x="7984002" y="4927092"/>
              <a:ext cx="1576949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Q3 2027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81" name="node08.branches.source-003.milestones.source-001.label.part-2"/>
            <p:cNvSpPr/>
            <p:nvPr/>
          </p:nvSpPr>
          <p:spPr>
            <a:xfrm>
              <a:off x="7984002" y="5104892"/>
              <a:ext cx="1576949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44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Referral tracking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82" name="node08.branches.source-003.milestones.source-001.label.part-3"/>
            <p:cNvSpPr/>
            <p:nvPr/>
          </p:nvSpPr>
          <p:spPr>
            <a:xfrm>
              <a:off x="7984002" y="5313172"/>
              <a:ext cx="1576949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5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One status view.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83" name="node08.branches.source-003.milestones.source-002.pin"/>
            <p:cNvSpPr/>
            <p:nvPr/>
          </p:nvSpPr>
          <p:spPr>
            <a:xfrm>
              <a:off x="10308151" y="4555617"/>
              <a:ext cx="285750" cy="2857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70154"/>
              </a:solidFill>
              <a:prstDash val="solid"/>
            </a:ln>
          </p:spPr>
        </p:sp>
        <p:sp>
          <p:nvSpPr>
            <p:cNvPr id="84" name="node08.branches.source-003.milestones.source-002.number"/>
            <p:cNvSpPr/>
            <p:nvPr/>
          </p:nvSpPr>
          <p:spPr>
            <a:xfrm>
              <a:off x="10298626" y="4546092"/>
              <a:ext cx="304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000"/>
                </a:lnSpc>
                <a:buNone/>
              </a:pPr>
              <a:r>
                <a:rPr lang="en-US" sz="10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C2</a:t>
              </a:r>
              <a:endParaRPr lang="en-US" sz="10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85" name="node08.branches.source-003.milestones.source-002.label.part-1"/>
            <p:cNvSpPr/>
            <p:nvPr/>
          </p:nvSpPr>
          <p:spPr>
            <a:xfrm>
              <a:off x="9662551" y="4927092"/>
              <a:ext cx="1576949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Q1 2028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86" name="node08.branches.source-003.milestones.source-002.label.part-2"/>
            <p:cNvSpPr/>
            <p:nvPr/>
          </p:nvSpPr>
          <p:spPr>
            <a:xfrm>
              <a:off x="9662551" y="5104892"/>
              <a:ext cx="1576949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44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Care plans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87" name="node08.branches.source-003.milestones.source-002.label.part-3"/>
            <p:cNvSpPr/>
            <p:nvPr/>
          </p:nvSpPr>
          <p:spPr>
            <a:xfrm>
              <a:off x="9662551" y="5313172"/>
              <a:ext cx="1576949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5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Shared in the app.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4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ROADMAP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The choice turns on time and fit, not cost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Northfield Health System digital front door program.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10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62" name="node01"/>
          <p:cNvGrpSpPr/>
          <p:nvPr/>
        </p:nvGrpSpPr>
        <p:grpSpPr>
          <a:xfrm>
            <a:off x="723900" y="1600200"/>
            <a:ext cx="10744200" cy="2682748"/>
            <a:chOff x="723900" y="1600200"/>
            <a:chExt cx="10744200" cy="2682748"/>
          </a:xfrm>
        </p:grpSpPr>
        <p:sp>
          <p:nvSpPr>
            <p:cNvPr id="7" name="node01.trunk.road"/>
            <p:cNvSpPr/>
            <p:nvPr/>
          </p:nvSpPr>
          <p:spPr>
            <a:xfrm>
              <a:off x="901700" y="2895600"/>
              <a:ext cx="3045460" cy="0"/>
            </a:xfrm>
            <a:custGeom>
              <a:avLst/>
              <a:gdLst/>
              <a:ahLst/>
              <a:cxnLst/>
              <a:rect l="l" t="t" r="r" b="b"/>
              <a:pathLst>
                <a:path w="3045460">
                  <a:moveTo>
                    <a:pt x="0" y="0"/>
                  </a:moveTo>
                  <a:lnTo>
                    <a:pt x="3045460" y="0"/>
                  </a:lnTo>
                </a:path>
              </a:pathLst>
            </a:custGeom>
            <a:ln w="228600">
              <a:solidFill>
                <a:srgbClr val="070154"/>
              </a:solidFill>
              <a:prstDash val="solid"/>
              <a:round/>
            </a:ln>
          </p:spPr>
        </p:sp>
        <p:sp>
          <p:nvSpPr>
            <p:cNvPr id="8" name="node01.trunk.road.cap-1"/>
            <p:cNvSpPr/>
            <p:nvPr/>
          </p:nvSpPr>
          <p:spPr>
            <a:xfrm>
              <a:off x="787400" y="2781300"/>
              <a:ext cx="228600" cy="2286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9" name="node01.trunk.road.cap-2"/>
            <p:cNvSpPr/>
            <p:nvPr/>
          </p:nvSpPr>
          <p:spPr>
            <a:xfrm>
              <a:off x="3832860" y="2781300"/>
              <a:ext cx="228600" cy="2286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0" name="node01.trunk.centerline"/>
            <p:cNvSpPr/>
            <p:nvPr/>
          </p:nvSpPr>
          <p:spPr>
            <a:xfrm>
              <a:off x="901700" y="2895600"/>
              <a:ext cx="3045460" cy="0"/>
            </a:xfrm>
            <a:custGeom>
              <a:avLst/>
              <a:gdLst/>
              <a:ahLst/>
              <a:cxnLst/>
              <a:rect l="l" t="t" r="r" b="b"/>
              <a:pathLst>
                <a:path w="3045460">
                  <a:moveTo>
                    <a:pt x="0" y="0"/>
                  </a:moveTo>
                  <a:lnTo>
                    <a:pt x="88900" y="0"/>
                  </a:lnTo>
                  <a:moveTo>
                    <a:pt x="177800" y="0"/>
                  </a:moveTo>
                  <a:lnTo>
                    <a:pt x="266700" y="0"/>
                  </a:lnTo>
                  <a:moveTo>
                    <a:pt x="355600" y="0"/>
                  </a:moveTo>
                  <a:lnTo>
                    <a:pt x="444500" y="0"/>
                  </a:lnTo>
                  <a:moveTo>
                    <a:pt x="533400" y="0"/>
                  </a:moveTo>
                  <a:lnTo>
                    <a:pt x="622300" y="0"/>
                  </a:lnTo>
                  <a:moveTo>
                    <a:pt x="711200" y="0"/>
                  </a:moveTo>
                  <a:lnTo>
                    <a:pt x="800100" y="0"/>
                  </a:lnTo>
                  <a:moveTo>
                    <a:pt x="889000" y="0"/>
                  </a:moveTo>
                  <a:lnTo>
                    <a:pt x="977900" y="0"/>
                  </a:lnTo>
                  <a:moveTo>
                    <a:pt x="1066800" y="0"/>
                  </a:moveTo>
                  <a:lnTo>
                    <a:pt x="1155700" y="0"/>
                  </a:lnTo>
                  <a:moveTo>
                    <a:pt x="1244600" y="0"/>
                  </a:moveTo>
                  <a:lnTo>
                    <a:pt x="1333500" y="0"/>
                  </a:lnTo>
                  <a:moveTo>
                    <a:pt x="1422400" y="0"/>
                  </a:moveTo>
                  <a:lnTo>
                    <a:pt x="1511300" y="0"/>
                  </a:lnTo>
                  <a:moveTo>
                    <a:pt x="1600200" y="0"/>
                  </a:moveTo>
                  <a:lnTo>
                    <a:pt x="1689100" y="0"/>
                  </a:lnTo>
                  <a:moveTo>
                    <a:pt x="1778000" y="0"/>
                  </a:moveTo>
                  <a:lnTo>
                    <a:pt x="1866900" y="0"/>
                  </a:lnTo>
                  <a:moveTo>
                    <a:pt x="1955800" y="0"/>
                  </a:moveTo>
                  <a:lnTo>
                    <a:pt x="2044700" y="0"/>
                  </a:lnTo>
                  <a:moveTo>
                    <a:pt x="2133600" y="0"/>
                  </a:moveTo>
                  <a:lnTo>
                    <a:pt x="2222500" y="0"/>
                  </a:lnTo>
                  <a:moveTo>
                    <a:pt x="2311400" y="0"/>
                  </a:moveTo>
                  <a:lnTo>
                    <a:pt x="2400300" y="0"/>
                  </a:lnTo>
                  <a:moveTo>
                    <a:pt x="2489200" y="0"/>
                  </a:moveTo>
                  <a:lnTo>
                    <a:pt x="2578100" y="0"/>
                  </a:lnTo>
                  <a:moveTo>
                    <a:pt x="2667000" y="0"/>
                  </a:moveTo>
                  <a:lnTo>
                    <a:pt x="2755900" y="0"/>
                  </a:lnTo>
                  <a:moveTo>
                    <a:pt x="2844800" y="0"/>
                  </a:moveTo>
                  <a:lnTo>
                    <a:pt x="2933700" y="0"/>
                  </a:lnTo>
                  <a:moveTo>
                    <a:pt x="3022600" y="0"/>
                  </a:moveTo>
                  <a:lnTo>
                    <a:pt x="3045460" y="0"/>
                  </a:lnTo>
                </a:path>
              </a:pathLst>
            </a:custGeom>
            <a:ln w="19050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1" name="node01.branches.source-001.road"/>
            <p:cNvSpPr/>
            <p:nvPr/>
          </p:nvSpPr>
          <p:spPr>
            <a:xfrm>
              <a:off x="3947160" y="2144268"/>
              <a:ext cx="7343140" cy="751332"/>
            </a:xfrm>
            <a:custGeom>
              <a:avLst/>
              <a:gdLst/>
              <a:ahLst/>
              <a:cxnLst/>
              <a:rect l="l" t="t" r="r" b="b"/>
              <a:pathLst>
                <a:path w="7343140" h="751332">
                  <a:moveTo>
                    <a:pt x="0" y="751332"/>
                  </a:moveTo>
                  <a:cubicBezTo>
                    <a:pt x="754380" y="751332"/>
                    <a:pt x="617220" y="0"/>
                    <a:pt x="1371600" y="0"/>
                  </a:cubicBezTo>
                  <a:lnTo>
                    <a:pt x="7343140" y="0"/>
                  </a:lnTo>
                </a:path>
              </a:pathLst>
            </a:custGeom>
            <a:ln w="228600">
              <a:solidFill>
                <a:srgbClr val="50658E"/>
              </a:solidFill>
              <a:prstDash val="solid"/>
              <a:round/>
            </a:ln>
          </p:spPr>
        </p:sp>
        <p:sp>
          <p:nvSpPr>
            <p:cNvPr id="12" name="node01.branches.source-001.road.cap-1"/>
            <p:cNvSpPr/>
            <p:nvPr/>
          </p:nvSpPr>
          <p:spPr>
            <a:xfrm>
              <a:off x="3832860" y="2781300"/>
              <a:ext cx="228600" cy="228600"/>
            </a:xfrm>
            <a:prstGeom prst="ellipse">
              <a:avLst/>
            </a:prstGeom>
            <a:solidFill>
              <a:srgbClr val="50658E"/>
            </a:solidFill>
            <a:ln>
              <a:noFill/>
            </a:ln>
          </p:spPr>
        </p:sp>
        <p:sp>
          <p:nvSpPr>
            <p:cNvPr id="13" name="node01.branches.source-001.road.cap-2"/>
            <p:cNvSpPr/>
            <p:nvPr/>
          </p:nvSpPr>
          <p:spPr>
            <a:xfrm>
              <a:off x="11176000" y="2029968"/>
              <a:ext cx="228600" cy="228600"/>
            </a:xfrm>
            <a:prstGeom prst="ellipse">
              <a:avLst/>
            </a:prstGeom>
            <a:solidFill>
              <a:srgbClr val="50658E"/>
            </a:solidFill>
            <a:ln>
              <a:noFill/>
            </a:ln>
          </p:spPr>
        </p:sp>
        <p:sp>
          <p:nvSpPr>
            <p:cNvPr id="14" name="node01.branches.source-001.centerline"/>
            <p:cNvSpPr/>
            <p:nvPr/>
          </p:nvSpPr>
          <p:spPr>
            <a:xfrm>
              <a:off x="3947160" y="2144268"/>
              <a:ext cx="7343140" cy="751332"/>
            </a:xfrm>
            <a:custGeom>
              <a:avLst/>
              <a:gdLst/>
              <a:ahLst/>
              <a:cxnLst/>
              <a:rect l="l" t="t" r="r" b="b"/>
              <a:pathLst>
                <a:path w="7343140" h="751332">
                  <a:moveTo>
                    <a:pt x="0" y="751332"/>
                  </a:moveTo>
                  <a:cubicBezTo>
                    <a:pt x="12958" y="751332"/>
                    <a:pt x="25653" y="751110"/>
                    <a:pt x="38094" y="750675"/>
                  </a:cubicBezTo>
                  <a:moveTo>
                    <a:pt x="101441" y="746429"/>
                  </a:moveTo>
                  <a:cubicBezTo>
                    <a:pt x="114336" y="745131"/>
                    <a:pt x="126937" y="743584"/>
                    <a:pt x="139254" y="741798"/>
                  </a:cubicBezTo>
                  <a:moveTo>
                    <a:pt x="201673" y="730221"/>
                  </a:moveTo>
                  <a:cubicBezTo>
                    <a:pt x="214292" y="727342"/>
                    <a:pt x="226589" y="724191"/>
                    <a:pt x="238581" y="720783"/>
                  </a:cubicBezTo>
                  <a:moveTo>
                    <a:pt x="298773" y="700629"/>
                  </a:moveTo>
                  <a:cubicBezTo>
                    <a:pt x="310794" y="695961"/>
                    <a:pt x="322484" y="691016"/>
                    <a:pt x="333868" y="685812"/>
                  </a:cubicBezTo>
                  <a:moveTo>
                    <a:pt x="390230" y="656617"/>
                  </a:moveTo>
                  <a:cubicBezTo>
                    <a:pt x="401315" y="650169"/>
                    <a:pt x="412094" y="643464"/>
                    <a:pt x="422595" y="636524"/>
                  </a:cubicBezTo>
                  <a:moveTo>
                    <a:pt x="473920" y="599171"/>
                  </a:moveTo>
                  <a:cubicBezTo>
                    <a:pt x="483899" y="591224"/>
                    <a:pt x="493629" y="583067"/>
                    <a:pt x="503140" y="574726"/>
                  </a:cubicBezTo>
                  <a:moveTo>
                    <a:pt x="549390" y="531233"/>
                  </a:moveTo>
                  <a:cubicBezTo>
                    <a:pt x="558369" y="522229"/>
                    <a:pt x="567176" y="513081"/>
                    <a:pt x="575843" y="503815"/>
                  </a:cubicBezTo>
                  <a:moveTo>
                    <a:pt x="618227" y="456536"/>
                  </a:moveTo>
                  <a:cubicBezTo>
                    <a:pt x="626532" y="446927"/>
                    <a:pt x="634750" y="437244"/>
                    <a:pt x="642911" y="427514"/>
                  </a:cubicBezTo>
                  <a:moveTo>
                    <a:pt x="683395" y="378593"/>
                  </a:moveTo>
                  <a:cubicBezTo>
                    <a:pt x="691457" y="368780"/>
                    <a:pt x="699516" y="358964"/>
                    <a:pt x="707604" y="349173"/>
                  </a:cubicBezTo>
                  <a:moveTo>
                    <a:pt x="748429" y="300537"/>
                  </a:moveTo>
                  <a:cubicBezTo>
                    <a:pt x="756699" y="290901"/>
                    <a:pt x="765051" y="281334"/>
                    <a:pt x="773516" y="271863"/>
                  </a:cubicBezTo>
                  <a:moveTo>
                    <a:pt x="816878" y="225482"/>
                  </a:moveTo>
                  <a:cubicBezTo>
                    <a:pt x="825770" y="216442"/>
                    <a:pt x="834826" y="207542"/>
                    <a:pt x="844079" y="198807"/>
                  </a:cubicBezTo>
                  <a:moveTo>
                    <a:pt x="891776" y="156910"/>
                  </a:moveTo>
                  <a:cubicBezTo>
                    <a:pt x="901581" y="148943"/>
                    <a:pt x="911625" y="141177"/>
                    <a:pt x="921938" y="133638"/>
                  </a:cubicBezTo>
                  <a:moveTo>
                    <a:pt x="974843" y="98562"/>
                  </a:moveTo>
                  <a:cubicBezTo>
                    <a:pt x="985631" y="92120"/>
                    <a:pt x="996710" y="85922"/>
                    <a:pt x="1008105" y="79991"/>
                  </a:cubicBezTo>
                  <a:moveTo>
                    <a:pt x="1065780" y="53486"/>
                  </a:moveTo>
                  <a:cubicBezTo>
                    <a:pt x="1077379" y="48828"/>
                    <a:pt x="1089287" y="44431"/>
                    <a:pt x="1101525" y="40312"/>
                  </a:cubicBezTo>
                  <a:moveTo>
                    <a:pt x="1162549" y="22834"/>
                  </a:moveTo>
                  <a:cubicBezTo>
                    <a:pt x="1174666" y="19939"/>
                    <a:pt x="1187082" y="17296"/>
                    <a:pt x="1199815" y="14920"/>
                  </a:cubicBezTo>
                  <a:moveTo>
                    <a:pt x="1262625" y="5693"/>
                  </a:moveTo>
                  <a:cubicBezTo>
                    <a:pt x="1274996" y="4343"/>
                    <a:pt x="1287642" y="3223"/>
                    <a:pt x="1300574" y="2345"/>
                  </a:cubicBezTo>
                  <a:moveTo>
                    <a:pt x="1364022" y="25"/>
                  </a:moveTo>
                  <a:cubicBezTo>
                    <a:pt x="1366538" y="8"/>
                    <a:pt x="1369064" y="0"/>
                    <a:pt x="1371600" y="0"/>
                  </a:cubicBezTo>
                  <a:lnTo>
                    <a:pt x="1402124" y="0"/>
                  </a:lnTo>
                  <a:moveTo>
                    <a:pt x="1465624" y="0"/>
                  </a:moveTo>
                  <a:lnTo>
                    <a:pt x="1503724" y="0"/>
                  </a:lnTo>
                  <a:moveTo>
                    <a:pt x="1567224" y="0"/>
                  </a:moveTo>
                  <a:lnTo>
                    <a:pt x="1605324" y="0"/>
                  </a:lnTo>
                  <a:moveTo>
                    <a:pt x="1668824" y="0"/>
                  </a:moveTo>
                  <a:lnTo>
                    <a:pt x="1706924" y="0"/>
                  </a:lnTo>
                  <a:moveTo>
                    <a:pt x="1770424" y="0"/>
                  </a:moveTo>
                  <a:lnTo>
                    <a:pt x="1808524" y="0"/>
                  </a:lnTo>
                  <a:moveTo>
                    <a:pt x="1872024" y="0"/>
                  </a:moveTo>
                  <a:lnTo>
                    <a:pt x="1910124" y="0"/>
                  </a:lnTo>
                  <a:moveTo>
                    <a:pt x="1973624" y="0"/>
                  </a:moveTo>
                  <a:lnTo>
                    <a:pt x="2011724" y="0"/>
                  </a:lnTo>
                  <a:moveTo>
                    <a:pt x="2075224" y="0"/>
                  </a:moveTo>
                  <a:lnTo>
                    <a:pt x="2113324" y="0"/>
                  </a:lnTo>
                  <a:moveTo>
                    <a:pt x="2176824" y="0"/>
                  </a:moveTo>
                  <a:lnTo>
                    <a:pt x="2214924" y="0"/>
                  </a:lnTo>
                  <a:moveTo>
                    <a:pt x="2278424" y="0"/>
                  </a:moveTo>
                  <a:lnTo>
                    <a:pt x="2316524" y="0"/>
                  </a:lnTo>
                  <a:moveTo>
                    <a:pt x="2380024" y="0"/>
                  </a:moveTo>
                  <a:lnTo>
                    <a:pt x="2418124" y="0"/>
                  </a:lnTo>
                  <a:moveTo>
                    <a:pt x="2481624" y="0"/>
                  </a:moveTo>
                  <a:lnTo>
                    <a:pt x="2519724" y="0"/>
                  </a:lnTo>
                  <a:moveTo>
                    <a:pt x="2583224" y="0"/>
                  </a:moveTo>
                  <a:lnTo>
                    <a:pt x="2621324" y="0"/>
                  </a:lnTo>
                  <a:moveTo>
                    <a:pt x="2684824" y="0"/>
                  </a:moveTo>
                  <a:lnTo>
                    <a:pt x="2722924" y="0"/>
                  </a:lnTo>
                  <a:moveTo>
                    <a:pt x="2786424" y="0"/>
                  </a:moveTo>
                  <a:lnTo>
                    <a:pt x="2824524" y="0"/>
                  </a:lnTo>
                  <a:moveTo>
                    <a:pt x="2888024" y="0"/>
                  </a:moveTo>
                  <a:lnTo>
                    <a:pt x="2926124" y="0"/>
                  </a:lnTo>
                  <a:moveTo>
                    <a:pt x="2989624" y="0"/>
                  </a:moveTo>
                  <a:lnTo>
                    <a:pt x="3027724" y="0"/>
                  </a:lnTo>
                  <a:moveTo>
                    <a:pt x="3091224" y="0"/>
                  </a:moveTo>
                  <a:lnTo>
                    <a:pt x="3129324" y="0"/>
                  </a:lnTo>
                  <a:moveTo>
                    <a:pt x="3192824" y="0"/>
                  </a:moveTo>
                  <a:lnTo>
                    <a:pt x="3230924" y="0"/>
                  </a:lnTo>
                  <a:moveTo>
                    <a:pt x="3294424" y="0"/>
                  </a:moveTo>
                  <a:lnTo>
                    <a:pt x="3332524" y="0"/>
                  </a:lnTo>
                  <a:moveTo>
                    <a:pt x="3396024" y="0"/>
                  </a:moveTo>
                  <a:lnTo>
                    <a:pt x="3434124" y="0"/>
                  </a:lnTo>
                  <a:moveTo>
                    <a:pt x="3497624" y="0"/>
                  </a:moveTo>
                  <a:lnTo>
                    <a:pt x="3535724" y="0"/>
                  </a:lnTo>
                  <a:moveTo>
                    <a:pt x="3599224" y="0"/>
                  </a:moveTo>
                  <a:lnTo>
                    <a:pt x="3637324" y="0"/>
                  </a:lnTo>
                  <a:moveTo>
                    <a:pt x="3700824" y="0"/>
                  </a:moveTo>
                  <a:lnTo>
                    <a:pt x="3738924" y="0"/>
                  </a:lnTo>
                  <a:moveTo>
                    <a:pt x="3802424" y="0"/>
                  </a:moveTo>
                  <a:lnTo>
                    <a:pt x="3840524" y="0"/>
                  </a:lnTo>
                  <a:moveTo>
                    <a:pt x="3904024" y="0"/>
                  </a:moveTo>
                  <a:lnTo>
                    <a:pt x="3942124" y="0"/>
                  </a:lnTo>
                  <a:moveTo>
                    <a:pt x="4005624" y="0"/>
                  </a:moveTo>
                  <a:lnTo>
                    <a:pt x="4043724" y="0"/>
                  </a:lnTo>
                  <a:moveTo>
                    <a:pt x="4107224" y="0"/>
                  </a:moveTo>
                  <a:lnTo>
                    <a:pt x="4145324" y="0"/>
                  </a:lnTo>
                  <a:moveTo>
                    <a:pt x="4208824" y="0"/>
                  </a:moveTo>
                  <a:lnTo>
                    <a:pt x="4246924" y="0"/>
                  </a:lnTo>
                  <a:moveTo>
                    <a:pt x="4310424" y="0"/>
                  </a:moveTo>
                  <a:lnTo>
                    <a:pt x="4348524" y="0"/>
                  </a:lnTo>
                  <a:moveTo>
                    <a:pt x="4412024" y="0"/>
                  </a:moveTo>
                  <a:lnTo>
                    <a:pt x="4450124" y="0"/>
                  </a:lnTo>
                  <a:moveTo>
                    <a:pt x="4513624" y="0"/>
                  </a:moveTo>
                  <a:lnTo>
                    <a:pt x="4551724" y="0"/>
                  </a:lnTo>
                  <a:moveTo>
                    <a:pt x="4615224" y="0"/>
                  </a:moveTo>
                  <a:lnTo>
                    <a:pt x="4653324" y="0"/>
                  </a:lnTo>
                  <a:moveTo>
                    <a:pt x="4716824" y="0"/>
                  </a:moveTo>
                  <a:lnTo>
                    <a:pt x="4754924" y="0"/>
                  </a:lnTo>
                  <a:moveTo>
                    <a:pt x="4818424" y="0"/>
                  </a:moveTo>
                  <a:lnTo>
                    <a:pt x="4856524" y="0"/>
                  </a:lnTo>
                  <a:moveTo>
                    <a:pt x="4920024" y="0"/>
                  </a:moveTo>
                  <a:lnTo>
                    <a:pt x="4958124" y="0"/>
                  </a:lnTo>
                  <a:moveTo>
                    <a:pt x="5021624" y="0"/>
                  </a:moveTo>
                  <a:lnTo>
                    <a:pt x="5059724" y="0"/>
                  </a:lnTo>
                  <a:moveTo>
                    <a:pt x="5123224" y="0"/>
                  </a:moveTo>
                  <a:lnTo>
                    <a:pt x="5161324" y="0"/>
                  </a:lnTo>
                  <a:moveTo>
                    <a:pt x="5224824" y="0"/>
                  </a:moveTo>
                  <a:lnTo>
                    <a:pt x="5262924" y="0"/>
                  </a:lnTo>
                  <a:moveTo>
                    <a:pt x="5326424" y="0"/>
                  </a:moveTo>
                  <a:lnTo>
                    <a:pt x="5364524" y="0"/>
                  </a:lnTo>
                  <a:moveTo>
                    <a:pt x="5428024" y="0"/>
                  </a:moveTo>
                  <a:lnTo>
                    <a:pt x="5466124" y="0"/>
                  </a:lnTo>
                  <a:moveTo>
                    <a:pt x="5529624" y="0"/>
                  </a:moveTo>
                  <a:lnTo>
                    <a:pt x="5567724" y="0"/>
                  </a:lnTo>
                  <a:moveTo>
                    <a:pt x="5631224" y="0"/>
                  </a:moveTo>
                  <a:lnTo>
                    <a:pt x="5669324" y="0"/>
                  </a:lnTo>
                  <a:moveTo>
                    <a:pt x="5732824" y="0"/>
                  </a:moveTo>
                  <a:lnTo>
                    <a:pt x="5770924" y="0"/>
                  </a:lnTo>
                  <a:moveTo>
                    <a:pt x="5834424" y="0"/>
                  </a:moveTo>
                  <a:lnTo>
                    <a:pt x="5872524" y="0"/>
                  </a:lnTo>
                  <a:moveTo>
                    <a:pt x="5936024" y="0"/>
                  </a:moveTo>
                  <a:lnTo>
                    <a:pt x="5974124" y="0"/>
                  </a:lnTo>
                  <a:moveTo>
                    <a:pt x="6037624" y="0"/>
                  </a:moveTo>
                  <a:lnTo>
                    <a:pt x="6075724" y="0"/>
                  </a:lnTo>
                  <a:moveTo>
                    <a:pt x="6139224" y="0"/>
                  </a:moveTo>
                  <a:lnTo>
                    <a:pt x="6177324" y="0"/>
                  </a:lnTo>
                  <a:moveTo>
                    <a:pt x="6240824" y="0"/>
                  </a:moveTo>
                  <a:lnTo>
                    <a:pt x="6278924" y="0"/>
                  </a:lnTo>
                  <a:moveTo>
                    <a:pt x="6342424" y="0"/>
                  </a:moveTo>
                  <a:lnTo>
                    <a:pt x="6380524" y="0"/>
                  </a:lnTo>
                  <a:moveTo>
                    <a:pt x="6444024" y="0"/>
                  </a:moveTo>
                  <a:lnTo>
                    <a:pt x="6482124" y="0"/>
                  </a:lnTo>
                  <a:moveTo>
                    <a:pt x="6545624" y="0"/>
                  </a:moveTo>
                  <a:lnTo>
                    <a:pt x="6583724" y="0"/>
                  </a:lnTo>
                  <a:moveTo>
                    <a:pt x="6647224" y="0"/>
                  </a:moveTo>
                  <a:lnTo>
                    <a:pt x="6685324" y="0"/>
                  </a:lnTo>
                  <a:moveTo>
                    <a:pt x="6748824" y="0"/>
                  </a:moveTo>
                  <a:lnTo>
                    <a:pt x="6786924" y="0"/>
                  </a:lnTo>
                  <a:moveTo>
                    <a:pt x="6850424" y="0"/>
                  </a:moveTo>
                  <a:lnTo>
                    <a:pt x="6888524" y="0"/>
                  </a:lnTo>
                  <a:moveTo>
                    <a:pt x="6952024" y="0"/>
                  </a:moveTo>
                  <a:lnTo>
                    <a:pt x="6990124" y="0"/>
                  </a:lnTo>
                  <a:moveTo>
                    <a:pt x="7053624" y="0"/>
                  </a:moveTo>
                  <a:lnTo>
                    <a:pt x="7091724" y="0"/>
                  </a:lnTo>
                  <a:moveTo>
                    <a:pt x="7155224" y="0"/>
                  </a:moveTo>
                  <a:lnTo>
                    <a:pt x="7193324" y="0"/>
                  </a:lnTo>
                  <a:moveTo>
                    <a:pt x="7256824" y="0"/>
                  </a:moveTo>
                  <a:lnTo>
                    <a:pt x="7294924" y="0"/>
                  </a:lnTo>
                </a:path>
              </a:pathLst>
            </a:custGeom>
            <a:ln w="19050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5" name="node01.branches.source-002.road"/>
            <p:cNvSpPr/>
            <p:nvPr/>
          </p:nvSpPr>
          <p:spPr>
            <a:xfrm>
              <a:off x="3947160" y="2895600"/>
              <a:ext cx="7343140" cy="544068"/>
            </a:xfrm>
            <a:custGeom>
              <a:avLst/>
              <a:gdLst/>
              <a:ahLst/>
              <a:cxnLst/>
              <a:rect l="l" t="t" r="r" b="b"/>
              <a:pathLst>
                <a:path w="7343140" h="544068">
                  <a:moveTo>
                    <a:pt x="0" y="0"/>
                  </a:moveTo>
                  <a:cubicBezTo>
                    <a:pt x="754380" y="0"/>
                    <a:pt x="617220" y="544068"/>
                    <a:pt x="1371600" y="544068"/>
                  </a:cubicBezTo>
                  <a:lnTo>
                    <a:pt x="7343140" y="544068"/>
                  </a:lnTo>
                </a:path>
              </a:pathLst>
            </a:custGeom>
            <a:ln w="228600">
              <a:solidFill>
                <a:srgbClr val="50658E"/>
              </a:solidFill>
              <a:prstDash val="solid"/>
              <a:round/>
            </a:ln>
          </p:spPr>
        </p:sp>
        <p:sp>
          <p:nvSpPr>
            <p:cNvPr id="16" name="node01.branches.source-002.road.cap-1"/>
            <p:cNvSpPr/>
            <p:nvPr/>
          </p:nvSpPr>
          <p:spPr>
            <a:xfrm>
              <a:off x="3832860" y="2781300"/>
              <a:ext cx="228600" cy="228600"/>
            </a:xfrm>
            <a:prstGeom prst="ellipse">
              <a:avLst/>
            </a:prstGeom>
            <a:solidFill>
              <a:srgbClr val="50658E"/>
            </a:solidFill>
            <a:ln>
              <a:noFill/>
            </a:ln>
          </p:spPr>
        </p:sp>
        <p:sp>
          <p:nvSpPr>
            <p:cNvPr id="17" name="node01.branches.source-002.road.cap-2"/>
            <p:cNvSpPr/>
            <p:nvPr/>
          </p:nvSpPr>
          <p:spPr>
            <a:xfrm>
              <a:off x="11176000" y="3325368"/>
              <a:ext cx="228600" cy="228600"/>
            </a:xfrm>
            <a:prstGeom prst="ellipse">
              <a:avLst/>
            </a:prstGeom>
            <a:solidFill>
              <a:srgbClr val="50658E"/>
            </a:solidFill>
            <a:ln>
              <a:noFill/>
            </a:ln>
          </p:spPr>
        </p:sp>
        <p:sp>
          <p:nvSpPr>
            <p:cNvPr id="18" name="node01.branches.source-002.centerline"/>
            <p:cNvSpPr/>
            <p:nvPr/>
          </p:nvSpPr>
          <p:spPr>
            <a:xfrm>
              <a:off x="3947160" y="2895600"/>
              <a:ext cx="7343140" cy="544068"/>
            </a:xfrm>
            <a:custGeom>
              <a:avLst/>
              <a:gdLst/>
              <a:ahLst/>
              <a:cxnLst/>
              <a:rect l="l" t="t" r="r" b="b"/>
              <a:pathLst>
                <a:path w="7343140" h="544068">
                  <a:moveTo>
                    <a:pt x="0" y="0"/>
                  </a:moveTo>
                  <a:cubicBezTo>
                    <a:pt x="12959" y="0"/>
                    <a:pt x="25655" y="161"/>
                    <a:pt x="38098" y="476"/>
                  </a:cubicBezTo>
                  <a:moveTo>
                    <a:pt x="101517" y="3556"/>
                  </a:moveTo>
                  <a:cubicBezTo>
                    <a:pt x="114460" y="4500"/>
                    <a:pt x="127105" y="5626"/>
                    <a:pt x="139465" y="6926"/>
                  </a:cubicBezTo>
                  <a:moveTo>
                    <a:pt x="202388" y="15405"/>
                  </a:moveTo>
                  <a:cubicBezTo>
                    <a:pt x="215199" y="17532"/>
                    <a:pt x="227677" y="19861"/>
                    <a:pt x="239841" y="22382"/>
                  </a:cubicBezTo>
                  <a:moveTo>
                    <a:pt x="301502" y="37489"/>
                  </a:moveTo>
                  <a:cubicBezTo>
                    <a:pt x="313978" y="41043"/>
                    <a:pt x="326097" y="44814"/>
                    <a:pt x="337885" y="48788"/>
                  </a:cubicBezTo>
                  <a:moveTo>
                    <a:pt x="397148" y="71542"/>
                  </a:moveTo>
                  <a:cubicBezTo>
                    <a:pt x="409007" y="76678"/>
                    <a:pt x="420515" y="82029"/>
                    <a:pt x="431706" y="87573"/>
                  </a:cubicBezTo>
                  <a:moveTo>
                    <a:pt x="487358" y="118114"/>
                  </a:moveTo>
                  <a:cubicBezTo>
                    <a:pt x="498360" y="124753"/>
                    <a:pt x="509062" y="131574"/>
                    <a:pt x="519510" y="138550"/>
                  </a:cubicBezTo>
                  <a:moveTo>
                    <a:pt x="571086" y="175574"/>
                  </a:moveTo>
                  <a:cubicBezTo>
                    <a:pt x="581228" y="183341"/>
                    <a:pt x="591171" y="191230"/>
                    <a:pt x="600967" y="199209"/>
                  </a:cubicBezTo>
                  <a:moveTo>
                    <a:pt x="649480" y="240178"/>
                  </a:moveTo>
                  <a:cubicBezTo>
                    <a:pt x="659082" y="248516"/>
                    <a:pt x="668617" y="256895"/>
                    <a:pt x="678139" y="265282"/>
                  </a:cubicBezTo>
                  <a:moveTo>
                    <a:pt x="725881" y="307151"/>
                  </a:moveTo>
                  <a:cubicBezTo>
                    <a:pt x="735458" y="315441"/>
                    <a:pt x="745108" y="323688"/>
                    <a:pt x="754883" y="331858"/>
                  </a:cubicBezTo>
                  <a:moveTo>
                    <a:pt x="804471" y="371512"/>
                  </a:moveTo>
                  <a:cubicBezTo>
                    <a:pt x="814513" y="379133"/>
                    <a:pt x="824752" y="386633"/>
                    <a:pt x="835237" y="393983"/>
                  </a:cubicBezTo>
                  <a:moveTo>
                    <a:pt x="888511" y="428511"/>
                  </a:moveTo>
                  <a:cubicBezTo>
                    <a:pt x="899279" y="434918"/>
                    <a:pt x="910336" y="441149"/>
                    <a:pt x="921719" y="447180"/>
                  </a:cubicBezTo>
                  <a:moveTo>
                    <a:pt x="979025" y="474489"/>
                  </a:moveTo>
                  <a:cubicBezTo>
                    <a:pt x="990495" y="479366"/>
                    <a:pt x="1002293" y="484044"/>
                    <a:pt x="1014450" y="488502"/>
                  </a:cubicBezTo>
                  <a:moveTo>
                    <a:pt x="1074887" y="507928"/>
                  </a:moveTo>
                  <a:cubicBezTo>
                    <a:pt x="1086861" y="511262"/>
                    <a:pt x="1099161" y="514396"/>
                    <a:pt x="1111809" y="517317"/>
                  </a:cubicBezTo>
                  <a:moveTo>
                    <a:pt x="1174125" y="529465"/>
                  </a:moveTo>
                  <a:cubicBezTo>
                    <a:pt x="1186390" y="531438"/>
                    <a:pt x="1198957" y="533227"/>
                    <a:pt x="1211843" y="534821"/>
                  </a:cubicBezTo>
                  <a:moveTo>
                    <a:pt x="1275049" y="540864"/>
                  </a:moveTo>
                  <a:cubicBezTo>
                    <a:pt x="1287454" y="541720"/>
                    <a:pt x="1300130" y="542410"/>
                    <a:pt x="1313090" y="542927"/>
                  </a:cubicBezTo>
                  <a:moveTo>
                    <a:pt x="1376577" y="544068"/>
                  </a:moveTo>
                  <a:lnTo>
                    <a:pt x="1414677" y="544068"/>
                  </a:lnTo>
                  <a:moveTo>
                    <a:pt x="1478177" y="544068"/>
                  </a:moveTo>
                  <a:lnTo>
                    <a:pt x="1516277" y="544068"/>
                  </a:lnTo>
                  <a:moveTo>
                    <a:pt x="1579777" y="544068"/>
                  </a:moveTo>
                  <a:lnTo>
                    <a:pt x="1617877" y="544068"/>
                  </a:lnTo>
                  <a:moveTo>
                    <a:pt x="1681377" y="544068"/>
                  </a:moveTo>
                  <a:lnTo>
                    <a:pt x="1719477" y="544068"/>
                  </a:lnTo>
                  <a:moveTo>
                    <a:pt x="1782977" y="544068"/>
                  </a:moveTo>
                  <a:lnTo>
                    <a:pt x="1821077" y="544068"/>
                  </a:lnTo>
                  <a:moveTo>
                    <a:pt x="1884577" y="544068"/>
                  </a:moveTo>
                  <a:lnTo>
                    <a:pt x="1922677" y="544068"/>
                  </a:lnTo>
                  <a:moveTo>
                    <a:pt x="1986177" y="544068"/>
                  </a:moveTo>
                  <a:lnTo>
                    <a:pt x="2024277" y="544068"/>
                  </a:lnTo>
                  <a:moveTo>
                    <a:pt x="2087777" y="544068"/>
                  </a:moveTo>
                  <a:lnTo>
                    <a:pt x="2125877" y="544068"/>
                  </a:lnTo>
                  <a:moveTo>
                    <a:pt x="2189377" y="544068"/>
                  </a:moveTo>
                  <a:lnTo>
                    <a:pt x="2227477" y="544068"/>
                  </a:lnTo>
                  <a:moveTo>
                    <a:pt x="2290977" y="544068"/>
                  </a:moveTo>
                  <a:lnTo>
                    <a:pt x="2329077" y="544068"/>
                  </a:lnTo>
                  <a:moveTo>
                    <a:pt x="2392577" y="544068"/>
                  </a:moveTo>
                  <a:lnTo>
                    <a:pt x="2430677" y="544068"/>
                  </a:lnTo>
                  <a:moveTo>
                    <a:pt x="2494177" y="544068"/>
                  </a:moveTo>
                  <a:lnTo>
                    <a:pt x="2532277" y="544068"/>
                  </a:lnTo>
                  <a:moveTo>
                    <a:pt x="2595777" y="544068"/>
                  </a:moveTo>
                  <a:lnTo>
                    <a:pt x="2633877" y="544068"/>
                  </a:lnTo>
                  <a:moveTo>
                    <a:pt x="2697377" y="544068"/>
                  </a:moveTo>
                  <a:lnTo>
                    <a:pt x="2735477" y="544068"/>
                  </a:lnTo>
                  <a:moveTo>
                    <a:pt x="2798977" y="544068"/>
                  </a:moveTo>
                  <a:lnTo>
                    <a:pt x="2837077" y="544068"/>
                  </a:lnTo>
                  <a:moveTo>
                    <a:pt x="2900577" y="544068"/>
                  </a:moveTo>
                  <a:lnTo>
                    <a:pt x="2938677" y="544068"/>
                  </a:lnTo>
                  <a:moveTo>
                    <a:pt x="3002177" y="544068"/>
                  </a:moveTo>
                  <a:lnTo>
                    <a:pt x="3040277" y="544068"/>
                  </a:lnTo>
                  <a:moveTo>
                    <a:pt x="3103777" y="544068"/>
                  </a:moveTo>
                  <a:lnTo>
                    <a:pt x="3141877" y="544068"/>
                  </a:lnTo>
                  <a:moveTo>
                    <a:pt x="3205377" y="544068"/>
                  </a:moveTo>
                  <a:lnTo>
                    <a:pt x="3243477" y="544068"/>
                  </a:lnTo>
                  <a:moveTo>
                    <a:pt x="3306977" y="544068"/>
                  </a:moveTo>
                  <a:lnTo>
                    <a:pt x="3345077" y="544068"/>
                  </a:lnTo>
                  <a:moveTo>
                    <a:pt x="3408577" y="544068"/>
                  </a:moveTo>
                  <a:lnTo>
                    <a:pt x="3446677" y="544068"/>
                  </a:lnTo>
                  <a:moveTo>
                    <a:pt x="3510177" y="544068"/>
                  </a:moveTo>
                  <a:lnTo>
                    <a:pt x="3548277" y="544068"/>
                  </a:lnTo>
                  <a:moveTo>
                    <a:pt x="3611777" y="544068"/>
                  </a:moveTo>
                  <a:lnTo>
                    <a:pt x="3649877" y="544068"/>
                  </a:lnTo>
                  <a:moveTo>
                    <a:pt x="3713377" y="544068"/>
                  </a:moveTo>
                  <a:lnTo>
                    <a:pt x="3751477" y="544068"/>
                  </a:lnTo>
                  <a:moveTo>
                    <a:pt x="3814977" y="544068"/>
                  </a:moveTo>
                  <a:lnTo>
                    <a:pt x="3853077" y="544068"/>
                  </a:lnTo>
                  <a:moveTo>
                    <a:pt x="3916577" y="544068"/>
                  </a:moveTo>
                  <a:lnTo>
                    <a:pt x="3954677" y="544068"/>
                  </a:lnTo>
                  <a:moveTo>
                    <a:pt x="4018177" y="544068"/>
                  </a:moveTo>
                  <a:lnTo>
                    <a:pt x="4056277" y="544068"/>
                  </a:lnTo>
                  <a:moveTo>
                    <a:pt x="4119777" y="544068"/>
                  </a:moveTo>
                  <a:lnTo>
                    <a:pt x="4157877" y="544068"/>
                  </a:lnTo>
                  <a:moveTo>
                    <a:pt x="4221377" y="544068"/>
                  </a:moveTo>
                  <a:lnTo>
                    <a:pt x="4259477" y="544068"/>
                  </a:lnTo>
                  <a:moveTo>
                    <a:pt x="4322977" y="544068"/>
                  </a:moveTo>
                  <a:lnTo>
                    <a:pt x="4361077" y="544068"/>
                  </a:lnTo>
                  <a:moveTo>
                    <a:pt x="4424577" y="544068"/>
                  </a:moveTo>
                  <a:lnTo>
                    <a:pt x="4462677" y="544068"/>
                  </a:lnTo>
                  <a:moveTo>
                    <a:pt x="4526177" y="544068"/>
                  </a:moveTo>
                  <a:lnTo>
                    <a:pt x="4564277" y="544068"/>
                  </a:lnTo>
                  <a:moveTo>
                    <a:pt x="4627777" y="544068"/>
                  </a:moveTo>
                  <a:lnTo>
                    <a:pt x="4665877" y="544068"/>
                  </a:lnTo>
                  <a:moveTo>
                    <a:pt x="4729377" y="544068"/>
                  </a:moveTo>
                  <a:lnTo>
                    <a:pt x="4767477" y="544068"/>
                  </a:lnTo>
                  <a:moveTo>
                    <a:pt x="4830977" y="544068"/>
                  </a:moveTo>
                  <a:lnTo>
                    <a:pt x="4869077" y="544068"/>
                  </a:lnTo>
                  <a:moveTo>
                    <a:pt x="4932577" y="544068"/>
                  </a:moveTo>
                  <a:lnTo>
                    <a:pt x="4970677" y="544068"/>
                  </a:lnTo>
                  <a:moveTo>
                    <a:pt x="5034177" y="544068"/>
                  </a:moveTo>
                  <a:lnTo>
                    <a:pt x="5072277" y="544068"/>
                  </a:lnTo>
                  <a:moveTo>
                    <a:pt x="5135777" y="544068"/>
                  </a:moveTo>
                  <a:lnTo>
                    <a:pt x="5173877" y="544068"/>
                  </a:lnTo>
                  <a:moveTo>
                    <a:pt x="5237377" y="544068"/>
                  </a:moveTo>
                  <a:lnTo>
                    <a:pt x="5275477" y="544068"/>
                  </a:lnTo>
                  <a:moveTo>
                    <a:pt x="5338977" y="544068"/>
                  </a:moveTo>
                  <a:lnTo>
                    <a:pt x="5377077" y="544068"/>
                  </a:lnTo>
                  <a:moveTo>
                    <a:pt x="5440577" y="544068"/>
                  </a:moveTo>
                  <a:lnTo>
                    <a:pt x="5478677" y="544068"/>
                  </a:lnTo>
                  <a:moveTo>
                    <a:pt x="5542177" y="544068"/>
                  </a:moveTo>
                  <a:lnTo>
                    <a:pt x="5580277" y="544068"/>
                  </a:lnTo>
                  <a:moveTo>
                    <a:pt x="5643777" y="544068"/>
                  </a:moveTo>
                  <a:lnTo>
                    <a:pt x="5681877" y="544068"/>
                  </a:lnTo>
                  <a:moveTo>
                    <a:pt x="5745377" y="544068"/>
                  </a:moveTo>
                  <a:lnTo>
                    <a:pt x="5783477" y="544068"/>
                  </a:lnTo>
                  <a:moveTo>
                    <a:pt x="5846977" y="544068"/>
                  </a:moveTo>
                  <a:lnTo>
                    <a:pt x="5885077" y="544068"/>
                  </a:lnTo>
                  <a:moveTo>
                    <a:pt x="5948577" y="544068"/>
                  </a:moveTo>
                  <a:lnTo>
                    <a:pt x="5986677" y="544068"/>
                  </a:lnTo>
                  <a:moveTo>
                    <a:pt x="6050177" y="544068"/>
                  </a:moveTo>
                  <a:lnTo>
                    <a:pt x="6088277" y="544068"/>
                  </a:lnTo>
                  <a:moveTo>
                    <a:pt x="6151777" y="544068"/>
                  </a:moveTo>
                  <a:lnTo>
                    <a:pt x="6189877" y="544068"/>
                  </a:lnTo>
                  <a:moveTo>
                    <a:pt x="6253377" y="544068"/>
                  </a:moveTo>
                  <a:lnTo>
                    <a:pt x="6291477" y="544068"/>
                  </a:lnTo>
                  <a:moveTo>
                    <a:pt x="6354977" y="544068"/>
                  </a:moveTo>
                  <a:lnTo>
                    <a:pt x="6393077" y="544068"/>
                  </a:lnTo>
                  <a:moveTo>
                    <a:pt x="6456577" y="544068"/>
                  </a:moveTo>
                  <a:lnTo>
                    <a:pt x="6494677" y="544068"/>
                  </a:lnTo>
                  <a:moveTo>
                    <a:pt x="6558177" y="544068"/>
                  </a:moveTo>
                  <a:lnTo>
                    <a:pt x="6596277" y="544068"/>
                  </a:lnTo>
                  <a:moveTo>
                    <a:pt x="6659777" y="544068"/>
                  </a:moveTo>
                  <a:lnTo>
                    <a:pt x="6697877" y="544068"/>
                  </a:lnTo>
                  <a:moveTo>
                    <a:pt x="6761377" y="544068"/>
                  </a:moveTo>
                  <a:lnTo>
                    <a:pt x="6799477" y="544068"/>
                  </a:lnTo>
                  <a:moveTo>
                    <a:pt x="6862977" y="544068"/>
                  </a:moveTo>
                  <a:lnTo>
                    <a:pt x="6901077" y="544068"/>
                  </a:lnTo>
                  <a:moveTo>
                    <a:pt x="6964577" y="544068"/>
                  </a:moveTo>
                  <a:lnTo>
                    <a:pt x="7002677" y="544068"/>
                  </a:lnTo>
                  <a:moveTo>
                    <a:pt x="7066177" y="544068"/>
                  </a:moveTo>
                  <a:lnTo>
                    <a:pt x="7104277" y="544068"/>
                  </a:lnTo>
                  <a:moveTo>
                    <a:pt x="7167777" y="544068"/>
                  </a:moveTo>
                  <a:lnTo>
                    <a:pt x="7205877" y="544068"/>
                  </a:lnTo>
                  <a:moveTo>
                    <a:pt x="7269377" y="544068"/>
                  </a:moveTo>
                  <a:lnTo>
                    <a:pt x="7307477" y="544068"/>
                  </a:lnTo>
                </a:path>
              </a:pathLst>
            </a:custGeom>
            <a:ln w="19050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9" name="node01.trunk.source-001.pin"/>
            <p:cNvSpPr/>
            <p:nvPr/>
          </p:nvSpPr>
          <p:spPr>
            <a:xfrm>
              <a:off x="2319655" y="275272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70154"/>
              </a:solidFill>
              <a:prstDash val="solid"/>
            </a:ln>
          </p:spPr>
        </p:sp>
        <p:sp>
          <p:nvSpPr>
            <p:cNvPr id="20" name="node01.trunk.source-001.number"/>
            <p:cNvSpPr/>
            <p:nvPr/>
          </p:nvSpPr>
          <p:spPr>
            <a:xfrm>
              <a:off x="2310130" y="2743200"/>
              <a:ext cx="304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000"/>
                </a:lnSpc>
                <a:buNone/>
              </a:pPr>
              <a:r>
                <a:rPr lang="en-US" sz="10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1</a:t>
              </a:r>
              <a:endParaRPr lang="en-US" sz="10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1" name="node01.trunk.source-001.label.part-1"/>
            <p:cNvSpPr/>
            <p:nvPr/>
          </p:nvSpPr>
          <p:spPr>
            <a:xfrm>
              <a:off x="1181100" y="2090420"/>
              <a:ext cx="2562860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Q4 2026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2" name="node01.trunk.source-001.label.part-2"/>
            <p:cNvSpPr/>
            <p:nvPr/>
          </p:nvSpPr>
          <p:spPr>
            <a:xfrm>
              <a:off x="1181100" y="2268220"/>
              <a:ext cx="25628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44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Patient data foundation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23" name="node01.trunk.source-001.label.part-3"/>
            <p:cNvSpPr/>
            <p:nvPr/>
          </p:nvSpPr>
          <p:spPr>
            <a:xfrm>
              <a:off x="1181100" y="2476500"/>
              <a:ext cx="25628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5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One master patient index.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4" name="node01.fork.diamond"/>
            <p:cNvSpPr/>
            <p:nvPr/>
          </p:nvSpPr>
          <p:spPr>
            <a:xfrm>
              <a:off x="3727144" y="2675584"/>
              <a:ext cx="440033" cy="440033"/>
            </a:xfrm>
            <a:prstGeom prst="diamond">
              <a:avLst/>
            </a:prstGeom>
            <a:solidFill>
              <a:srgbClr val="F900D3"/>
            </a:solidFill>
            <a:ln w="19050">
              <a:solidFill>
                <a:srgbClr val="070154"/>
              </a:solidFill>
              <a:prstDash val="solid"/>
              <a:miter/>
            </a:ln>
          </p:spPr>
        </p:sp>
        <p:sp>
          <p:nvSpPr>
            <p:cNvPr id="25" name="node01.fork.question"/>
            <p:cNvSpPr/>
            <p:nvPr/>
          </p:nvSpPr>
          <p:spPr>
            <a:xfrm>
              <a:off x="3782060" y="2730500"/>
              <a:ext cx="330200" cy="330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1200" spc="0" kern="0" b="1" i="0" dirty="0">
                  <a:solidFill>
                    <a:srgbClr val="070154"/>
                  </a:solidFill>
                  <a:latin typeface="IBM Plex Mono"/>
                  <a:ea typeface="IBM Plex Mono"/>
                  <a:cs typeface="IBM Plex Mono"/>
                </a:rPr>
                <a:t>?</a:t>
              </a:r>
              <a:endParaRPr lang="en-US" sz="1200" spc="0" kern="0" b="1" i="0" dirty="0">
                <a:solidFill>
                  <a:srgbClr val="070154"/>
                </a:solidFill>
                <a:latin typeface="IBM Plex Mono"/>
                <a:ea typeface="IBM Plex Mono"/>
                <a:cs typeface="IBM Plex Mono"/>
              </a:endParaRPr>
            </a:p>
          </p:txBody>
        </p:sp>
        <p:sp>
          <p:nvSpPr>
            <p:cNvPr id="26" name="node01.fork.label.part-1"/>
            <p:cNvSpPr/>
            <p:nvPr/>
          </p:nvSpPr>
          <p:spPr>
            <a:xfrm>
              <a:off x="2918460" y="1600200"/>
              <a:ext cx="2057400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DECISION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7" name="node01.fork.label.part-2"/>
            <p:cNvSpPr/>
            <p:nvPr/>
          </p:nvSpPr>
          <p:spPr>
            <a:xfrm>
              <a:off x="2918460" y="1778000"/>
              <a:ext cx="20574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68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Buy or build?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28" name="node01.fork.label.part-3"/>
            <p:cNvSpPr/>
            <p:nvPr/>
          </p:nvSpPr>
          <p:spPr>
            <a:xfrm>
              <a:off x="2918460" y="2016760"/>
              <a:ext cx="2057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Choose by Q2 2027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9" name="node01.branches.source-001.title.part-1"/>
            <p:cNvSpPr/>
            <p:nvPr/>
          </p:nvSpPr>
          <p:spPr>
            <a:xfrm>
              <a:off x="6034028" y="1678178"/>
              <a:ext cx="4618732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7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Buy a platform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30" name="node01.branches.source-001.tag"/>
            <p:cNvSpPr/>
            <p:nvPr/>
          </p:nvSpPr>
          <p:spPr>
            <a:xfrm>
              <a:off x="5318760" y="1761046"/>
              <a:ext cx="626368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OPTION A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1" name="node01.branches.source-001.milestones.source-001.pin"/>
            <p:cNvSpPr/>
            <p:nvPr/>
          </p:nvSpPr>
          <p:spPr>
            <a:xfrm>
              <a:off x="6783070" y="2001393"/>
              <a:ext cx="285750" cy="2857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70154"/>
              </a:solidFill>
              <a:prstDash val="solid"/>
            </a:ln>
          </p:spPr>
        </p:sp>
        <p:sp>
          <p:nvSpPr>
            <p:cNvPr id="32" name="node01.branches.source-001.milestones.source-001.number"/>
            <p:cNvSpPr/>
            <p:nvPr/>
          </p:nvSpPr>
          <p:spPr>
            <a:xfrm>
              <a:off x="6773545" y="1991868"/>
              <a:ext cx="304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000"/>
                </a:lnSpc>
                <a:buNone/>
              </a:pPr>
              <a:r>
                <a:rPr lang="en-US" sz="10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A1</a:t>
              </a:r>
              <a:endParaRPr lang="en-US" sz="10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3" name="node01.branches.source-001.milestones.source-001.label.part-1"/>
            <p:cNvSpPr/>
            <p:nvPr/>
          </p:nvSpPr>
          <p:spPr>
            <a:xfrm>
              <a:off x="5521960" y="2372868"/>
              <a:ext cx="2807970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Q2 2027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4" name="node01.branches.source-001.milestones.source-001.label.part-2"/>
            <p:cNvSpPr/>
            <p:nvPr/>
          </p:nvSpPr>
          <p:spPr>
            <a:xfrm>
              <a:off x="5521960" y="2550668"/>
              <a:ext cx="280797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44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Select vendor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35" name="node01.branches.source-001.milestones.source-001.label.part-3"/>
            <p:cNvSpPr/>
            <p:nvPr/>
          </p:nvSpPr>
          <p:spPr>
            <a:xfrm>
              <a:off x="5521960" y="2758948"/>
              <a:ext cx="280797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5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Scored shortlist.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6" name="node01.branches.source-001.milestones.source-002.pin"/>
            <p:cNvSpPr/>
            <p:nvPr/>
          </p:nvSpPr>
          <p:spPr>
            <a:xfrm>
              <a:off x="9692640" y="2001393"/>
              <a:ext cx="285750" cy="2857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70154"/>
              </a:solidFill>
              <a:prstDash val="solid"/>
            </a:ln>
          </p:spPr>
        </p:sp>
        <p:sp>
          <p:nvSpPr>
            <p:cNvPr id="37" name="node01.branches.source-001.milestones.source-002.number"/>
            <p:cNvSpPr/>
            <p:nvPr/>
          </p:nvSpPr>
          <p:spPr>
            <a:xfrm>
              <a:off x="9683115" y="1991868"/>
              <a:ext cx="304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000"/>
                </a:lnSpc>
                <a:buNone/>
              </a:pPr>
              <a:r>
                <a:rPr lang="en-US" sz="10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A2</a:t>
              </a:r>
              <a:endParaRPr lang="en-US" sz="10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8" name="node01.branches.source-001.milestones.source-002.label.part-1"/>
            <p:cNvSpPr/>
            <p:nvPr/>
          </p:nvSpPr>
          <p:spPr>
            <a:xfrm>
              <a:off x="8431530" y="2372868"/>
              <a:ext cx="2807970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Q4 2027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9" name="node01.branches.source-001.milestones.source-002.label.part-2"/>
            <p:cNvSpPr/>
            <p:nvPr/>
          </p:nvSpPr>
          <p:spPr>
            <a:xfrm>
              <a:off x="8431530" y="2550668"/>
              <a:ext cx="280797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44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Go live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40" name="node01.branches.source-001.milestones.source-002.label.part-3"/>
            <p:cNvSpPr/>
            <p:nvPr/>
          </p:nvSpPr>
          <p:spPr>
            <a:xfrm>
              <a:off x="8431530" y="2758948"/>
              <a:ext cx="280797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5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All sites on one suite.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1" name="node01.branches.source-002.title.part-1"/>
            <p:cNvSpPr/>
            <p:nvPr/>
          </p:nvSpPr>
          <p:spPr>
            <a:xfrm>
              <a:off x="6034028" y="2973578"/>
              <a:ext cx="4618732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7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Build on our EHR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42" name="node01.branches.source-002.tag"/>
            <p:cNvSpPr/>
            <p:nvPr/>
          </p:nvSpPr>
          <p:spPr>
            <a:xfrm>
              <a:off x="5318760" y="3056446"/>
              <a:ext cx="626368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OPTION B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3" name="node01.branches.source-002.milestones.source-001.pin"/>
            <p:cNvSpPr/>
            <p:nvPr/>
          </p:nvSpPr>
          <p:spPr>
            <a:xfrm>
              <a:off x="6783070" y="3296793"/>
              <a:ext cx="285750" cy="2857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70154"/>
              </a:solidFill>
              <a:prstDash val="solid"/>
            </a:ln>
          </p:spPr>
        </p:sp>
        <p:sp>
          <p:nvSpPr>
            <p:cNvPr id="44" name="node01.branches.source-002.milestones.source-001.number"/>
            <p:cNvSpPr/>
            <p:nvPr/>
          </p:nvSpPr>
          <p:spPr>
            <a:xfrm>
              <a:off x="6773545" y="3287268"/>
              <a:ext cx="304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000"/>
                </a:lnSpc>
                <a:buNone/>
              </a:pPr>
              <a:r>
                <a:rPr lang="en-US" sz="10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B1</a:t>
              </a:r>
              <a:endParaRPr lang="en-US" sz="10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5" name="node01.branches.source-002.milestones.source-001.label.part-1"/>
            <p:cNvSpPr/>
            <p:nvPr/>
          </p:nvSpPr>
          <p:spPr>
            <a:xfrm>
              <a:off x="5521960" y="3668268"/>
              <a:ext cx="2807970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Q3 2027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6" name="node01.branches.source-002.milestones.source-001.label.part-2"/>
            <p:cNvSpPr/>
            <p:nvPr/>
          </p:nvSpPr>
          <p:spPr>
            <a:xfrm>
              <a:off x="5521960" y="3846068"/>
              <a:ext cx="280797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44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Extend portal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47" name="node01.branches.source-002.milestones.source-001.label.part-3"/>
            <p:cNvSpPr/>
            <p:nvPr/>
          </p:nvSpPr>
          <p:spPr>
            <a:xfrm>
              <a:off x="5521960" y="4054348"/>
              <a:ext cx="280797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5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Use the EHR's tools.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8" name="node01.branches.source-002.milestones.source-002.pin"/>
            <p:cNvSpPr/>
            <p:nvPr/>
          </p:nvSpPr>
          <p:spPr>
            <a:xfrm>
              <a:off x="9692640" y="3296793"/>
              <a:ext cx="285750" cy="2857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70154"/>
              </a:solidFill>
              <a:prstDash val="solid"/>
            </a:ln>
          </p:spPr>
        </p:sp>
        <p:sp>
          <p:nvSpPr>
            <p:cNvPr id="49" name="node01.branches.source-002.milestones.source-002.number"/>
            <p:cNvSpPr/>
            <p:nvPr/>
          </p:nvSpPr>
          <p:spPr>
            <a:xfrm>
              <a:off x="9683115" y="3287268"/>
              <a:ext cx="304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000"/>
                </a:lnSpc>
                <a:buNone/>
              </a:pPr>
              <a:r>
                <a:rPr lang="en-US" sz="10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B2</a:t>
              </a:r>
              <a:endParaRPr lang="en-US" sz="10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50" name="node01.branches.source-002.milestones.source-002.label.part-1"/>
            <p:cNvSpPr/>
            <p:nvPr/>
          </p:nvSpPr>
          <p:spPr>
            <a:xfrm>
              <a:off x="8431530" y="3668268"/>
              <a:ext cx="2807970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Q2 2028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51" name="node01.branches.source-002.milestones.source-002.label.part-2"/>
            <p:cNvSpPr/>
            <p:nvPr/>
          </p:nvSpPr>
          <p:spPr>
            <a:xfrm>
              <a:off x="8431530" y="3846068"/>
              <a:ext cx="280797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44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Go live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52" name="node01.branches.source-002.milestones.source-002.label.part-3"/>
            <p:cNvSpPr/>
            <p:nvPr/>
          </p:nvSpPr>
          <p:spPr>
            <a:xfrm>
              <a:off x="8431530" y="4054348"/>
              <a:ext cx="280797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5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Phased by region.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3" name="node02"/>
          <p:cNvGrpSpPr/>
          <p:nvPr/>
        </p:nvGrpSpPr>
        <p:grpSpPr>
          <a:xfrm>
            <a:off x="723900" y="4267200"/>
            <a:ext cx="10744200" cy="1422400"/>
            <a:chOff x="723900" y="4267200"/>
            <a:chExt cx="10744200" cy="1422400"/>
          </a:xfrm>
        </p:grpSpPr>
        <p:graphicFrame>
          <p:nvGraphicFramePr>
            <p:cNvPr id="53" name="node02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723900" y="4267200"/>
            <a:ext cx="10744200" cy="1422400"/>
          </p:xfrm>
          <a:graphic>
            <a:graphicData uri="http://schemas.openxmlformats.org/drawingml/2006/table">
              <a:tbl>
                <a:tblPr/>
                <a:tblGrid>
                  <a:gridCol w="3124200"/>
                  <a:gridCol w="3810000"/>
                  <a:gridCol w="38100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CRITERION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A  BUY A PLATFORM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B  BUILD ON OUR EHR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667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Cost to Northfield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Medium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Strong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667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Time to every site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Strong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Weak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667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Delivery risk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Strong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Medium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2667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Fit with clinical workflow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Medium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Strong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3302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54" name="node02.row.item-001.a.status-mark"/>
            <p:cNvSpPr/>
            <p:nvPr/>
          </p:nvSpPr>
          <p:spPr>
            <a:xfrm>
              <a:off x="4006850" y="4711700"/>
              <a:ext cx="88900" cy="88900"/>
            </a:xfrm>
            <a:prstGeom prst="rect">
              <a:avLst/>
            </a:prstGeom>
            <a:solidFill>
              <a:srgbClr val="FFC700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55" name="node02.row.item-001.b.status-mark"/>
            <p:cNvSpPr/>
            <p:nvPr/>
          </p:nvSpPr>
          <p:spPr>
            <a:xfrm>
              <a:off x="7816850" y="4711700"/>
              <a:ext cx="88900" cy="88900"/>
            </a:xfrm>
            <a:prstGeom prst="rect">
              <a:avLst/>
            </a:prstGeom>
            <a:solidFill>
              <a:srgbClr val="1DD566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56" name="node02.row.item-002.a.status-mark"/>
            <p:cNvSpPr/>
            <p:nvPr/>
          </p:nvSpPr>
          <p:spPr>
            <a:xfrm>
              <a:off x="4006850" y="4978400"/>
              <a:ext cx="88900" cy="88900"/>
            </a:xfrm>
            <a:prstGeom prst="rect">
              <a:avLst/>
            </a:prstGeom>
            <a:solidFill>
              <a:srgbClr val="1DD566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57" name="node02.row.item-002.b.status-mark"/>
            <p:cNvSpPr/>
            <p:nvPr/>
          </p:nvSpPr>
          <p:spPr>
            <a:xfrm>
              <a:off x="7816850" y="4978400"/>
              <a:ext cx="88900" cy="88900"/>
            </a:xfrm>
            <a:prstGeom prst="rect">
              <a:avLst/>
            </a:prstGeom>
            <a:solidFill>
              <a:srgbClr val="F52C00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58" name="node02.row.item-003.a.status-mark"/>
            <p:cNvSpPr/>
            <p:nvPr/>
          </p:nvSpPr>
          <p:spPr>
            <a:xfrm>
              <a:off x="4006850" y="5245100"/>
              <a:ext cx="88900" cy="88900"/>
            </a:xfrm>
            <a:prstGeom prst="rect">
              <a:avLst/>
            </a:prstGeom>
            <a:solidFill>
              <a:srgbClr val="1DD566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59" name="node02.row.item-003.b.status-mark"/>
            <p:cNvSpPr/>
            <p:nvPr/>
          </p:nvSpPr>
          <p:spPr>
            <a:xfrm>
              <a:off x="7816850" y="5245100"/>
              <a:ext cx="88900" cy="88900"/>
            </a:xfrm>
            <a:prstGeom prst="rect">
              <a:avLst/>
            </a:prstGeom>
            <a:solidFill>
              <a:srgbClr val="FFC700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60" name="node02.row.item-004.a.status-mark"/>
            <p:cNvSpPr/>
            <p:nvPr/>
          </p:nvSpPr>
          <p:spPr>
            <a:xfrm>
              <a:off x="4006850" y="5511800"/>
              <a:ext cx="88900" cy="88900"/>
            </a:xfrm>
            <a:prstGeom prst="rect">
              <a:avLst/>
            </a:prstGeom>
            <a:solidFill>
              <a:srgbClr val="FFC700"/>
            </a:solidFill>
            <a:ln w="12700">
              <a:solidFill>
                <a:srgbClr val="070154"/>
              </a:solidFill>
              <a:prstDash val="solid"/>
            </a:ln>
          </p:spPr>
        </p:sp>
        <p:sp>
          <p:nvSpPr>
            <p:cNvPr id="61" name="node02.row.item-004.b.status-mark"/>
            <p:cNvSpPr/>
            <p:nvPr/>
          </p:nvSpPr>
          <p:spPr>
            <a:xfrm>
              <a:off x="7816850" y="5511800"/>
              <a:ext cx="88900" cy="88900"/>
            </a:xfrm>
            <a:prstGeom prst="rect">
              <a:avLst/>
            </a:prstGeom>
            <a:solidFill>
              <a:srgbClr val="1DD566"/>
            </a:solidFill>
            <a:ln w="12700">
              <a:solidFill>
                <a:srgbClr val="070154"/>
              </a:solidFill>
              <a:prstDash val="solid"/>
            </a:ln>
          </p:spPr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4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ROADMAP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Each track has its own outcome, owner and dependency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Northfield Health System digital front door program.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11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71" name="node01"/>
          <p:cNvGrpSpPr/>
          <p:nvPr/>
        </p:nvGrpSpPr>
        <p:grpSpPr>
          <a:xfrm>
            <a:off x="723900" y="1600200"/>
            <a:ext cx="10744200" cy="2790952"/>
            <a:chOff x="723900" y="1600200"/>
            <a:chExt cx="10744200" cy="2790952"/>
          </a:xfrm>
        </p:grpSpPr>
        <p:sp>
          <p:nvSpPr>
            <p:cNvPr id="7" name="node01.trunk.road"/>
            <p:cNvSpPr/>
            <p:nvPr/>
          </p:nvSpPr>
          <p:spPr>
            <a:xfrm>
              <a:off x="901700" y="2971800"/>
              <a:ext cx="3045460" cy="0"/>
            </a:xfrm>
            <a:custGeom>
              <a:avLst/>
              <a:gdLst/>
              <a:ahLst/>
              <a:cxnLst/>
              <a:rect l="l" t="t" r="r" b="b"/>
              <a:pathLst>
                <a:path w="3045460">
                  <a:moveTo>
                    <a:pt x="0" y="0"/>
                  </a:moveTo>
                  <a:lnTo>
                    <a:pt x="3045460" y="0"/>
                  </a:lnTo>
                </a:path>
              </a:pathLst>
            </a:custGeom>
            <a:ln w="228600">
              <a:solidFill>
                <a:srgbClr val="070154"/>
              </a:solidFill>
              <a:prstDash val="solid"/>
              <a:round/>
            </a:ln>
          </p:spPr>
        </p:sp>
        <p:sp>
          <p:nvSpPr>
            <p:cNvPr id="8" name="node01.trunk.road.cap-1"/>
            <p:cNvSpPr/>
            <p:nvPr/>
          </p:nvSpPr>
          <p:spPr>
            <a:xfrm>
              <a:off x="787400" y="2857500"/>
              <a:ext cx="228600" cy="2286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9" name="node01.trunk.road.cap-2"/>
            <p:cNvSpPr/>
            <p:nvPr/>
          </p:nvSpPr>
          <p:spPr>
            <a:xfrm>
              <a:off x="3832860" y="2857500"/>
              <a:ext cx="228600" cy="2286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0" name="node01.trunk.centerline"/>
            <p:cNvSpPr/>
            <p:nvPr/>
          </p:nvSpPr>
          <p:spPr>
            <a:xfrm>
              <a:off x="901700" y="2971800"/>
              <a:ext cx="3045460" cy="0"/>
            </a:xfrm>
            <a:custGeom>
              <a:avLst/>
              <a:gdLst/>
              <a:ahLst/>
              <a:cxnLst/>
              <a:rect l="l" t="t" r="r" b="b"/>
              <a:pathLst>
                <a:path w="3045460">
                  <a:moveTo>
                    <a:pt x="0" y="0"/>
                  </a:moveTo>
                  <a:lnTo>
                    <a:pt x="88900" y="0"/>
                  </a:lnTo>
                  <a:moveTo>
                    <a:pt x="177800" y="0"/>
                  </a:moveTo>
                  <a:lnTo>
                    <a:pt x="266700" y="0"/>
                  </a:lnTo>
                  <a:moveTo>
                    <a:pt x="355600" y="0"/>
                  </a:moveTo>
                  <a:lnTo>
                    <a:pt x="444500" y="0"/>
                  </a:lnTo>
                  <a:moveTo>
                    <a:pt x="533400" y="0"/>
                  </a:moveTo>
                  <a:lnTo>
                    <a:pt x="622300" y="0"/>
                  </a:lnTo>
                  <a:moveTo>
                    <a:pt x="711200" y="0"/>
                  </a:moveTo>
                  <a:lnTo>
                    <a:pt x="800100" y="0"/>
                  </a:lnTo>
                  <a:moveTo>
                    <a:pt x="889000" y="0"/>
                  </a:moveTo>
                  <a:lnTo>
                    <a:pt x="977900" y="0"/>
                  </a:lnTo>
                  <a:moveTo>
                    <a:pt x="1066800" y="0"/>
                  </a:moveTo>
                  <a:lnTo>
                    <a:pt x="1155700" y="0"/>
                  </a:lnTo>
                  <a:moveTo>
                    <a:pt x="1244600" y="0"/>
                  </a:moveTo>
                  <a:lnTo>
                    <a:pt x="1333500" y="0"/>
                  </a:lnTo>
                  <a:moveTo>
                    <a:pt x="1422400" y="0"/>
                  </a:moveTo>
                  <a:lnTo>
                    <a:pt x="1511300" y="0"/>
                  </a:lnTo>
                  <a:moveTo>
                    <a:pt x="1600200" y="0"/>
                  </a:moveTo>
                  <a:lnTo>
                    <a:pt x="1689100" y="0"/>
                  </a:lnTo>
                  <a:moveTo>
                    <a:pt x="1778000" y="0"/>
                  </a:moveTo>
                  <a:lnTo>
                    <a:pt x="1866900" y="0"/>
                  </a:lnTo>
                  <a:moveTo>
                    <a:pt x="1955800" y="0"/>
                  </a:moveTo>
                  <a:lnTo>
                    <a:pt x="2044700" y="0"/>
                  </a:lnTo>
                  <a:moveTo>
                    <a:pt x="2133600" y="0"/>
                  </a:moveTo>
                  <a:lnTo>
                    <a:pt x="2222500" y="0"/>
                  </a:lnTo>
                  <a:moveTo>
                    <a:pt x="2311400" y="0"/>
                  </a:moveTo>
                  <a:lnTo>
                    <a:pt x="2400300" y="0"/>
                  </a:lnTo>
                  <a:moveTo>
                    <a:pt x="2489200" y="0"/>
                  </a:moveTo>
                  <a:lnTo>
                    <a:pt x="2578100" y="0"/>
                  </a:lnTo>
                  <a:moveTo>
                    <a:pt x="2667000" y="0"/>
                  </a:moveTo>
                  <a:lnTo>
                    <a:pt x="2755900" y="0"/>
                  </a:lnTo>
                  <a:moveTo>
                    <a:pt x="2844800" y="0"/>
                  </a:moveTo>
                  <a:lnTo>
                    <a:pt x="2933700" y="0"/>
                  </a:lnTo>
                  <a:moveTo>
                    <a:pt x="3022600" y="0"/>
                  </a:moveTo>
                  <a:lnTo>
                    <a:pt x="3045460" y="0"/>
                  </a:lnTo>
                </a:path>
              </a:pathLst>
            </a:custGeom>
            <a:ln w="19050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1" name="node01.branches.source-001.road"/>
            <p:cNvSpPr/>
            <p:nvPr/>
          </p:nvSpPr>
          <p:spPr>
            <a:xfrm>
              <a:off x="3947160" y="2176272"/>
              <a:ext cx="7343140" cy="795528"/>
            </a:xfrm>
            <a:custGeom>
              <a:avLst/>
              <a:gdLst/>
              <a:ahLst/>
              <a:cxnLst/>
              <a:rect l="l" t="t" r="r" b="b"/>
              <a:pathLst>
                <a:path w="7343140" h="795528">
                  <a:moveTo>
                    <a:pt x="0" y="795528"/>
                  </a:moveTo>
                  <a:cubicBezTo>
                    <a:pt x="754380" y="795528"/>
                    <a:pt x="617220" y="0"/>
                    <a:pt x="1371600" y="0"/>
                  </a:cubicBezTo>
                  <a:lnTo>
                    <a:pt x="7343140" y="0"/>
                  </a:lnTo>
                </a:path>
              </a:pathLst>
            </a:custGeom>
            <a:ln w="228600">
              <a:solidFill>
                <a:srgbClr val="070154"/>
              </a:solidFill>
              <a:prstDash val="solid"/>
              <a:round/>
            </a:ln>
          </p:spPr>
        </p:sp>
        <p:sp>
          <p:nvSpPr>
            <p:cNvPr id="12" name="node01.branches.source-001.road.cap-1"/>
            <p:cNvSpPr/>
            <p:nvPr/>
          </p:nvSpPr>
          <p:spPr>
            <a:xfrm>
              <a:off x="3832860" y="2857500"/>
              <a:ext cx="228600" cy="2286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3" name="node01.branches.source-001.road.cap-2"/>
            <p:cNvSpPr/>
            <p:nvPr/>
          </p:nvSpPr>
          <p:spPr>
            <a:xfrm>
              <a:off x="11176000" y="2061972"/>
              <a:ext cx="228600" cy="2286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4" name="node01.branches.source-001.centerline"/>
            <p:cNvSpPr/>
            <p:nvPr/>
          </p:nvSpPr>
          <p:spPr>
            <a:xfrm>
              <a:off x="3947160" y="2176272"/>
              <a:ext cx="7343140" cy="795528"/>
            </a:xfrm>
            <a:custGeom>
              <a:avLst/>
              <a:gdLst/>
              <a:ahLst/>
              <a:cxnLst/>
              <a:rect l="l" t="t" r="r" b="b"/>
              <a:pathLst>
                <a:path w="7343140" h="795528">
                  <a:moveTo>
                    <a:pt x="0" y="795528"/>
                  </a:moveTo>
                  <a:cubicBezTo>
                    <a:pt x="31064" y="795528"/>
                    <a:pt x="60617" y="794179"/>
                    <a:pt x="88782" y="791592"/>
                  </a:cubicBezTo>
                  <a:moveTo>
                    <a:pt x="176704" y="778742"/>
                  </a:moveTo>
                  <a:cubicBezTo>
                    <a:pt x="207014" y="772539"/>
                    <a:pt x="235525" y="764730"/>
                    <a:pt x="262451" y="755508"/>
                  </a:cubicBezTo>
                  <a:moveTo>
                    <a:pt x="344296" y="720986"/>
                  </a:moveTo>
                  <a:cubicBezTo>
                    <a:pt x="371359" y="707263"/>
                    <a:pt x="396667" y="691973"/>
                    <a:pt x="420537" y="675401"/>
                  </a:cubicBezTo>
                  <a:moveTo>
                    <a:pt x="490220" y="620286"/>
                  </a:moveTo>
                  <a:cubicBezTo>
                    <a:pt x="512439" y="600496"/>
                    <a:pt x="533444" y="579622"/>
                    <a:pt x="553598" y="557990"/>
                  </a:cubicBezTo>
                  <a:moveTo>
                    <a:pt x="612000" y="490983"/>
                  </a:moveTo>
                  <a:cubicBezTo>
                    <a:pt x="630831" y="468133"/>
                    <a:pt x="649175" y="444849"/>
                    <a:pt x="667395" y="421455"/>
                  </a:cubicBezTo>
                  <a:moveTo>
                    <a:pt x="722017" y="351315"/>
                  </a:moveTo>
                  <a:cubicBezTo>
                    <a:pt x="740365" y="328015"/>
                    <a:pt x="758955" y="304930"/>
                    <a:pt x="778152" y="282387"/>
                  </a:cubicBezTo>
                  <a:moveTo>
                    <a:pt x="837977" y="216654"/>
                  </a:moveTo>
                  <a:cubicBezTo>
                    <a:pt x="858668" y="195607"/>
                    <a:pt x="880323" y="175420"/>
                    <a:pt x="903303" y="156415"/>
                  </a:cubicBezTo>
                  <a:moveTo>
                    <a:pt x="975152" y="104165"/>
                  </a:moveTo>
                  <a:cubicBezTo>
                    <a:pt x="999628" y="88707"/>
                    <a:pt x="1025599" y="74585"/>
                    <a:pt x="1053370" y="62067"/>
                  </a:cubicBezTo>
                  <a:moveTo>
                    <a:pt x="1136685" y="31254"/>
                  </a:moveTo>
                  <a:cubicBezTo>
                    <a:pt x="1163928" y="23224"/>
                    <a:pt x="1192738" y="16593"/>
                    <a:pt x="1223312" y="11535"/>
                  </a:cubicBezTo>
                  <a:moveTo>
                    <a:pt x="1311634" y="1755"/>
                  </a:moveTo>
                  <a:cubicBezTo>
                    <a:pt x="1330979" y="596"/>
                    <a:pt x="1350956" y="0"/>
                    <a:pt x="1371600" y="0"/>
                  </a:cubicBezTo>
                  <a:lnTo>
                    <a:pt x="1400500" y="0"/>
                  </a:lnTo>
                  <a:moveTo>
                    <a:pt x="1489400" y="0"/>
                  </a:moveTo>
                  <a:lnTo>
                    <a:pt x="1578300" y="0"/>
                  </a:lnTo>
                  <a:moveTo>
                    <a:pt x="1667200" y="0"/>
                  </a:moveTo>
                  <a:lnTo>
                    <a:pt x="1756100" y="0"/>
                  </a:lnTo>
                  <a:moveTo>
                    <a:pt x="1845000" y="0"/>
                  </a:moveTo>
                  <a:lnTo>
                    <a:pt x="1933900" y="0"/>
                  </a:lnTo>
                  <a:moveTo>
                    <a:pt x="2022800" y="0"/>
                  </a:moveTo>
                  <a:lnTo>
                    <a:pt x="2111700" y="0"/>
                  </a:lnTo>
                  <a:moveTo>
                    <a:pt x="2200600" y="0"/>
                  </a:moveTo>
                  <a:lnTo>
                    <a:pt x="2289500" y="0"/>
                  </a:lnTo>
                  <a:moveTo>
                    <a:pt x="2378400" y="0"/>
                  </a:moveTo>
                  <a:lnTo>
                    <a:pt x="2467300" y="0"/>
                  </a:lnTo>
                  <a:moveTo>
                    <a:pt x="2556200" y="0"/>
                  </a:moveTo>
                  <a:lnTo>
                    <a:pt x="2645100" y="0"/>
                  </a:lnTo>
                  <a:moveTo>
                    <a:pt x="2734000" y="0"/>
                  </a:moveTo>
                  <a:lnTo>
                    <a:pt x="2822900" y="0"/>
                  </a:lnTo>
                  <a:moveTo>
                    <a:pt x="2911800" y="0"/>
                  </a:moveTo>
                  <a:lnTo>
                    <a:pt x="3000700" y="0"/>
                  </a:lnTo>
                  <a:moveTo>
                    <a:pt x="3089600" y="0"/>
                  </a:moveTo>
                  <a:lnTo>
                    <a:pt x="3178500" y="0"/>
                  </a:lnTo>
                  <a:moveTo>
                    <a:pt x="3267400" y="0"/>
                  </a:moveTo>
                  <a:lnTo>
                    <a:pt x="3356300" y="0"/>
                  </a:lnTo>
                  <a:moveTo>
                    <a:pt x="3445200" y="0"/>
                  </a:moveTo>
                  <a:lnTo>
                    <a:pt x="3534100" y="0"/>
                  </a:lnTo>
                  <a:moveTo>
                    <a:pt x="3623000" y="0"/>
                  </a:moveTo>
                  <a:lnTo>
                    <a:pt x="3711900" y="0"/>
                  </a:lnTo>
                  <a:moveTo>
                    <a:pt x="3800800" y="0"/>
                  </a:moveTo>
                  <a:lnTo>
                    <a:pt x="3889700" y="0"/>
                  </a:lnTo>
                  <a:moveTo>
                    <a:pt x="3978600" y="0"/>
                  </a:moveTo>
                  <a:lnTo>
                    <a:pt x="4067500" y="0"/>
                  </a:lnTo>
                  <a:moveTo>
                    <a:pt x="4156400" y="0"/>
                  </a:moveTo>
                  <a:lnTo>
                    <a:pt x="4245300" y="0"/>
                  </a:lnTo>
                  <a:moveTo>
                    <a:pt x="4334200" y="0"/>
                  </a:moveTo>
                  <a:lnTo>
                    <a:pt x="4423100" y="0"/>
                  </a:lnTo>
                  <a:moveTo>
                    <a:pt x="4512000" y="0"/>
                  </a:moveTo>
                  <a:lnTo>
                    <a:pt x="4600900" y="0"/>
                  </a:lnTo>
                  <a:moveTo>
                    <a:pt x="4689800" y="0"/>
                  </a:moveTo>
                  <a:lnTo>
                    <a:pt x="4778700" y="0"/>
                  </a:lnTo>
                  <a:moveTo>
                    <a:pt x="4867600" y="0"/>
                  </a:moveTo>
                  <a:lnTo>
                    <a:pt x="4956500" y="0"/>
                  </a:lnTo>
                  <a:moveTo>
                    <a:pt x="5045400" y="0"/>
                  </a:moveTo>
                  <a:lnTo>
                    <a:pt x="5134300" y="0"/>
                  </a:lnTo>
                  <a:moveTo>
                    <a:pt x="5223200" y="0"/>
                  </a:moveTo>
                  <a:lnTo>
                    <a:pt x="5312100" y="0"/>
                  </a:lnTo>
                  <a:moveTo>
                    <a:pt x="5401000" y="0"/>
                  </a:moveTo>
                  <a:lnTo>
                    <a:pt x="5489900" y="0"/>
                  </a:lnTo>
                  <a:moveTo>
                    <a:pt x="5578800" y="0"/>
                  </a:moveTo>
                  <a:lnTo>
                    <a:pt x="5667700" y="0"/>
                  </a:lnTo>
                  <a:moveTo>
                    <a:pt x="5756600" y="0"/>
                  </a:moveTo>
                  <a:lnTo>
                    <a:pt x="5845500" y="0"/>
                  </a:lnTo>
                  <a:moveTo>
                    <a:pt x="5934400" y="0"/>
                  </a:moveTo>
                  <a:lnTo>
                    <a:pt x="6023300" y="0"/>
                  </a:lnTo>
                  <a:moveTo>
                    <a:pt x="6112200" y="0"/>
                  </a:moveTo>
                  <a:lnTo>
                    <a:pt x="6201100" y="0"/>
                  </a:lnTo>
                  <a:moveTo>
                    <a:pt x="6290000" y="0"/>
                  </a:moveTo>
                  <a:lnTo>
                    <a:pt x="6378900" y="0"/>
                  </a:lnTo>
                  <a:moveTo>
                    <a:pt x="6467800" y="0"/>
                  </a:moveTo>
                  <a:lnTo>
                    <a:pt x="6556700" y="0"/>
                  </a:lnTo>
                  <a:moveTo>
                    <a:pt x="6645600" y="0"/>
                  </a:moveTo>
                  <a:lnTo>
                    <a:pt x="6734500" y="0"/>
                  </a:lnTo>
                  <a:moveTo>
                    <a:pt x="6823400" y="0"/>
                  </a:moveTo>
                  <a:lnTo>
                    <a:pt x="6912300" y="0"/>
                  </a:lnTo>
                  <a:moveTo>
                    <a:pt x="7001200" y="0"/>
                  </a:moveTo>
                  <a:lnTo>
                    <a:pt x="7090100" y="0"/>
                  </a:lnTo>
                  <a:moveTo>
                    <a:pt x="7179000" y="0"/>
                  </a:moveTo>
                  <a:lnTo>
                    <a:pt x="7267900" y="0"/>
                  </a:lnTo>
                </a:path>
              </a:pathLst>
            </a:custGeom>
            <a:ln w="19050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5" name="node01.branches.source-002.road"/>
            <p:cNvSpPr/>
            <p:nvPr/>
          </p:nvSpPr>
          <p:spPr>
            <a:xfrm>
              <a:off x="3947160" y="2971800"/>
              <a:ext cx="7343140" cy="576072"/>
            </a:xfrm>
            <a:custGeom>
              <a:avLst/>
              <a:gdLst/>
              <a:ahLst/>
              <a:cxnLst/>
              <a:rect l="l" t="t" r="r" b="b"/>
              <a:pathLst>
                <a:path w="7343140" h="576072">
                  <a:moveTo>
                    <a:pt x="0" y="0"/>
                  </a:moveTo>
                  <a:cubicBezTo>
                    <a:pt x="754380" y="0"/>
                    <a:pt x="617220" y="576072"/>
                    <a:pt x="1371600" y="576072"/>
                  </a:cubicBezTo>
                  <a:lnTo>
                    <a:pt x="7343140" y="576072"/>
                  </a:lnTo>
                </a:path>
              </a:pathLst>
            </a:custGeom>
            <a:ln w="228600">
              <a:solidFill>
                <a:srgbClr val="070154"/>
              </a:solidFill>
              <a:prstDash val="solid"/>
              <a:round/>
            </a:ln>
          </p:spPr>
        </p:sp>
        <p:sp>
          <p:nvSpPr>
            <p:cNvPr id="16" name="node01.branches.source-002.road.cap-1"/>
            <p:cNvSpPr/>
            <p:nvPr/>
          </p:nvSpPr>
          <p:spPr>
            <a:xfrm>
              <a:off x="3832860" y="2857500"/>
              <a:ext cx="228600" cy="2286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7" name="node01.branches.source-002.road.cap-2"/>
            <p:cNvSpPr/>
            <p:nvPr/>
          </p:nvSpPr>
          <p:spPr>
            <a:xfrm>
              <a:off x="11176000" y="3433572"/>
              <a:ext cx="228600" cy="2286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8" name="node01.branches.source-002.centerline"/>
            <p:cNvSpPr/>
            <p:nvPr/>
          </p:nvSpPr>
          <p:spPr>
            <a:xfrm>
              <a:off x="3947160" y="2971800"/>
              <a:ext cx="7343140" cy="576072"/>
            </a:xfrm>
            <a:custGeom>
              <a:avLst/>
              <a:gdLst/>
              <a:ahLst/>
              <a:cxnLst/>
              <a:rect l="l" t="t" r="r" b="b"/>
              <a:pathLst>
                <a:path w="7343140" h="576072">
                  <a:moveTo>
                    <a:pt x="0" y="0"/>
                  </a:moveTo>
                  <a:cubicBezTo>
                    <a:pt x="31085" y="0"/>
                    <a:pt x="60656" y="978"/>
                    <a:pt x="88839" y="2854"/>
                  </a:cubicBezTo>
                  <a:moveTo>
                    <a:pt x="177219" y="12232"/>
                  </a:moveTo>
                  <a:cubicBezTo>
                    <a:pt x="208067" y="16820"/>
                    <a:pt x="237051" y="22613"/>
                    <a:pt x="264396" y="29464"/>
                  </a:cubicBezTo>
                  <a:moveTo>
                    <a:pt x="349250" y="55818"/>
                  </a:moveTo>
                  <a:cubicBezTo>
                    <a:pt x="378175" y="66673"/>
                    <a:pt x="405086" y="78829"/>
                    <a:pt x="430379" y="92031"/>
                  </a:cubicBezTo>
                  <a:moveTo>
                    <a:pt x="506575" y="137731"/>
                  </a:moveTo>
                  <a:cubicBezTo>
                    <a:pt x="531548" y="154705"/>
                    <a:pt x="555025" y="172646"/>
                    <a:pt x="577564" y="191193"/>
                  </a:cubicBezTo>
                  <a:moveTo>
                    <a:pt x="644473" y="249712"/>
                  </a:moveTo>
                  <a:cubicBezTo>
                    <a:pt x="666371" y="269759"/>
                    <a:pt x="687878" y="290058"/>
                    <a:pt x="709611" y="310212"/>
                  </a:cubicBezTo>
                  <a:moveTo>
                    <a:pt x="775785" y="369568"/>
                  </a:moveTo>
                  <a:cubicBezTo>
                    <a:pt x="798037" y="388576"/>
                    <a:pt x="821088" y="407069"/>
                    <a:pt x="845512" y="424675"/>
                  </a:cubicBezTo>
                  <a:moveTo>
                    <a:pt x="920283" y="472677"/>
                  </a:moveTo>
                  <a:cubicBezTo>
                    <a:pt x="945207" y="486731"/>
                    <a:pt x="971700" y="499772"/>
                    <a:pt x="1000184" y="511525"/>
                  </a:cubicBezTo>
                  <a:moveTo>
                    <a:pt x="1084181" y="540485"/>
                  </a:moveTo>
                  <a:cubicBezTo>
                    <a:pt x="1111332" y="548132"/>
                    <a:pt x="1140144" y="554706"/>
                    <a:pt x="1170863" y="560049"/>
                  </a:cubicBezTo>
                  <a:moveTo>
                    <a:pt x="1259007" y="571398"/>
                  </a:moveTo>
                  <a:cubicBezTo>
                    <a:pt x="1287126" y="573841"/>
                    <a:pt x="1316670" y="575363"/>
                    <a:pt x="1347775" y="575877"/>
                  </a:cubicBezTo>
                  <a:moveTo>
                    <a:pt x="1436676" y="576072"/>
                  </a:moveTo>
                  <a:lnTo>
                    <a:pt x="1525576" y="576072"/>
                  </a:lnTo>
                  <a:moveTo>
                    <a:pt x="1614476" y="576072"/>
                  </a:moveTo>
                  <a:lnTo>
                    <a:pt x="1703376" y="576072"/>
                  </a:lnTo>
                  <a:moveTo>
                    <a:pt x="1792276" y="576072"/>
                  </a:moveTo>
                  <a:lnTo>
                    <a:pt x="1881176" y="576072"/>
                  </a:lnTo>
                  <a:moveTo>
                    <a:pt x="1970076" y="576072"/>
                  </a:moveTo>
                  <a:lnTo>
                    <a:pt x="2058976" y="576072"/>
                  </a:lnTo>
                  <a:moveTo>
                    <a:pt x="2147876" y="576072"/>
                  </a:moveTo>
                  <a:lnTo>
                    <a:pt x="2236776" y="576072"/>
                  </a:lnTo>
                  <a:moveTo>
                    <a:pt x="2325676" y="576072"/>
                  </a:moveTo>
                  <a:lnTo>
                    <a:pt x="2414576" y="576072"/>
                  </a:lnTo>
                  <a:moveTo>
                    <a:pt x="2503476" y="576072"/>
                  </a:moveTo>
                  <a:lnTo>
                    <a:pt x="2592376" y="576072"/>
                  </a:lnTo>
                  <a:moveTo>
                    <a:pt x="2681276" y="576072"/>
                  </a:moveTo>
                  <a:lnTo>
                    <a:pt x="2770176" y="576072"/>
                  </a:lnTo>
                  <a:moveTo>
                    <a:pt x="2859076" y="576072"/>
                  </a:moveTo>
                  <a:lnTo>
                    <a:pt x="2947976" y="576072"/>
                  </a:lnTo>
                  <a:moveTo>
                    <a:pt x="3036876" y="576072"/>
                  </a:moveTo>
                  <a:lnTo>
                    <a:pt x="3125776" y="576072"/>
                  </a:lnTo>
                  <a:moveTo>
                    <a:pt x="3214676" y="576072"/>
                  </a:moveTo>
                  <a:lnTo>
                    <a:pt x="3303576" y="576072"/>
                  </a:lnTo>
                  <a:moveTo>
                    <a:pt x="3392476" y="576072"/>
                  </a:moveTo>
                  <a:lnTo>
                    <a:pt x="3481376" y="576072"/>
                  </a:lnTo>
                  <a:moveTo>
                    <a:pt x="3570276" y="576072"/>
                  </a:moveTo>
                  <a:lnTo>
                    <a:pt x="3659176" y="576072"/>
                  </a:lnTo>
                  <a:moveTo>
                    <a:pt x="3748076" y="576072"/>
                  </a:moveTo>
                  <a:lnTo>
                    <a:pt x="3836976" y="576072"/>
                  </a:lnTo>
                  <a:moveTo>
                    <a:pt x="3925876" y="576072"/>
                  </a:moveTo>
                  <a:lnTo>
                    <a:pt x="4014776" y="576072"/>
                  </a:lnTo>
                  <a:moveTo>
                    <a:pt x="4103676" y="576072"/>
                  </a:moveTo>
                  <a:lnTo>
                    <a:pt x="4192576" y="576072"/>
                  </a:lnTo>
                  <a:moveTo>
                    <a:pt x="4281476" y="576072"/>
                  </a:moveTo>
                  <a:lnTo>
                    <a:pt x="4370376" y="576072"/>
                  </a:lnTo>
                  <a:moveTo>
                    <a:pt x="4459276" y="576072"/>
                  </a:moveTo>
                  <a:lnTo>
                    <a:pt x="4548176" y="576072"/>
                  </a:lnTo>
                  <a:moveTo>
                    <a:pt x="4637076" y="576072"/>
                  </a:moveTo>
                  <a:lnTo>
                    <a:pt x="4725976" y="576072"/>
                  </a:lnTo>
                  <a:moveTo>
                    <a:pt x="4814876" y="576072"/>
                  </a:moveTo>
                  <a:lnTo>
                    <a:pt x="4903776" y="576072"/>
                  </a:lnTo>
                  <a:moveTo>
                    <a:pt x="4992676" y="576072"/>
                  </a:moveTo>
                  <a:lnTo>
                    <a:pt x="5081576" y="576072"/>
                  </a:lnTo>
                  <a:moveTo>
                    <a:pt x="5170476" y="576072"/>
                  </a:moveTo>
                  <a:lnTo>
                    <a:pt x="5259376" y="576072"/>
                  </a:lnTo>
                  <a:moveTo>
                    <a:pt x="5348276" y="576072"/>
                  </a:moveTo>
                  <a:lnTo>
                    <a:pt x="5437176" y="576072"/>
                  </a:lnTo>
                  <a:moveTo>
                    <a:pt x="5526076" y="576072"/>
                  </a:moveTo>
                  <a:lnTo>
                    <a:pt x="5614976" y="576072"/>
                  </a:lnTo>
                  <a:moveTo>
                    <a:pt x="5703876" y="576072"/>
                  </a:moveTo>
                  <a:lnTo>
                    <a:pt x="5792776" y="576072"/>
                  </a:lnTo>
                  <a:moveTo>
                    <a:pt x="5881676" y="576072"/>
                  </a:moveTo>
                  <a:lnTo>
                    <a:pt x="5970576" y="576072"/>
                  </a:lnTo>
                  <a:moveTo>
                    <a:pt x="6059476" y="576072"/>
                  </a:moveTo>
                  <a:lnTo>
                    <a:pt x="6148376" y="576072"/>
                  </a:lnTo>
                  <a:moveTo>
                    <a:pt x="6237276" y="576072"/>
                  </a:moveTo>
                  <a:lnTo>
                    <a:pt x="6326176" y="576072"/>
                  </a:lnTo>
                  <a:moveTo>
                    <a:pt x="6415076" y="576072"/>
                  </a:moveTo>
                  <a:lnTo>
                    <a:pt x="6503976" y="576072"/>
                  </a:lnTo>
                  <a:moveTo>
                    <a:pt x="6592876" y="576072"/>
                  </a:moveTo>
                  <a:lnTo>
                    <a:pt x="6681776" y="576072"/>
                  </a:lnTo>
                  <a:moveTo>
                    <a:pt x="6770676" y="576072"/>
                  </a:moveTo>
                  <a:lnTo>
                    <a:pt x="6859576" y="576072"/>
                  </a:lnTo>
                  <a:moveTo>
                    <a:pt x="6948476" y="576072"/>
                  </a:moveTo>
                  <a:lnTo>
                    <a:pt x="7037376" y="576072"/>
                  </a:lnTo>
                  <a:moveTo>
                    <a:pt x="7126276" y="576072"/>
                  </a:moveTo>
                  <a:lnTo>
                    <a:pt x="7215176" y="576072"/>
                  </a:lnTo>
                  <a:moveTo>
                    <a:pt x="7304076" y="576072"/>
                  </a:moveTo>
                  <a:lnTo>
                    <a:pt x="7343140" y="576072"/>
                  </a:lnTo>
                </a:path>
              </a:pathLst>
            </a:custGeom>
            <a:ln w="19050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9" name="node01.trunk.source-001.pin"/>
            <p:cNvSpPr/>
            <p:nvPr/>
          </p:nvSpPr>
          <p:spPr>
            <a:xfrm>
              <a:off x="2319655" y="282892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70154"/>
              </a:solidFill>
              <a:prstDash val="solid"/>
            </a:ln>
          </p:spPr>
        </p:sp>
        <p:sp>
          <p:nvSpPr>
            <p:cNvPr id="20" name="node01.trunk.source-001.number"/>
            <p:cNvSpPr/>
            <p:nvPr/>
          </p:nvSpPr>
          <p:spPr>
            <a:xfrm>
              <a:off x="2310130" y="2819400"/>
              <a:ext cx="304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000"/>
                </a:lnSpc>
                <a:buNone/>
              </a:pPr>
              <a:r>
                <a:rPr lang="en-US" sz="10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1</a:t>
              </a:r>
              <a:endParaRPr lang="en-US" sz="10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1" name="node01.trunk.source-001.label.part-1"/>
            <p:cNvSpPr/>
            <p:nvPr/>
          </p:nvSpPr>
          <p:spPr>
            <a:xfrm>
              <a:off x="1181100" y="2166620"/>
              <a:ext cx="2562860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Q4 2026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2" name="node01.trunk.source-001.label.part-2"/>
            <p:cNvSpPr/>
            <p:nvPr/>
          </p:nvSpPr>
          <p:spPr>
            <a:xfrm>
              <a:off x="1181100" y="2344420"/>
              <a:ext cx="25628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44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Patient data foundation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23" name="node01.trunk.source-001.label.part-3"/>
            <p:cNvSpPr/>
            <p:nvPr/>
          </p:nvSpPr>
          <p:spPr>
            <a:xfrm>
              <a:off x="1181100" y="2552700"/>
              <a:ext cx="25628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5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One master patient index.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4" name="node01.fork.split"/>
            <p:cNvSpPr/>
            <p:nvPr/>
          </p:nvSpPr>
          <p:spPr>
            <a:xfrm>
              <a:off x="3807460" y="2832100"/>
              <a:ext cx="279400" cy="279400"/>
            </a:xfrm>
            <a:prstGeom prst="rect">
              <a:avLst/>
            </a:prstGeom>
            <a:solidFill>
              <a:srgbClr val="070154"/>
            </a:solidFill>
            <a:ln w="38100">
              <a:solidFill>
                <a:srgbClr val="070154"/>
              </a:solidFill>
              <a:prstDash val="solid"/>
            </a:ln>
          </p:spPr>
        </p:sp>
        <p:sp>
          <p:nvSpPr>
            <p:cNvPr id="25" name="node01.fork.split.inset"/>
            <p:cNvSpPr/>
            <p:nvPr/>
          </p:nvSpPr>
          <p:spPr>
            <a:xfrm>
              <a:off x="3826510" y="2851150"/>
              <a:ext cx="241300" cy="241300"/>
            </a:xfrm>
            <a:prstGeom prst="rect">
              <a:avLst/>
            </a:prstGeom>
            <a:solidFill>
              <a:srgbClr val="070154"/>
            </a:solidFill>
            <a:ln w="38100">
              <a:solidFill>
                <a:srgbClr val="FFFFFF"/>
              </a:solidFill>
              <a:prstDash val="solid"/>
            </a:ln>
          </p:spPr>
        </p:sp>
        <p:sp>
          <p:nvSpPr>
            <p:cNvPr id="26" name="node01.fork.label.part-1"/>
            <p:cNvSpPr/>
            <p:nvPr/>
          </p:nvSpPr>
          <p:spPr>
            <a:xfrm>
              <a:off x="2918460" y="1600200"/>
              <a:ext cx="2057400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RUN IN PARALLEL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7" name="node01.fork.label.part-2"/>
            <p:cNvSpPr/>
            <p:nvPr/>
          </p:nvSpPr>
          <p:spPr>
            <a:xfrm>
              <a:off x="2918460" y="1778000"/>
              <a:ext cx="20574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68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Foundation complete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28" name="node01.fork.label.part-3"/>
            <p:cNvSpPr/>
            <p:nvPr/>
          </p:nvSpPr>
          <p:spPr>
            <a:xfrm>
              <a:off x="2918460" y="2016760"/>
              <a:ext cx="2057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Tracks start together.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9" name="node01.branches.source-001.title.part-1"/>
            <p:cNvSpPr/>
            <p:nvPr/>
          </p:nvSpPr>
          <p:spPr>
            <a:xfrm>
              <a:off x="5958907" y="1710182"/>
              <a:ext cx="4693853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7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Patient access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30" name="node01.branches.source-001.tag"/>
            <p:cNvSpPr/>
            <p:nvPr/>
          </p:nvSpPr>
          <p:spPr>
            <a:xfrm>
              <a:off x="5318760" y="1793050"/>
              <a:ext cx="551247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TRACK A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1" name="node01.branches.source-001.milestones.source-001.pin"/>
            <p:cNvSpPr/>
            <p:nvPr/>
          </p:nvSpPr>
          <p:spPr>
            <a:xfrm>
              <a:off x="6783070" y="2033397"/>
              <a:ext cx="285750" cy="2857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70154"/>
              </a:solidFill>
              <a:prstDash val="solid"/>
            </a:ln>
          </p:spPr>
        </p:sp>
        <p:sp>
          <p:nvSpPr>
            <p:cNvPr id="32" name="node01.branches.source-001.milestones.source-001.number"/>
            <p:cNvSpPr/>
            <p:nvPr/>
          </p:nvSpPr>
          <p:spPr>
            <a:xfrm>
              <a:off x="6773545" y="2023872"/>
              <a:ext cx="304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000"/>
                </a:lnSpc>
                <a:buNone/>
              </a:pPr>
              <a:r>
                <a:rPr lang="en-US" sz="10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A1</a:t>
              </a:r>
              <a:endParaRPr lang="en-US" sz="10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3" name="node01.branches.source-001.milestones.source-001.label.part-1"/>
            <p:cNvSpPr/>
            <p:nvPr/>
          </p:nvSpPr>
          <p:spPr>
            <a:xfrm>
              <a:off x="5521960" y="2404872"/>
              <a:ext cx="2807970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Q2 2027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4" name="node01.branches.source-001.milestones.source-001.label.part-2"/>
            <p:cNvSpPr/>
            <p:nvPr/>
          </p:nvSpPr>
          <p:spPr>
            <a:xfrm>
              <a:off x="5521960" y="2582672"/>
              <a:ext cx="280797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44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Self-scheduling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35" name="node01.branches.source-001.milestones.source-001.label.part-3"/>
            <p:cNvSpPr/>
            <p:nvPr/>
          </p:nvSpPr>
          <p:spPr>
            <a:xfrm>
              <a:off x="5521960" y="2790952"/>
              <a:ext cx="280797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5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Primary care first.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6" name="node01.branches.source-001.milestones.source-002.pin"/>
            <p:cNvSpPr/>
            <p:nvPr/>
          </p:nvSpPr>
          <p:spPr>
            <a:xfrm>
              <a:off x="9692640" y="2033397"/>
              <a:ext cx="285750" cy="2857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70154"/>
              </a:solidFill>
              <a:prstDash val="solid"/>
            </a:ln>
          </p:spPr>
        </p:sp>
        <p:sp>
          <p:nvSpPr>
            <p:cNvPr id="37" name="node01.branches.source-001.milestones.source-002.number"/>
            <p:cNvSpPr/>
            <p:nvPr/>
          </p:nvSpPr>
          <p:spPr>
            <a:xfrm>
              <a:off x="9683115" y="2023872"/>
              <a:ext cx="304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000"/>
                </a:lnSpc>
                <a:buNone/>
              </a:pPr>
              <a:r>
                <a:rPr lang="en-US" sz="10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A2</a:t>
              </a:r>
              <a:endParaRPr lang="en-US" sz="10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8" name="node01.branches.source-001.milestones.source-002.label.part-1"/>
            <p:cNvSpPr/>
            <p:nvPr/>
          </p:nvSpPr>
          <p:spPr>
            <a:xfrm>
              <a:off x="8431530" y="2404872"/>
              <a:ext cx="2807970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Q3 2027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9" name="node01.branches.source-001.milestones.source-002.label.part-2"/>
            <p:cNvSpPr/>
            <p:nvPr/>
          </p:nvSpPr>
          <p:spPr>
            <a:xfrm>
              <a:off x="8431530" y="2582672"/>
              <a:ext cx="280797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44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Digital intake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40" name="node01.branches.source-001.milestones.source-002.label.part-3"/>
            <p:cNvSpPr/>
            <p:nvPr/>
          </p:nvSpPr>
          <p:spPr>
            <a:xfrm>
              <a:off x="8431530" y="2790952"/>
              <a:ext cx="280797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5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Forms before arrival.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1" name="node01.branches.source-002.title.part-1"/>
            <p:cNvSpPr/>
            <p:nvPr/>
          </p:nvSpPr>
          <p:spPr>
            <a:xfrm>
              <a:off x="5958907" y="3081782"/>
              <a:ext cx="4693853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7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Revenue cycle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42" name="node01.branches.source-002.tag"/>
            <p:cNvSpPr/>
            <p:nvPr/>
          </p:nvSpPr>
          <p:spPr>
            <a:xfrm>
              <a:off x="5318760" y="3164650"/>
              <a:ext cx="551247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TRACK B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3" name="node01.branches.source-002.milestones.source-001.pin"/>
            <p:cNvSpPr/>
            <p:nvPr/>
          </p:nvSpPr>
          <p:spPr>
            <a:xfrm>
              <a:off x="6783070" y="3404997"/>
              <a:ext cx="285750" cy="2857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70154"/>
              </a:solidFill>
              <a:prstDash val="solid"/>
            </a:ln>
          </p:spPr>
        </p:sp>
        <p:sp>
          <p:nvSpPr>
            <p:cNvPr id="44" name="node01.branches.source-002.milestones.source-001.number"/>
            <p:cNvSpPr/>
            <p:nvPr/>
          </p:nvSpPr>
          <p:spPr>
            <a:xfrm>
              <a:off x="6773545" y="3395472"/>
              <a:ext cx="304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000"/>
                </a:lnSpc>
                <a:buNone/>
              </a:pPr>
              <a:r>
                <a:rPr lang="en-US" sz="10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B1</a:t>
              </a:r>
              <a:endParaRPr lang="en-US" sz="10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5" name="node01.branches.source-002.milestones.source-001.label.part-1"/>
            <p:cNvSpPr/>
            <p:nvPr/>
          </p:nvSpPr>
          <p:spPr>
            <a:xfrm>
              <a:off x="5521960" y="3776472"/>
              <a:ext cx="2807970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Q2 2027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6" name="node01.branches.source-002.milestones.source-001.label.part-2"/>
            <p:cNvSpPr/>
            <p:nvPr/>
          </p:nvSpPr>
          <p:spPr>
            <a:xfrm>
              <a:off x="5521960" y="3954272"/>
              <a:ext cx="280797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44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Price estimates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47" name="node01.branches.source-002.milestones.source-001.label.part-3"/>
            <p:cNvSpPr/>
            <p:nvPr/>
          </p:nvSpPr>
          <p:spPr>
            <a:xfrm>
              <a:off x="5521960" y="4162552"/>
              <a:ext cx="280797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5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Shown before booking.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8" name="node01.branches.source-002.milestones.source-002.pin"/>
            <p:cNvSpPr/>
            <p:nvPr/>
          </p:nvSpPr>
          <p:spPr>
            <a:xfrm>
              <a:off x="9692640" y="3404997"/>
              <a:ext cx="285750" cy="2857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70154"/>
              </a:solidFill>
              <a:prstDash val="solid"/>
            </a:ln>
          </p:spPr>
        </p:sp>
        <p:sp>
          <p:nvSpPr>
            <p:cNvPr id="49" name="node01.branches.source-002.milestones.source-002.number"/>
            <p:cNvSpPr/>
            <p:nvPr/>
          </p:nvSpPr>
          <p:spPr>
            <a:xfrm>
              <a:off x="9683115" y="3395472"/>
              <a:ext cx="304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000"/>
                </a:lnSpc>
                <a:buNone/>
              </a:pPr>
              <a:r>
                <a:rPr lang="en-US" sz="10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B2</a:t>
              </a:r>
              <a:endParaRPr lang="en-US" sz="10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50" name="node01.branches.source-002.milestones.source-002.label.part-1"/>
            <p:cNvSpPr/>
            <p:nvPr/>
          </p:nvSpPr>
          <p:spPr>
            <a:xfrm>
              <a:off x="8431530" y="3776472"/>
              <a:ext cx="2807970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Q4 2027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51" name="node01.branches.source-002.milestones.source-002.label.part-2"/>
            <p:cNvSpPr/>
            <p:nvPr/>
          </p:nvSpPr>
          <p:spPr>
            <a:xfrm>
              <a:off x="8431530" y="3954272"/>
              <a:ext cx="280797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44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Online payment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52" name="node01.branches.source-002.milestones.source-002.label.part-3"/>
            <p:cNvSpPr/>
            <p:nvPr/>
          </p:nvSpPr>
          <p:spPr>
            <a:xfrm>
              <a:off x="8431530" y="4162552"/>
              <a:ext cx="280797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5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Pay at the visit.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72" name="node02"/>
          <p:cNvGrpSpPr/>
          <p:nvPr/>
        </p:nvGrpSpPr>
        <p:grpSpPr>
          <a:xfrm>
            <a:off x="723900" y="4419600"/>
            <a:ext cx="5257800" cy="228600"/>
            <a:chOff x="723900" y="4419600"/>
            <a:chExt cx="5257800" cy="228600"/>
          </a:xfrm>
        </p:grpSpPr>
        <p:sp>
          <p:nvSpPr>
            <p:cNvPr id="53" name="node02.label"/>
            <p:cNvSpPr/>
            <p:nvPr/>
          </p:nvSpPr>
          <p:spPr>
            <a:xfrm>
              <a:off x="723900" y="4419600"/>
              <a:ext cx="1828304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TRACK A · PATIENT ACCESS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54" name="node02.rule"/>
            <p:cNvSpPr/>
            <p:nvPr/>
          </p:nvSpPr>
          <p:spPr>
            <a:xfrm>
              <a:off x="2679204" y="4529138"/>
              <a:ext cx="3302496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55" name="node03"/>
          <p:cNvSpPr/>
          <p:nvPr/>
        </p:nvSpPr>
        <p:spPr>
          <a:xfrm>
            <a:off x="723900" y="4648200"/>
            <a:ext cx="52578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73" name="node04"/>
          <p:cNvGrpSpPr/>
          <p:nvPr/>
        </p:nvGrpSpPr>
        <p:grpSpPr>
          <a:xfrm>
            <a:off x="723900" y="4724400"/>
            <a:ext cx="5257800" cy="762000"/>
            <a:chOff x="723900" y="4724400"/>
            <a:chExt cx="5257800" cy="762000"/>
          </a:xfrm>
        </p:grpSpPr>
        <p:sp>
          <p:nvSpPr>
            <p:cNvPr id="56" name="node04.source-001.bullet"/>
            <p:cNvSpPr/>
            <p:nvPr/>
          </p:nvSpPr>
          <p:spPr>
            <a:xfrm>
              <a:off x="723900" y="48133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7" name="node04.source-001.text"/>
            <p:cNvSpPr/>
            <p:nvPr/>
          </p:nvSpPr>
          <p:spPr>
            <a:xfrm>
              <a:off x="876300" y="4724400"/>
              <a:ext cx="5105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Outcomes.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70% of primary care visits booked online.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8" name="node04.source-002.bullet"/>
            <p:cNvSpPr/>
            <p:nvPr/>
          </p:nvSpPr>
          <p:spPr>
            <a:xfrm>
              <a:off x="723900" y="50800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59" name="node04.source-002.text"/>
            <p:cNvSpPr/>
            <p:nvPr/>
          </p:nvSpPr>
          <p:spPr>
            <a:xfrm>
              <a:off x="876300" y="4991100"/>
              <a:ext cx="5105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Owner.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Chief patient access officer, with the access squad.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0" name="node04.source-003.bullet"/>
            <p:cNvSpPr/>
            <p:nvPr/>
          </p:nvSpPr>
          <p:spPr>
            <a:xfrm>
              <a:off x="723900" y="53467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61" name="node04.source-003.text"/>
            <p:cNvSpPr/>
            <p:nvPr/>
          </p:nvSpPr>
          <p:spPr>
            <a:xfrm>
              <a:off x="876300" y="5257800"/>
              <a:ext cx="5105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Depends on.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Master patient index; single sign-in.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74" name="node05"/>
          <p:cNvGrpSpPr/>
          <p:nvPr/>
        </p:nvGrpSpPr>
        <p:grpSpPr>
          <a:xfrm>
            <a:off x="6210300" y="4419600"/>
            <a:ext cx="5257800" cy="228600"/>
            <a:chOff x="6210300" y="4419600"/>
            <a:chExt cx="5257800" cy="228600"/>
          </a:xfrm>
        </p:grpSpPr>
        <p:sp>
          <p:nvSpPr>
            <p:cNvPr id="62" name="node05.label"/>
            <p:cNvSpPr/>
            <p:nvPr/>
          </p:nvSpPr>
          <p:spPr>
            <a:xfrm>
              <a:off x="6210300" y="4419600"/>
              <a:ext cx="175318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TRACK B · REVENUE CYCLE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63" name="node05.rule"/>
            <p:cNvSpPr/>
            <p:nvPr/>
          </p:nvSpPr>
          <p:spPr>
            <a:xfrm>
              <a:off x="8090483" y="4529138"/>
              <a:ext cx="3377617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64" name="node06"/>
          <p:cNvSpPr/>
          <p:nvPr/>
        </p:nvSpPr>
        <p:spPr>
          <a:xfrm>
            <a:off x="6210300" y="4648200"/>
            <a:ext cx="52578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75" name="node07"/>
          <p:cNvGrpSpPr/>
          <p:nvPr/>
        </p:nvGrpSpPr>
        <p:grpSpPr>
          <a:xfrm>
            <a:off x="6210300" y="4724400"/>
            <a:ext cx="5257800" cy="762000"/>
            <a:chOff x="6210300" y="4724400"/>
            <a:chExt cx="5257800" cy="762000"/>
          </a:xfrm>
        </p:grpSpPr>
        <p:sp>
          <p:nvSpPr>
            <p:cNvPr id="65" name="node07.source-001.bullet"/>
            <p:cNvSpPr/>
            <p:nvPr/>
          </p:nvSpPr>
          <p:spPr>
            <a:xfrm>
              <a:off x="6210300" y="48133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66" name="node07.source-001.text"/>
            <p:cNvSpPr/>
            <p:nvPr/>
          </p:nvSpPr>
          <p:spPr>
            <a:xfrm>
              <a:off x="6362700" y="4724400"/>
              <a:ext cx="5105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Outcomes.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Estimates on 90% of scheduled visits.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7" name="node07.source-002.bullet"/>
            <p:cNvSpPr/>
            <p:nvPr/>
          </p:nvSpPr>
          <p:spPr>
            <a:xfrm>
              <a:off x="6210300" y="50800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68" name="node07.source-002.text"/>
            <p:cNvSpPr/>
            <p:nvPr/>
          </p:nvSpPr>
          <p:spPr>
            <a:xfrm>
              <a:off x="6362700" y="4991100"/>
              <a:ext cx="5105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Owner.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VP revenue cycle, with the billing squad.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9" name="node07.source-003.bullet"/>
            <p:cNvSpPr/>
            <p:nvPr/>
          </p:nvSpPr>
          <p:spPr>
            <a:xfrm>
              <a:off x="6210300" y="53467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70" name="node07.source-003.text"/>
            <p:cNvSpPr/>
            <p:nvPr/>
          </p:nvSpPr>
          <p:spPr>
            <a:xfrm>
              <a:off x="6362700" y="5257800"/>
              <a:ext cx="5105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Depends on.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Payer contract data loaded.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4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ROADMAP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The foundation is half built; the waves follow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Northfield Health System digital front door program.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12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81" name="node01"/>
          <p:cNvGrpSpPr/>
          <p:nvPr/>
        </p:nvGrpSpPr>
        <p:grpSpPr>
          <a:xfrm>
            <a:off x="723900" y="1600200"/>
            <a:ext cx="10744200" cy="3978148"/>
            <a:chOff x="723900" y="1600200"/>
            <a:chExt cx="10744200" cy="3978148"/>
          </a:xfrm>
        </p:grpSpPr>
        <p:sp>
          <p:nvSpPr>
            <p:cNvPr id="7" name="node01.trunk.road"/>
            <p:cNvSpPr/>
            <p:nvPr/>
          </p:nvSpPr>
          <p:spPr>
            <a:xfrm>
              <a:off x="901700" y="3543300"/>
              <a:ext cx="4119880" cy="0"/>
            </a:xfrm>
            <a:custGeom>
              <a:avLst/>
              <a:gdLst/>
              <a:ahLst/>
              <a:cxnLst/>
              <a:rect l="l" t="t" r="r" b="b"/>
              <a:pathLst>
                <a:path w="4119880">
                  <a:moveTo>
                    <a:pt x="0" y="0"/>
                  </a:moveTo>
                  <a:lnTo>
                    <a:pt x="4119880" y="0"/>
                  </a:lnTo>
                </a:path>
              </a:pathLst>
            </a:custGeom>
            <a:ln w="228600">
              <a:solidFill>
                <a:srgbClr val="070154"/>
              </a:solidFill>
              <a:prstDash val="solid"/>
              <a:round/>
            </a:ln>
          </p:spPr>
        </p:sp>
        <p:sp>
          <p:nvSpPr>
            <p:cNvPr id="8" name="node01.trunk.road.cap-1"/>
            <p:cNvSpPr/>
            <p:nvPr/>
          </p:nvSpPr>
          <p:spPr>
            <a:xfrm>
              <a:off x="787400" y="3429000"/>
              <a:ext cx="228600" cy="2286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9" name="node01.trunk.road.cap-2"/>
            <p:cNvSpPr/>
            <p:nvPr/>
          </p:nvSpPr>
          <p:spPr>
            <a:xfrm>
              <a:off x="4907280" y="3429000"/>
              <a:ext cx="228600" cy="2286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0" name="node01.trunk.centerline"/>
            <p:cNvSpPr/>
            <p:nvPr/>
          </p:nvSpPr>
          <p:spPr>
            <a:xfrm>
              <a:off x="901700" y="3543300"/>
              <a:ext cx="4119880" cy="0"/>
            </a:xfrm>
            <a:custGeom>
              <a:avLst/>
              <a:gdLst/>
              <a:ahLst/>
              <a:cxnLst/>
              <a:rect l="l" t="t" r="r" b="b"/>
              <a:pathLst>
                <a:path w="4119880">
                  <a:moveTo>
                    <a:pt x="0" y="0"/>
                  </a:moveTo>
                  <a:lnTo>
                    <a:pt x="88900" y="0"/>
                  </a:lnTo>
                  <a:moveTo>
                    <a:pt x="177800" y="0"/>
                  </a:moveTo>
                  <a:lnTo>
                    <a:pt x="266700" y="0"/>
                  </a:lnTo>
                  <a:moveTo>
                    <a:pt x="355600" y="0"/>
                  </a:moveTo>
                  <a:lnTo>
                    <a:pt x="444500" y="0"/>
                  </a:lnTo>
                  <a:moveTo>
                    <a:pt x="533400" y="0"/>
                  </a:moveTo>
                  <a:lnTo>
                    <a:pt x="622300" y="0"/>
                  </a:lnTo>
                  <a:moveTo>
                    <a:pt x="711200" y="0"/>
                  </a:moveTo>
                  <a:lnTo>
                    <a:pt x="800100" y="0"/>
                  </a:lnTo>
                  <a:moveTo>
                    <a:pt x="889000" y="0"/>
                  </a:moveTo>
                  <a:lnTo>
                    <a:pt x="977900" y="0"/>
                  </a:lnTo>
                  <a:moveTo>
                    <a:pt x="1066800" y="0"/>
                  </a:moveTo>
                  <a:lnTo>
                    <a:pt x="1155700" y="0"/>
                  </a:lnTo>
                  <a:moveTo>
                    <a:pt x="1244600" y="0"/>
                  </a:moveTo>
                  <a:lnTo>
                    <a:pt x="1333500" y="0"/>
                  </a:lnTo>
                  <a:moveTo>
                    <a:pt x="1422400" y="0"/>
                  </a:moveTo>
                  <a:lnTo>
                    <a:pt x="1511300" y="0"/>
                  </a:lnTo>
                  <a:moveTo>
                    <a:pt x="1600200" y="0"/>
                  </a:moveTo>
                  <a:lnTo>
                    <a:pt x="1689100" y="0"/>
                  </a:lnTo>
                  <a:moveTo>
                    <a:pt x="1778000" y="0"/>
                  </a:moveTo>
                  <a:lnTo>
                    <a:pt x="1866900" y="0"/>
                  </a:lnTo>
                  <a:moveTo>
                    <a:pt x="1955800" y="0"/>
                  </a:moveTo>
                  <a:lnTo>
                    <a:pt x="2044700" y="0"/>
                  </a:lnTo>
                  <a:moveTo>
                    <a:pt x="2133600" y="0"/>
                  </a:moveTo>
                  <a:lnTo>
                    <a:pt x="2222500" y="0"/>
                  </a:lnTo>
                  <a:moveTo>
                    <a:pt x="2311400" y="0"/>
                  </a:moveTo>
                  <a:lnTo>
                    <a:pt x="2400300" y="0"/>
                  </a:lnTo>
                  <a:moveTo>
                    <a:pt x="2489200" y="0"/>
                  </a:moveTo>
                  <a:lnTo>
                    <a:pt x="2578100" y="0"/>
                  </a:lnTo>
                  <a:moveTo>
                    <a:pt x="2667000" y="0"/>
                  </a:moveTo>
                  <a:lnTo>
                    <a:pt x="2755900" y="0"/>
                  </a:lnTo>
                  <a:moveTo>
                    <a:pt x="2844800" y="0"/>
                  </a:moveTo>
                  <a:lnTo>
                    <a:pt x="2933700" y="0"/>
                  </a:lnTo>
                  <a:moveTo>
                    <a:pt x="3022600" y="0"/>
                  </a:moveTo>
                  <a:lnTo>
                    <a:pt x="3111500" y="0"/>
                  </a:lnTo>
                  <a:moveTo>
                    <a:pt x="3200400" y="0"/>
                  </a:moveTo>
                  <a:lnTo>
                    <a:pt x="3289300" y="0"/>
                  </a:lnTo>
                  <a:moveTo>
                    <a:pt x="3378200" y="0"/>
                  </a:moveTo>
                  <a:lnTo>
                    <a:pt x="3467100" y="0"/>
                  </a:lnTo>
                  <a:moveTo>
                    <a:pt x="3556000" y="0"/>
                  </a:moveTo>
                  <a:lnTo>
                    <a:pt x="3644900" y="0"/>
                  </a:lnTo>
                  <a:moveTo>
                    <a:pt x="3733800" y="0"/>
                  </a:moveTo>
                  <a:lnTo>
                    <a:pt x="3822700" y="0"/>
                  </a:lnTo>
                  <a:moveTo>
                    <a:pt x="3911600" y="0"/>
                  </a:moveTo>
                  <a:lnTo>
                    <a:pt x="4000500" y="0"/>
                  </a:lnTo>
                  <a:moveTo>
                    <a:pt x="4089400" y="0"/>
                  </a:moveTo>
                  <a:lnTo>
                    <a:pt x="4119880" y="0"/>
                  </a:lnTo>
                </a:path>
              </a:pathLst>
            </a:custGeom>
            <a:ln w="19050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1" name="node01.branches.source-001.road"/>
            <p:cNvSpPr/>
            <p:nvPr/>
          </p:nvSpPr>
          <p:spPr>
            <a:xfrm>
              <a:off x="5021580" y="2144268"/>
              <a:ext cx="6268720" cy="1399032"/>
            </a:xfrm>
            <a:custGeom>
              <a:avLst/>
              <a:gdLst/>
              <a:ahLst/>
              <a:cxnLst/>
              <a:rect l="l" t="t" r="r" b="b"/>
              <a:pathLst>
                <a:path w="6268720" h="1399032">
                  <a:moveTo>
                    <a:pt x="0" y="1399032"/>
                  </a:moveTo>
                  <a:cubicBezTo>
                    <a:pt x="754380" y="1399032"/>
                    <a:pt x="617220" y="0"/>
                    <a:pt x="1371600" y="0"/>
                  </a:cubicBezTo>
                  <a:lnTo>
                    <a:pt x="6268720" y="0"/>
                  </a:lnTo>
                </a:path>
              </a:pathLst>
            </a:custGeom>
            <a:ln w="228600">
              <a:solidFill>
                <a:srgbClr val="070154"/>
              </a:solidFill>
              <a:prstDash val="solid"/>
              <a:round/>
            </a:ln>
          </p:spPr>
        </p:sp>
        <p:sp>
          <p:nvSpPr>
            <p:cNvPr id="12" name="node01.branches.source-001.road.cap-1"/>
            <p:cNvSpPr/>
            <p:nvPr/>
          </p:nvSpPr>
          <p:spPr>
            <a:xfrm>
              <a:off x="4907280" y="3429000"/>
              <a:ext cx="228600" cy="2286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3" name="node01.branches.source-001.road.cap-2"/>
            <p:cNvSpPr/>
            <p:nvPr/>
          </p:nvSpPr>
          <p:spPr>
            <a:xfrm>
              <a:off x="11176000" y="2029968"/>
              <a:ext cx="228600" cy="2286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4" name="node01.branches.source-001.centerline"/>
            <p:cNvSpPr/>
            <p:nvPr/>
          </p:nvSpPr>
          <p:spPr>
            <a:xfrm>
              <a:off x="5021580" y="2144268"/>
              <a:ext cx="6268720" cy="1399032"/>
            </a:xfrm>
            <a:custGeom>
              <a:avLst/>
              <a:gdLst/>
              <a:ahLst/>
              <a:cxnLst/>
              <a:rect l="l" t="t" r="r" b="b"/>
              <a:pathLst>
                <a:path w="6268720" h="1399032">
                  <a:moveTo>
                    <a:pt x="0" y="1399032"/>
                  </a:moveTo>
                  <a:cubicBezTo>
                    <a:pt x="30975" y="1399032"/>
                    <a:pt x="60447" y="1396673"/>
                    <a:pt x="88539" y="1392150"/>
                  </a:cubicBezTo>
                  <a:moveTo>
                    <a:pt x="174579" y="1370270"/>
                  </a:moveTo>
                  <a:cubicBezTo>
                    <a:pt x="202946" y="1360213"/>
                    <a:pt x="229740" y="1347689"/>
                    <a:pt x="255138" y="1332974"/>
                  </a:cubicBezTo>
                  <a:moveTo>
                    <a:pt x="327884" y="1282054"/>
                  </a:moveTo>
                  <a:cubicBezTo>
                    <a:pt x="350423" y="1263378"/>
                    <a:pt x="371765" y="1242823"/>
                    <a:pt x="392079" y="1220656"/>
                  </a:cubicBezTo>
                  <a:moveTo>
                    <a:pt x="448390" y="1151917"/>
                  </a:moveTo>
                  <a:cubicBezTo>
                    <a:pt x="465684" y="1128482"/>
                    <a:pt x="482223" y="1103861"/>
                    <a:pt x="498145" y="1078272"/>
                  </a:cubicBezTo>
                  <a:moveTo>
                    <a:pt x="542790" y="1001410"/>
                  </a:moveTo>
                  <a:cubicBezTo>
                    <a:pt x="556800" y="975706"/>
                    <a:pt x="570380" y="949329"/>
                    <a:pt x="583649" y="922463"/>
                  </a:cubicBezTo>
                  <a:moveTo>
                    <a:pt x="621882" y="842206"/>
                  </a:moveTo>
                  <a:cubicBezTo>
                    <a:pt x="634241" y="815441"/>
                    <a:pt x="646415" y="788384"/>
                    <a:pt x="658508" y="761203"/>
                  </a:cubicBezTo>
                  <a:moveTo>
                    <a:pt x="694458" y="679896"/>
                  </a:moveTo>
                  <a:cubicBezTo>
                    <a:pt x="706453" y="652731"/>
                    <a:pt x="718473" y="625606"/>
                    <a:pt x="730623" y="598684"/>
                  </a:cubicBezTo>
                  <a:moveTo>
                    <a:pt x="767904" y="517980"/>
                  </a:moveTo>
                  <a:cubicBezTo>
                    <a:pt x="780740" y="490965"/>
                    <a:pt x="793824" y="464338"/>
                    <a:pt x="807268" y="438275"/>
                  </a:cubicBezTo>
                  <a:moveTo>
                    <a:pt x="849799" y="360219"/>
                  </a:moveTo>
                  <a:cubicBezTo>
                    <a:pt x="864872" y="334160"/>
                    <a:pt x="880473" y="308931"/>
                    <a:pt x="896735" y="284738"/>
                  </a:cubicBezTo>
                  <a:moveTo>
                    <a:pt x="949471" y="213207"/>
                  </a:moveTo>
                  <a:cubicBezTo>
                    <a:pt x="968494" y="189839"/>
                    <a:pt x="988431" y="167904"/>
                    <a:pt x="1009443" y="147656"/>
                  </a:cubicBezTo>
                  <a:moveTo>
                    <a:pt x="1077751" y="90895"/>
                  </a:moveTo>
                  <a:cubicBezTo>
                    <a:pt x="1101936" y="73821"/>
                    <a:pt x="1127448" y="58831"/>
                    <a:pt x="1154466" y="46205"/>
                  </a:cubicBezTo>
                  <a:moveTo>
                    <a:pt x="1238033" y="16255"/>
                  </a:moveTo>
                  <a:cubicBezTo>
                    <a:pt x="1265763" y="9127"/>
                    <a:pt x="1294918" y="4233"/>
                    <a:pt x="1325636" y="1793"/>
                  </a:cubicBezTo>
                  <a:moveTo>
                    <a:pt x="1414491" y="0"/>
                  </a:moveTo>
                  <a:lnTo>
                    <a:pt x="1503391" y="0"/>
                  </a:lnTo>
                  <a:moveTo>
                    <a:pt x="1592291" y="0"/>
                  </a:moveTo>
                  <a:lnTo>
                    <a:pt x="1681191" y="0"/>
                  </a:lnTo>
                  <a:moveTo>
                    <a:pt x="1770091" y="0"/>
                  </a:moveTo>
                  <a:lnTo>
                    <a:pt x="1858991" y="0"/>
                  </a:lnTo>
                  <a:moveTo>
                    <a:pt x="1947891" y="0"/>
                  </a:moveTo>
                  <a:lnTo>
                    <a:pt x="2036791" y="0"/>
                  </a:lnTo>
                  <a:moveTo>
                    <a:pt x="2125691" y="0"/>
                  </a:moveTo>
                  <a:lnTo>
                    <a:pt x="2214591" y="0"/>
                  </a:lnTo>
                  <a:moveTo>
                    <a:pt x="2303491" y="0"/>
                  </a:moveTo>
                  <a:lnTo>
                    <a:pt x="2392391" y="0"/>
                  </a:lnTo>
                  <a:moveTo>
                    <a:pt x="2481291" y="0"/>
                  </a:moveTo>
                  <a:lnTo>
                    <a:pt x="2570191" y="0"/>
                  </a:lnTo>
                  <a:moveTo>
                    <a:pt x="2659091" y="0"/>
                  </a:moveTo>
                  <a:lnTo>
                    <a:pt x="2747991" y="0"/>
                  </a:lnTo>
                  <a:moveTo>
                    <a:pt x="2836891" y="0"/>
                  </a:moveTo>
                  <a:lnTo>
                    <a:pt x="2925791" y="0"/>
                  </a:lnTo>
                  <a:moveTo>
                    <a:pt x="3014691" y="0"/>
                  </a:moveTo>
                  <a:lnTo>
                    <a:pt x="3103591" y="0"/>
                  </a:lnTo>
                  <a:moveTo>
                    <a:pt x="3192491" y="0"/>
                  </a:moveTo>
                  <a:lnTo>
                    <a:pt x="3281391" y="0"/>
                  </a:lnTo>
                  <a:moveTo>
                    <a:pt x="3370291" y="0"/>
                  </a:moveTo>
                  <a:lnTo>
                    <a:pt x="3459191" y="0"/>
                  </a:lnTo>
                  <a:moveTo>
                    <a:pt x="3548091" y="0"/>
                  </a:moveTo>
                  <a:lnTo>
                    <a:pt x="3636991" y="0"/>
                  </a:lnTo>
                  <a:moveTo>
                    <a:pt x="3725891" y="0"/>
                  </a:moveTo>
                  <a:lnTo>
                    <a:pt x="3814791" y="0"/>
                  </a:lnTo>
                  <a:moveTo>
                    <a:pt x="3903691" y="0"/>
                  </a:moveTo>
                  <a:lnTo>
                    <a:pt x="3992591" y="0"/>
                  </a:lnTo>
                  <a:moveTo>
                    <a:pt x="4081491" y="0"/>
                  </a:moveTo>
                  <a:lnTo>
                    <a:pt x="4170391" y="0"/>
                  </a:lnTo>
                  <a:moveTo>
                    <a:pt x="4259291" y="0"/>
                  </a:moveTo>
                  <a:lnTo>
                    <a:pt x="4348191" y="0"/>
                  </a:lnTo>
                  <a:moveTo>
                    <a:pt x="4437091" y="0"/>
                  </a:moveTo>
                  <a:lnTo>
                    <a:pt x="4525991" y="0"/>
                  </a:lnTo>
                  <a:moveTo>
                    <a:pt x="4614891" y="0"/>
                  </a:moveTo>
                  <a:lnTo>
                    <a:pt x="4703791" y="0"/>
                  </a:lnTo>
                  <a:moveTo>
                    <a:pt x="4792691" y="0"/>
                  </a:moveTo>
                  <a:lnTo>
                    <a:pt x="4881591" y="0"/>
                  </a:lnTo>
                  <a:moveTo>
                    <a:pt x="4970491" y="0"/>
                  </a:moveTo>
                  <a:lnTo>
                    <a:pt x="5059391" y="0"/>
                  </a:lnTo>
                  <a:moveTo>
                    <a:pt x="5148291" y="0"/>
                  </a:moveTo>
                  <a:lnTo>
                    <a:pt x="5237191" y="0"/>
                  </a:lnTo>
                  <a:moveTo>
                    <a:pt x="5326091" y="0"/>
                  </a:moveTo>
                  <a:lnTo>
                    <a:pt x="5414991" y="0"/>
                  </a:lnTo>
                  <a:moveTo>
                    <a:pt x="5503891" y="0"/>
                  </a:moveTo>
                  <a:lnTo>
                    <a:pt x="5592791" y="0"/>
                  </a:lnTo>
                  <a:moveTo>
                    <a:pt x="5681691" y="0"/>
                  </a:moveTo>
                  <a:lnTo>
                    <a:pt x="5770591" y="0"/>
                  </a:lnTo>
                  <a:moveTo>
                    <a:pt x="5859491" y="0"/>
                  </a:moveTo>
                  <a:lnTo>
                    <a:pt x="5948391" y="0"/>
                  </a:lnTo>
                  <a:moveTo>
                    <a:pt x="6037291" y="0"/>
                  </a:moveTo>
                  <a:lnTo>
                    <a:pt x="6126191" y="0"/>
                  </a:lnTo>
                  <a:moveTo>
                    <a:pt x="6215091" y="0"/>
                  </a:moveTo>
                  <a:lnTo>
                    <a:pt x="6268720" y="0"/>
                  </a:lnTo>
                </a:path>
              </a:pathLst>
            </a:custGeom>
            <a:ln w="19050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5" name="node01.branches.source-002.road"/>
            <p:cNvSpPr/>
            <p:nvPr/>
          </p:nvSpPr>
          <p:spPr>
            <a:xfrm>
              <a:off x="5021580" y="3439668"/>
              <a:ext cx="6268720" cy="103632"/>
            </a:xfrm>
            <a:custGeom>
              <a:avLst/>
              <a:gdLst/>
              <a:ahLst/>
              <a:cxnLst/>
              <a:rect l="l" t="t" r="r" b="b"/>
              <a:pathLst>
                <a:path w="6268720" h="103632">
                  <a:moveTo>
                    <a:pt x="0" y="103632"/>
                  </a:moveTo>
                  <a:cubicBezTo>
                    <a:pt x="754380" y="103632"/>
                    <a:pt x="617220" y="0"/>
                    <a:pt x="1371600" y="0"/>
                  </a:cubicBezTo>
                  <a:lnTo>
                    <a:pt x="6268720" y="0"/>
                  </a:lnTo>
                </a:path>
              </a:pathLst>
            </a:custGeom>
            <a:ln w="228600">
              <a:solidFill>
                <a:srgbClr val="070154"/>
              </a:solidFill>
              <a:prstDash val="solid"/>
              <a:round/>
            </a:ln>
          </p:spPr>
        </p:sp>
        <p:sp>
          <p:nvSpPr>
            <p:cNvPr id="16" name="node01.branches.source-002.road.cap-1"/>
            <p:cNvSpPr/>
            <p:nvPr/>
          </p:nvSpPr>
          <p:spPr>
            <a:xfrm>
              <a:off x="4907280" y="3429000"/>
              <a:ext cx="228600" cy="2286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7" name="node01.branches.source-002.road.cap-2"/>
            <p:cNvSpPr/>
            <p:nvPr/>
          </p:nvSpPr>
          <p:spPr>
            <a:xfrm>
              <a:off x="11176000" y="3325368"/>
              <a:ext cx="228600" cy="2286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8" name="node01.branches.source-002.centerline"/>
            <p:cNvSpPr/>
            <p:nvPr/>
          </p:nvSpPr>
          <p:spPr>
            <a:xfrm>
              <a:off x="5021580" y="3439668"/>
              <a:ext cx="6268720" cy="103632"/>
            </a:xfrm>
            <a:custGeom>
              <a:avLst/>
              <a:gdLst/>
              <a:ahLst/>
              <a:cxnLst/>
              <a:rect l="l" t="t" r="r" b="b"/>
              <a:pathLst>
                <a:path w="6268720" h="103632">
                  <a:moveTo>
                    <a:pt x="0" y="103632"/>
                  </a:moveTo>
                  <a:cubicBezTo>
                    <a:pt x="31107" y="103632"/>
                    <a:pt x="60699" y="103456"/>
                    <a:pt x="88899" y="103118"/>
                  </a:cubicBezTo>
                  <a:moveTo>
                    <a:pt x="177783" y="101416"/>
                  </a:moveTo>
                  <a:cubicBezTo>
                    <a:pt x="209259" y="100571"/>
                    <a:pt x="238792" y="99500"/>
                    <a:pt x="266624" y="98231"/>
                  </a:cubicBezTo>
                  <a:moveTo>
                    <a:pt x="355377" y="93171"/>
                  </a:moveTo>
                  <a:cubicBezTo>
                    <a:pt x="387173" y="90967"/>
                    <a:pt x="416522" y="88478"/>
                    <a:pt x="443965" y="85768"/>
                  </a:cubicBezTo>
                  <a:moveTo>
                    <a:pt x="532275" y="75587"/>
                  </a:moveTo>
                  <a:cubicBezTo>
                    <a:pt x="563373" y="71482"/>
                    <a:pt x="592285" y="67123"/>
                    <a:pt x="620226" y="62651"/>
                  </a:cubicBezTo>
                  <a:moveTo>
                    <a:pt x="707928" y="48108"/>
                  </a:moveTo>
                  <a:cubicBezTo>
                    <a:pt x="736373" y="43358"/>
                    <a:pt x="765177" y="38650"/>
                    <a:pt x="795723" y="34145"/>
                  </a:cubicBezTo>
                  <a:moveTo>
                    <a:pt x="883859" y="22542"/>
                  </a:moveTo>
                  <a:cubicBezTo>
                    <a:pt x="911269" y="19388"/>
                    <a:pt x="940533" y="16449"/>
                    <a:pt x="972324" y="13803"/>
                  </a:cubicBezTo>
                  <a:moveTo>
                    <a:pt x="1061008" y="7645"/>
                  </a:moveTo>
                  <a:cubicBezTo>
                    <a:pt x="1088735" y="6074"/>
                    <a:pt x="1118239" y="4710"/>
                    <a:pt x="1149814" y="3586"/>
                  </a:cubicBezTo>
                  <a:moveTo>
                    <a:pt x="1238679" y="1192"/>
                  </a:moveTo>
                  <a:cubicBezTo>
                    <a:pt x="1266799" y="659"/>
                    <a:pt x="1296382" y="297"/>
                    <a:pt x="1327573" y="122"/>
                  </a:cubicBezTo>
                  <a:moveTo>
                    <a:pt x="1416474" y="0"/>
                  </a:moveTo>
                  <a:lnTo>
                    <a:pt x="1505374" y="0"/>
                  </a:lnTo>
                  <a:moveTo>
                    <a:pt x="1594274" y="0"/>
                  </a:moveTo>
                  <a:lnTo>
                    <a:pt x="1683174" y="0"/>
                  </a:lnTo>
                  <a:moveTo>
                    <a:pt x="1772074" y="0"/>
                  </a:moveTo>
                  <a:lnTo>
                    <a:pt x="1860974" y="0"/>
                  </a:lnTo>
                  <a:moveTo>
                    <a:pt x="1949874" y="0"/>
                  </a:moveTo>
                  <a:lnTo>
                    <a:pt x="2038774" y="0"/>
                  </a:lnTo>
                  <a:moveTo>
                    <a:pt x="2127674" y="0"/>
                  </a:moveTo>
                  <a:lnTo>
                    <a:pt x="2216574" y="0"/>
                  </a:lnTo>
                  <a:moveTo>
                    <a:pt x="2305474" y="0"/>
                  </a:moveTo>
                  <a:lnTo>
                    <a:pt x="2394374" y="0"/>
                  </a:lnTo>
                  <a:moveTo>
                    <a:pt x="2483274" y="0"/>
                  </a:moveTo>
                  <a:lnTo>
                    <a:pt x="2572174" y="0"/>
                  </a:lnTo>
                  <a:moveTo>
                    <a:pt x="2661074" y="0"/>
                  </a:moveTo>
                  <a:lnTo>
                    <a:pt x="2749974" y="0"/>
                  </a:lnTo>
                  <a:moveTo>
                    <a:pt x="2838874" y="0"/>
                  </a:moveTo>
                  <a:lnTo>
                    <a:pt x="2927774" y="0"/>
                  </a:lnTo>
                  <a:moveTo>
                    <a:pt x="3016674" y="0"/>
                  </a:moveTo>
                  <a:lnTo>
                    <a:pt x="3105574" y="0"/>
                  </a:lnTo>
                  <a:moveTo>
                    <a:pt x="3194474" y="0"/>
                  </a:moveTo>
                  <a:lnTo>
                    <a:pt x="3283374" y="0"/>
                  </a:lnTo>
                  <a:moveTo>
                    <a:pt x="3372274" y="0"/>
                  </a:moveTo>
                  <a:lnTo>
                    <a:pt x="3461174" y="0"/>
                  </a:lnTo>
                  <a:moveTo>
                    <a:pt x="3550074" y="0"/>
                  </a:moveTo>
                  <a:lnTo>
                    <a:pt x="3638974" y="0"/>
                  </a:lnTo>
                  <a:moveTo>
                    <a:pt x="3727874" y="0"/>
                  </a:moveTo>
                  <a:lnTo>
                    <a:pt x="3816774" y="0"/>
                  </a:lnTo>
                  <a:moveTo>
                    <a:pt x="3905674" y="0"/>
                  </a:moveTo>
                  <a:lnTo>
                    <a:pt x="3994574" y="0"/>
                  </a:lnTo>
                  <a:moveTo>
                    <a:pt x="4083474" y="0"/>
                  </a:moveTo>
                  <a:lnTo>
                    <a:pt x="4172374" y="0"/>
                  </a:lnTo>
                  <a:moveTo>
                    <a:pt x="4261274" y="0"/>
                  </a:moveTo>
                  <a:lnTo>
                    <a:pt x="4350174" y="0"/>
                  </a:lnTo>
                  <a:moveTo>
                    <a:pt x="4439074" y="0"/>
                  </a:moveTo>
                  <a:lnTo>
                    <a:pt x="4527974" y="0"/>
                  </a:lnTo>
                  <a:moveTo>
                    <a:pt x="4616874" y="0"/>
                  </a:moveTo>
                  <a:lnTo>
                    <a:pt x="4705774" y="0"/>
                  </a:lnTo>
                  <a:moveTo>
                    <a:pt x="4794674" y="0"/>
                  </a:moveTo>
                  <a:lnTo>
                    <a:pt x="4883574" y="0"/>
                  </a:lnTo>
                  <a:moveTo>
                    <a:pt x="4972474" y="0"/>
                  </a:moveTo>
                  <a:lnTo>
                    <a:pt x="5061374" y="0"/>
                  </a:lnTo>
                  <a:moveTo>
                    <a:pt x="5150274" y="0"/>
                  </a:moveTo>
                  <a:lnTo>
                    <a:pt x="5239174" y="0"/>
                  </a:lnTo>
                  <a:moveTo>
                    <a:pt x="5328074" y="0"/>
                  </a:moveTo>
                  <a:lnTo>
                    <a:pt x="5416974" y="0"/>
                  </a:lnTo>
                  <a:moveTo>
                    <a:pt x="5505874" y="0"/>
                  </a:moveTo>
                  <a:lnTo>
                    <a:pt x="5594774" y="0"/>
                  </a:lnTo>
                  <a:moveTo>
                    <a:pt x="5683674" y="0"/>
                  </a:moveTo>
                  <a:lnTo>
                    <a:pt x="5772574" y="0"/>
                  </a:lnTo>
                  <a:moveTo>
                    <a:pt x="5861474" y="0"/>
                  </a:moveTo>
                  <a:lnTo>
                    <a:pt x="5950374" y="0"/>
                  </a:lnTo>
                  <a:moveTo>
                    <a:pt x="6039274" y="0"/>
                  </a:moveTo>
                  <a:lnTo>
                    <a:pt x="6128174" y="0"/>
                  </a:lnTo>
                  <a:moveTo>
                    <a:pt x="6217074" y="0"/>
                  </a:moveTo>
                  <a:lnTo>
                    <a:pt x="6268720" y="0"/>
                  </a:lnTo>
                </a:path>
              </a:pathLst>
            </a:custGeom>
            <a:ln w="19050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9" name="node01.branches.source-003.road"/>
            <p:cNvSpPr/>
            <p:nvPr/>
          </p:nvSpPr>
          <p:spPr>
            <a:xfrm>
              <a:off x="5021580" y="3543300"/>
              <a:ext cx="6268720" cy="1191768"/>
            </a:xfrm>
            <a:custGeom>
              <a:avLst/>
              <a:gdLst/>
              <a:ahLst/>
              <a:cxnLst/>
              <a:rect l="l" t="t" r="r" b="b"/>
              <a:pathLst>
                <a:path w="6268720" h="1191768">
                  <a:moveTo>
                    <a:pt x="0" y="0"/>
                  </a:moveTo>
                  <a:cubicBezTo>
                    <a:pt x="754380" y="0"/>
                    <a:pt x="617220" y="1191768"/>
                    <a:pt x="1371600" y="1191768"/>
                  </a:cubicBezTo>
                  <a:lnTo>
                    <a:pt x="6268720" y="1191768"/>
                  </a:lnTo>
                </a:path>
              </a:pathLst>
            </a:custGeom>
            <a:ln w="228600">
              <a:solidFill>
                <a:srgbClr val="070154"/>
              </a:solidFill>
              <a:prstDash val="solid"/>
              <a:round/>
            </a:ln>
          </p:spPr>
        </p:sp>
        <p:sp>
          <p:nvSpPr>
            <p:cNvPr id="20" name="node01.branches.source-003.road.cap-1"/>
            <p:cNvSpPr/>
            <p:nvPr/>
          </p:nvSpPr>
          <p:spPr>
            <a:xfrm>
              <a:off x="4907280" y="3429000"/>
              <a:ext cx="228600" cy="2286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1" name="node01.branches.source-003.road.cap-2"/>
            <p:cNvSpPr/>
            <p:nvPr/>
          </p:nvSpPr>
          <p:spPr>
            <a:xfrm>
              <a:off x="11176000" y="4620768"/>
              <a:ext cx="228600" cy="228600"/>
            </a:xfrm>
            <a:prstGeom prst="ellipse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2" name="node01.branches.source-003.centerline"/>
            <p:cNvSpPr/>
            <p:nvPr/>
          </p:nvSpPr>
          <p:spPr>
            <a:xfrm>
              <a:off x="5021580" y="3543300"/>
              <a:ext cx="6268720" cy="1191768"/>
            </a:xfrm>
            <a:custGeom>
              <a:avLst/>
              <a:gdLst/>
              <a:ahLst/>
              <a:cxnLst/>
              <a:rect l="l" t="t" r="r" b="b"/>
              <a:pathLst>
                <a:path w="6268720" h="1191768">
                  <a:moveTo>
                    <a:pt x="0" y="0"/>
                  </a:moveTo>
                  <a:cubicBezTo>
                    <a:pt x="31011" y="0"/>
                    <a:pt x="60515" y="2014"/>
                    <a:pt x="88637" y="5876"/>
                  </a:cubicBezTo>
                  <a:moveTo>
                    <a:pt x="175414" y="24754"/>
                  </a:moveTo>
                  <a:cubicBezTo>
                    <a:pt x="204498" y="33590"/>
                    <a:pt x="231928" y="44637"/>
                    <a:pt x="257892" y="57642"/>
                  </a:cubicBezTo>
                  <a:moveTo>
                    <a:pt x="333735" y="103833"/>
                  </a:moveTo>
                  <a:cubicBezTo>
                    <a:pt x="357672" y="121182"/>
                    <a:pt x="380250" y="140347"/>
                    <a:pt x="401679" y="161049"/>
                  </a:cubicBezTo>
                  <a:moveTo>
                    <a:pt x="461851" y="226426"/>
                  </a:moveTo>
                  <a:cubicBezTo>
                    <a:pt x="480489" y="249002"/>
                    <a:pt x="498252" y="272747"/>
                    <a:pt x="515327" y="297411"/>
                  </a:cubicBezTo>
                  <a:moveTo>
                    <a:pt x="563560" y="372073"/>
                  </a:moveTo>
                  <a:cubicBezTo>
                    <a:pt x="578793" y="397182"/>
                    <a:pt x="593563" y="422912"/>
                    <a:pt x="608032" y="449043"/>
                  </a:cubicBezTo>
                  <a:moveTo>
                    <a:pt x="650131" y="527341"/>
                  </a:moveTo>
                  <a:cubicBezTo>
                    <a:pt x="663886" y="553521"/>
                    <a:pt x="677508" y="579880"/>
                    <a:pt x="691150" y="606212"/>
                  </a:cubicBezTo>
                  <a:moveTo>
                    <a:pt x="732330" y="684999"/>
                  </a:moveTo>
                  <a:cubicBezTo>
                    <a:pt x="746297" y="711317"/>
                    <a:pt x="760442" y="737398"/>
                    <a:pt x="774922" y="763029"/>
                  </a:cubicBezTo>
                  <a:moveTo>
                    <a:pt x="820239" y="839503"/>
                  </a:moveTo>
                  <a:cubicBezTo>
                    <a:pt x="836133" y="864913"/>
                    <a:pt x="852560" y="889609"/>
                    <a:pt x="869699" y="913355"/>
                  </a:cubicBezTo>
                  <a:moveTo>
                    <a:pt x="924794" y="983085"/>
                  </a:moveTo>
                  <a:cubicBezTo>
                    <a:pt x="944458" y="1005652"/>
                    <a:pt x="965100" y="1026913"/>
                    <a:pt x="986923" y="1046596"/>
                  </a:cubicBezTo>
                  <a:moveTo>
                    <a:pt x="1056974" y="1101200"/>
                  </a:moveTo>
                  <a:cubicBezTo>
                    <a:pt x="1081435" y="1117442"/>
                    <a:pt x="1107286" y="1131826"/>
                    <a:pt x="1134732" y="1144079"/>
                  </a:cubicBezTo>
                  <a:moveTo>
                    <a:pt x="1218583" y="1173293"/>
                  </a:moveTo>
                  <a:cubicBezTo>
                    <a:pt x="1246241" y="1180408"/>
                    <a:pt x="1275351" y="1185582"/>
                    <a:pt x="1306064" y="1188614"/>
                  </a:cubicBezTo>
                  <a:moveTo>
                    <a:pt x="1394863" y="1191768"/>
                  </a:moveTo>
                  <a:lnTo>
                    <a:pt x="1483763" y="1191768"/>
                  </a:lnTo>
                  <a:moveTo>
                    <a:pt x="1572663" y="1191768"/>
                  </a:moveTo>
                  <a:lnTo>
                    <a:pt x="1661563" y="1191768"/>
                  </a:lnTo>
                  <a:moveTo>
                    <a:pt x="1750463" y="1191768"/>
                  </a:moveTo>
                  <a:lnTo>
                    <a:pt x="1839363" y="1191768"/>
                  </a:lnTo>
                  <a:moveTo>
                    <a:pt x="1928263" y="1191768"/>
                  </a:moveTo>
                  <a:lnTo>
                    <a:pt x="2017163" y="1191768"/>
                  </a:lnTo>
                  <a:moveTo>
                    <a:pt x="2106063" y="1191768"/>
                  </a:moveTo>
                  <a:lnTo>
                    <a:pt x="2194963" y="1191768"/>
                  </a:lnTo>
                  <a:moveTo>
                    <a:pt x="2283863" y="1191768"/>
                  </a:moveTo>
                  <a:lnTo>
                    <a:pt x="2372763" y="1191768"/>
                  </a:lnTo>
                  <a:moveTo>
                    <a:pt x="2461663" y="1191768"/>
                  </a:moveTo>
                  <a:lnTo>
                    <a:pt x="2550563" y="1191768"/>
                  </a:lnTo>
                  <a:moveTo>
                    <a:pt x="2639463" y="1191768"/>
                  </a:moveTo>
                  <a:lnTo>
                    <a:pt x="2728363" y="1191768"/>
                  </a:lnTo>
                  <a:moveTo>
                    <a:pt x="2817263" y="1191768"/>
                  </a:moveTo>
                  <a:lnTo>
                    <a:pt x="2906163" y="1191768"/>
                  </a:lnTo>
                  <a:moveTo>
                    <a:pt x="2995063" y="1191768"/>
                  </a:moveTo>
                  <a:lnTo>
                    <a:pt x="3083963" y="1191768"/>
                  </a:lnTo>
                  <a:moveTo>
                    <a:pt x="3172863" y="1191768"/>
                  </a:moveTo>
                  <a:lnTo>
                    <a:pt x="3261763" y="1191768"/>
                  </a:lnTo>
                  <a:moveTo>
                    <a:pt x="3350663" y="1191768"/>
                  </a:moveTo>
                  <a:lnTo>
                    <a:pt x="3439563" y="1191768"/>
                  </a:lnTo>
                  <a:moveTo>
                    <a:pt x="3528463" y="1191768"/>
                  </a:moveTo>
                  <a:lnTo>
                    <a:pt x="3617363" y="1191768"/>
                  </a:lnTo>
                  <a:moveTo>
                    <a:pt x="3706263" y="1191768"/>
                  </a:moveTo>
                  <a:lnTo>
                    <a:pt x="3795163" y="1191768"/>
                  </a:lnTo>
                  <a:moveTo>
                    <a:pt x="3884063" y="1191768"/>
                  </a:moveTo>
                  <a:lnTo>
                    <a:pt x="3972963" y="1191768"/>
                  </a:lnTo>
                  <a:moveTo>
                    <a:pt x="4061863" y="1191768"/>
                  </a:moveTo>
                  <a:lnTo>
                    <a:pt x="4150763" y="1191768"/>
                  </a:lnTo>
                  <a:moveTo>
                    <a:pt x="4239663" y="1191768"/>
                  </a:moveTo>
                  <a:lnTo>
                    <a:pt x="4328563" y="1191768"/>
                  </a:lnTo>
                  <a:moveTo>
                    <a:pt x="4417463" y="1191768"/>
                  </a:moveTo>
                  <a:lnTo>
                    <a:pt x="4506363" y="1191768"/>
                  </a:lnTo>
                  <a:moveTo>
                    <a:pt x="4595263" y="1191768"/>
                  </a:moveTo>
                  <a:lnTo>
                    <a:pt x="4684163" y="1191768"/>
                  </a:lnTo>
                  <a:moveTo>
                    <a:pt x="4773063" y="1191768"/>
                  </a:moveTo>
                  <a:lnTo>
                    <a:pt x="4861963" y="1191768"/>
                  </a:lnTo>
                  <a:moveTo>
                    <a:pt x="4950863" y="1191768"/>
                  </a:moveTo>
                  <a:lnTo>
                    <a:pt x="5039763" y="1191768"/>
                  </a:lnTo>
                  <a:moveTo>
                    <a:pt x="5128663" y="1191768"/>
                  </a:moveTo>
                  <a:lnTo>
                    <a:pt x="5217563" y="1191768"/>
                  </a:lnTo>
                  <a:moveTo>
                    <a:pt x="5306463" y="1191768"/>
                  </a:moveTo>
                  <a:lnTo>
                    <a:pt x="5395363" y="1191768"/>
                  </a:lnTo>
                  <a:moveTo>
                    <a:pt x="5484263" y="1191768"/>
                  </a:moveTo>
                  <a:lnTo>
                    <a:pt x="5573163" y="1191768"/>
                  </a:lnTo>
                  <a:moveTo>
                    <a:pt x="5662063" y="1191768"/>
                  </a:moveTo>
                  <a:lnTo>
                    <a:pt x="5750963" y="1191768"/>
                  </a:lnTo>
                  <a:moveTo>
                    <a:pt x="5839863" y="1191768"/>
                  </a:moveTo>
                  <a:lnTo>
                    <a:pt x="5928763" y="1191768"/>
                  </a:lnTo>
                  <a:moveTo>
                    <a:pt x="6017663" y="1191768"/>
                  </a:moveTo>
                  <a:lnTo>
                    <a:pt x="6106563" y="1191768"/>
                  </a:lnTo>
                  <a:moveTo>
                    <a:pt x="6195463" y="1191768"/>
                  </a:moveTo>
                  <a:lnTo>
                    <a:pt x="6268720" y="1191768"/>
                  </a:lnTo>
                </a:path>
              </a:pathLst>
            </a:custGeom>
            <a:ln w="19050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23" name="node01.trunk.source-001.pin"/>
            <p:cNvSpPr/>
            <p:nvPr/>
          </p:nvSpPr>
          <p:spPr>
            <a:xfrm>
              <a:off x="1610572" y="340042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70154"/>
              </a:solidFill>
              <a:prstDash val="solid"/>
            </a:ln>
          </p:spPr>
        </p:sp>
        <p:sp>
          <p:nvSpPr>
            <p:cNvPr id="24" name="node01.trunk.source-001.number"/>
            <p:cNvSpPr/>
            <p:nvPr/>
          </p:nvSpPr>
          <p:spPr>
            <a:xfrm>
              <a:off x="1601047" y="3390900"/>
              <a:ext cx="304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000"/>
                </a:lnSpc>
                <a:buNone/>
              </a:pPr>
              <a:r>
                <a:rPr lang="en-US" sz="10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1</a:t>
              </a:r>
              <a:endParaRPr lang="en-US" sz="10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5" name="node01.trunk.source-001.label.part-1"/>
            <p:cNvSpPr/>
            <p:nvPr/>
          </p:nvSpPr>
          <p:spPr>
            <a:xfrm>
              <a:off x="1181100" y="2547620"/>
              <a:ext cx="1144693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DONE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6" name="node01.trunk.source-001.label.part-2"/>
            <p:cNvSpPr/>
            <p:nvPr/>
          </p:nvSpPr>
          <p:spPr>
            <a:xfrm>
              <a:off x="1181100" y="2725420"/>
              <a:ext cx="114469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44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Data foundation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27" name="node01.trunk.source-001.label.part-3"/>
            <p:cNvSpPr/>
            <p:nvPr/>
          </p:nvSpPr>
          <p:spPr>
            <a:xfrm>
              <a:off x="1181100" y="2933700"/>
              <a:ext cx="1144693" cy="4191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5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Master patient index.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8" name="node01.trunk.source-002.pin"/>
            <p:cNvSpPr/>
            <p:nvPr/>
          </p:nvSpPr>
          <p:spPr>
            <a:xfrm>
              <a:off x="2856865" y="3400425"/>
              <a:ext cx="285750" cy="285750"/>
            </a:xfrm>
            <a:prstGeom prst="ellipse">
              <a:avLst/>
            </a:prstGeom>
            <a:solidFill>
              <a:srgbClr val="F900D3"/>
            </a:solidFill>
            <a:ln w="19050">
              <a:solidFill>
                <a:srgbClr val="070154"/>
              </a:solidFill>
              <a:prstDash val="solid"/>
            </a:ln>
          </p:spPr>
        </p:sp>
        <p:sp>
          <p:nvSpPr>
            <p:cNvPr id="29" name="node01.trunk.source-002.number"/>
            <p:cNvSpPr/>
            <p:nvPr/>
          </p:nvSpPr>
          <p:spPr>
            <a:xfrm>
              <a:off x="2847340" y="3390900"/>
              <a:ext cx="304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000"/>
                </a:lnSpc>
                <a:buNone/>
              </a:pPr>
              <a:r>
                <a:rPr lang="en-US" sz="10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2</a:t>
              </a:r>
              <a:endParaRPr lang="en-US" sz="10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0" name="node01.trunk.source-002.here.tag"/>
            <p:cNvSpPr/>
            <p:nvPr/>
          </p:nvSpPr>
          <p:spPr>
            <a:xfrm>
              <a:off x="2472814" y="3111500"/>
              <a:ext cx="1053852" cy="177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31" name="node01.trunk.source-002.here.label"/>
            <p:cNvSpPr/>
            <p:nvPr/>
          </p:nvSpPr>
          <p:spPr>
            <a:xfrm>
              <a:off x="2536314" y="3124200"/>
              <a:ext cx="926979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YOU ARE HERE</a:t>
              </a:r>
              <a:endParaRPr lang="en-US" sz="900" spc="54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2" name="node01.trunk.source-002.label.part-1"/>
            <p:cNvSpPr/>
            <p:nvPr/>
          </p:nvSpPr>
          <p:spPr>
            <a:xfrm>
              <a:off x="2427393" y="3771900"/>
              <a:ext cx="1144693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NOW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3" name="node01.trunk.source-002.label.part-2"/>
            <p:cNvSpPr/>
            <p:nvPr/>
          </p:nvSpPr>
          <p:spPr>
            <a:xfrm>
              <a:off x="2427393" y="3949700"/>
              <a:ext cx="114469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44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Single sign-in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34" name="node01.trunk.source-002.label.part-3"/>
            <p:cNvSpPr/>
            <p:nvPr/>
          </p:nvSpPr>
          <p:spPr>
            <a:xfrm>
              <a:off x="2427393" y="4157980"/>
              <a:ext cx="114469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5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Two-site pilot.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35" name="node01.trunk.source-003.pin"/>
            <p:cNvSpPr/>
            <p:nvPr/>
          </p:nvSpPr>
          <p:spPr>
            <a:xfrm>
              <a:off x="4103158" y="3400425"/>
              <a:ext cx="285750" cy="2857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70154"/>
              </a:solidFill>
              <a:prstDash val="solid"/>
            </a:ln>
          </p:spPr>
        </p:sp>
        <p:sp>
          <p:nvSpPr>
            <p:cNvPr id="36" name="node01.trunk.source-003.number"/>
            <p:cNvSpPr/>
            <p:nvPr/>
          </p:nvSpPr>
          <p:spPr>
            <a:xfrm>
              <a:off x="4093633" y="3390900"/>
              <a:ext cx="304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000"/>
                </a:lnSpc>
                <a:buNone/>
              </a:pPr>
              <a:r>
                <a:rPr lang="en-US" sz="10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3</a:t>
              </a:r>
              <a:endParaRPr lang="en-US" sz="10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7" name="node01.trunk.source-003.label.part-1"/>
            <p:cNvSpPr/>
            <p:nvPr/>
          </p:nvSpPr>
          <p:spPr>
            <a:xfrm>
              <a:off x="3673687" y="2738120"/>
              <a:ext cx="1144693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Q1 2027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38" name="node01.trunk.source-003.label.part-2"/>
            <p:cNvSpPr/>
            <p:nvPr/>
          </p:nvSpPr>
          <p:spPr>
            <a:xfrm>
              <a:off x="3673687" y="2915920"/>
              <a:ext cx="114469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44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Event stream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39" name="node01.trunk.source-003.label.part-3"/>
            <p:cNvSpPr/>
            <p:nvPr/>
          </p:nvSpPr>
          <p:spPr>
            <a:xfrm>
              <a:off x="3673687" y="3124200"/>
              <a:ext cx="1144693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5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Shared events.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0" name="node01.fork.split"/>
            <p:cNvSpPr/>
            <p:nvPr/>
          </p:nvSpPr>
          <p:spPr>
            <a:xfrm>
              <a:off x="4881880" y="3403600"/>
              <a:ext cx="279400" cy="279400"/>
            </a:xfrm>
            <a:prstGeom prst="rect">
              <a:avLst/>
            </a:prstGeom>
            <a:solidFill>
              <a:srgbClr val="070154"/>
            </a:solidFill>
            <a:ln w="38100">
              <a:solidFill>
                <a:srgbClr val="070154"/>
              </a:solidFill>
              <a:prstDash val="solid"/>
            </a:ln>
          </p:spPr>
        </p:sp>
        <p:sp>
          <p:nvSpPr>
            <p:cNvPr id="41" name="node01.fork.split.inset"/>
            <p:cNvSpPr/>
            <p:nvPr/>
          </p:nvSpPr>
          <p:spPr>
            <a:xfrm>
              <a:off x="4900930" y="3422650"/>
              <a:ext cx="241300" cy="241300"/>
            </a:xfrm>
            <a:prstGeom prst="rect">
              <a:avLst/>
            </a:prstGeom>
            <a:solidFill>
              <a:srgbClr val="070154"/>
            </a:solidFill>
            <a:ln w="38100">
              <a:solidFill>
                <a:srgbClr val="FFFFFF"/>
              </a:solidFill>
              <a:prstDash val="solid"/>
            </a:ln>
          </p:spPr>
        </p:sp>
        <p:sp>
          <p:nvSpPr>
            <p:cNvPr id="42" name="node01.fork.label.part-1"/>
            <p:cNvSpPr/>
            <p:nvPr/>
          </p:nvSpPr>
          <p:spPr>
            <a:xfrm>
              <a:off x="3992880" y="1600200"/>
              <a:ext cx="2057400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RUN IN PARALLEL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3" name="node01.fork.label.part-2"/>
            <p:cNvSpPr/>
            <p:nvPr/>
          </p:nvSpPr>
          <p:spPr>
            <a:xfrm>
              <a:off x="3992880" y="1778000"/>
              <a:ext cx="20574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68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Waves begin</a:t>
              </a:r>
              <a:endParaRPr lang="en-US" sz="14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44" name="node01.fork.label.part-3"/>
            <p:cNvSpPr/>
            <p:nvPr/>
          </p:nvSpPr>
          <p:spPr>
            <a:xfrm>
              <a:off x="3992880" y="2016760"/>
              <a:ext cx="20574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After the foundation.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45" name="node01.branches.source-001.title.part-1"/>
            <p:cNvSpPr/>
            <p:nvPr/>
          </p:nvSpPr>
          <p:spPr>
            <a:xfrm>
              <a:off x="7033327" y="1678178"/>
              <a:ext cx="4256973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7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Wave 1 · Patient access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46" name="node01.branches.source-001.tag"/>
            <p:cNvSpPr/>
            <p:nvPr/>
          </p:nvSpPr>
          <p:spPr>
            <a:xfrm>
              <a:off x="6393180" y="1761046"/>
              <a:ext cx="551247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TRACK A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7" name="node01.branches.source-001.milestones.source-001.pin"/>
            <p:cNvSpPr/>
            <p:nvPr/>
          </p:nvSpPr>
          <p:spPr>
            <a:xfrm>
              <a:off x="7588885" y="2001393"/>
              <a:ext cx="285750" cy="2857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70154"/>
              </a:solidFill>
              <a:prstDash val="solid"/>
            </a:ln>
          </p:spPr>
        </p:sp>
        <p:sp>
          <p:nvSpPr>
            <p:cNvPr id="48" name="node01.branches.source-001.milestones.source-001.number"/>
            <p:cNvSpPr/>
            <p:nvPr/>
          </p:nvSpPr>
          <p:spPr>
            <a:xfrm>
              <a:off x="7579360" y="1991868"/>
              <a:ext cx="304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000"/>
                </a:lnSpc>
                <a:buNone/>
              </a:pPr>
              <a:r>
                <a:rPr lang="en-US" sz="10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A1</a:t>
              </a:r>
              <a:endParaRPr lang="en-US" sz="10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49" name="node01.branches.source-001.milestones.source-001.label.part-1"/>
            <p:cNvSpPr/>
            <p:nvPr/>
          </p:nvSpPr>
          <p:spPr>
            <a:xfrm>
              <a:off x="6596380" y="2372868"/>
              <a:ext cx="2270760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Q2 2027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50" name="node01.branches.source-001.milestones.source-001.label.part-2"/>
            <p:cNvSpPr/>
            <p:nvPr/>
          </p:nvSpPr>
          <p:spPr>
            <a:xfrm>
              <a:off x="6596380" y="2550668"/>
              <a:ext cx="22707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44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Self-scheduling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51" name="node01.branches.source-001.milestones.source-001.label.part-3"/>
            <p:cNvSpPr/>
            <p:nvPr/>
          </p:nvSpPr>
          <p:spPr>
            <a:xfrm>
              <a:off x="6596380" y="2758948"/>
              <a:ext cx="22707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5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Primary care first.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2" name="node01.branches.source-001.milestones.source-002.pin"/>
            <p:cNvSpPr/>
            <p:nvPr/>
          </p:nvSpPr>
          <p:spPr>
            <a:xfrm>
              <a:off x="9961245" y="2001393"/>
              <a:ext cx="285750" cy="2857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70154"/>
              </a:solidFill>
              <a:prstDash val="solid"/>
            </a:ln>
          </p:spPr>
        </p:sp>
        <p:sp>
          <p:nvSpPr>
            <p:cNvPr id="53" name="node01.branches.source-001.milestones.source-002.number"/>
            <p:cNvSpPr/>
            <p:nvPr/>
          </p:nvSpPr>
          <p:spPr>
            <a:xfrm>
              <a:off x="9951720" y="1991868"/>
              <a:ext cx="304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000"/>
                </a:lnSpc>
                <a:buNone/>
              </a:pPr>
              <a:r>
                <a:rPr lang="en-US" sz="10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A2</a:t>
              </a:r>
              <a:endParaRPr lang="en-US" sz="10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54" name="node01.branches.source-001.milestones.source-002.label.part-1"/>
            <p:cNvSpPr/>
            <p:nvPr/>
          </p:nvSpPr>
          <p:spPr>
            <a:xfrm>
              <a:off x="8968740" y="2372868"/>
              <a:ext cx="2270760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Q3 2027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55" name="node01.branches.source-001.milestones.source-002.label.part-2"/>
            <p:cNvSpPr/>
            <p:nvPr/>
          </p:nvSpPr>
          <p:spPr>
            <a:xfrm>
              <a:off x="8968740" y="2550668"/>
              <a:ext cx="22707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44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Digital intake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56" name="node01.branches.source-001.milestones.source-002.label.part-3"/>
            <p:cNvSpPr/>
            <p:nvPr/>
          </p:nvSpPr>
          <p:spPr>
            <a:xfrm>
              <a:off x="8968740" y="2758948"/>
              <a:ext cx="22707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5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Forms before arrival.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57" name="node01.branches.source-002.title.part-1"/>
            <p:cNvSpPr/>
            <p:nvPr/>
          </p:nvSpPr>
          <p:spPr>
            <a:xfrm>
              <a:off x="7033327" y="2973578"/>
              <a:ext cx="4256973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7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Wave 2 · Revenue cycle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58" name="node01.branches.source-002.tag"/>
            <p:cNvSpPr/>
            <p:nvPr/>
          </p:nvSpPr>
          <p:spPr>
            <a:xfrm>
              <a:off x="6393180" y="3056446"/>
              <a:ext cx="551247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TRACK B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59" name="node01.branches.source-002.milestones.source-001.pin"/>
            <p:cNvSpPr/>
            <p:nvPr/>
          </p:nvSpPr>
          <p:spPr>
            <a:xfrm>
              <a:off x="7588885" y="3296793"/>
              <a:ext cx="285750" cy="2857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70154"/>
              </a:solidFill>
              <a:prstDash val="solid"/>
            </a:ln>
          </p:spPr>
        </p:sp>
        <p:sp>
          <p:nvSpPr>
            <p:cNvPr id="60" name="node01.branches.source-002.milestones.source-001.number"/>
            <p:cNvSpPr/>
            <p:nvPr/>
          </p:nvSpPr>
          <p:spPr>
            <a:xfrm>
              <a:off x="7579360" y="3287268"/>
              <a:ext cx="304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000"/>
                </a:lnSpc>
                <a:buNone/>
              </a:pPr>
              <a:r>
                <a:rPr lang="en-US" sz="10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B1</a:t>
              </a:r>
              <a:endParaRPr lang="en-US" sz="10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61" name="node01.branches.source-002.milestones.source-001.label.part-1"/>
            <p:cNvSpPr/>
            <p:nvPr/>
          </p:nvSpPr>
          <p:spPr>
            <a:xfrm>
              <a:off x="6596380" y="3668268"/>
              <a:ext cx="2270760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Q2 2027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62" name="node01.branches.source-002.milestones.source-001.label.part-2"/>
            <p:cNvSpPr/>
            <p:nvPr/>
          </p:nvSpPr>
          <p:spPr>
            <a:xfrm>
              <a:off x="6596380" y="3846068"/>
              <a:ext cx="22707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44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Price estimates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63" name="node01.branches.source-002.milestones.source-001.label.part-3"/>
            <p:cNvSpPr/>
            <p:nvPr/>
          </p:nvSpPr>
          <p:spPr>
            <a:xfrm>
              <a:off x="6596380" y="4054348"/>
              <a:ext cx="22707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5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Shown before booking.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4" name="node01.branches.source-002.milestones.source-002.pin"/>
            <p:cNvSpPr/>
            <p:nvPr/>
          </p:nvSpPr>
          <p:spPr>
            <a:xfrm>
              <a:off x="9961245" y="3296793"/>
              <a:ext cx="285750" cy="2857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70154"/>
              </a:solidFill>
              <a:prstDash val="solid"/>
            </a:ln>
          </p:spPr>
        </p:sp>
        <p:sp>
          <p:nvSpPr>
            <p:cNvPr id="65" name="node01.branches.source-002.milestones.source-002.number"/>
            <p:cNvSpPr/>
            <p:nvPr/>
          </p:nvSpPr>
          <p:spPr>
            <a:xfrm>
              <a:off x="9951720" y="3287268"/>
              <a:ext cx="304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000"/>
                </a:lnSpc>
                <a:buNone/>
              </a:pPr>
              <a:r>
                <a:rPr lang="en-US" sz="10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B2</a:t>
              </a:r>
              <a:endParaRPr lang="en-US" sz="10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66" name="node01.branches.source-002.milestones.source-002.label.part-1"/>
            <p:cNvSpPr/>
            <p:nvPr/>
          </p:nvSpPr>
          <p:spPr>
            <a:xfrm>
              <a:off x="8968740" y="3668268"/>
              <a:ext cx="2270760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Q4 2027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67" name="node01.branches.source-002.milestones.source-002.label.part-2"/>
            <p:cNvSpPr/>
            <p:nvPr/>
          </p:nvSpPr>
          <p:spPr>
            <a:xfrm>
              <a:off x="8968740" y="3846068"/>
              <a:ext cx="22707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44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Online payment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68" name="node01.branches.source-002.milestones.source-002.label.part-3"/>
            <p:cNvSpPr/>
            <p:nvPr/>
          </p:nvSpPr>
          <p:spPr>
            <a:xfrm>
              <a:off x="8968740" y="4054348"/>
              <a:ext cx="22707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5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Pay at the visit.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69" name="node01.branches.source-003.title.part-1"/>
            <p:cNvSpPr/>
            <p:nvPr/>
          </p:nvSpPr>
          <p:spPr>
            <a:xfrm>
              <a:off x="7033327" y="4268978"/>
              <a:ext cx="4256973" cy="342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7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Wave 3 · Clinical operations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70" name="node01.branches.source-003.tag"/>
            <p:cNvSpPr/>
            <p:nvPr/>
          </p:nvSpPr>
          <p:spPr>
            <a:xfrm>
              <a:off x="6393180" y="4351846"/>
              <a:ext cx="551247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TRACK C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71" name="node01.branches.source-003.milestones.source-001.pin"/>
            <p:cNvSpPr/>
            <p:nvPr/>
          </p:nvSpPr>
          <p:spPr>
            <a:xfrm>
              <a:off x="7588885" y="4592193"/>
              <a:ext cx="285750" cy="2857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70154"/>
              </a:solidFill>
              <a:prstDash val="solid"/>
            </a:ln>
          </p:spPr>
        </p:sp>
        <p:sp>
          <p:nvSpPr>
            <p:cNvPr id="72" name="node01.branches.source-003.milestones.source-001.number"/>
            <p:cNvSpPr/>
            <p:nvPr/>
          </p:nvSpPr>
          <p:spPr>
            <a:xfrm>
              <a:off x="7579360" y="4582668"/>
              <a:ext cx="304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000"/>
                </a:lnSpc>
                <a:buNone/>
              </a:pPr>
              <a:r>
                <a:rPr lang="en-US" sz="10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C1</a:t>
              </a:r>
              <a:endParaRPr lang="en-US" sz="10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73" name="node01.branches.source-003.milestones.source-001.label.part-1"/>
            <p:cNvSpPr/>
            <p:nvPr/>
          </p:nvSpPr>
          <p:spPr>
            <a:xfrm>
              <a:off x="6596380" y="4963668"/>
              <a:ext cx="2270760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Q3 2027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74" name="node01.branches.source-003.milestones.source-001.label.part-2"/>
            <p:cNvSpPr/>
            <p:nvPr/>
          </p:nvSpPr>
          <p:spPr>
            <a:xfrm>
              <a:off x="6596380" y="5141468"/>
              <a:ext cx="22707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44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Referral tracking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75" name="node01.branches.source-003.milestones.source-001.label.part-3"/>
            <p:cNvSpPr/>
            <p:nvPr/>
          </p:nvSpPr>
          <p:spPr>
            <a:xfrm>
              <a:off x="6596380" y="5349748"/>
              <a:ext cx="22707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5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One status view.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76" name="node01.branches.source-003.milestones.source-002.pin"/>
            <p:cNvSpPr/>
            <p:nvPr/>
          </p:nvSpPr>
          <p:spPr>
            <a:xfrm>
              <a:off x="9961245" y="4592193"/>
              <a:ext cx="285750" cy="28575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70154"/>
              </a:solidFill>
              <a:prstDash val="solid"/>
            </a:ln>
          </p:spPr>
        </p:sp>
        <p:sp>
          <p:nvSpPr>
            <p:cNvPr id="77" name="node01.branches.source-003.milestones.source-002.number"/>
            <p:cNvSpPr/>
            <p:nvPr/>
          </p:nvSpPr>
          <p:spPr>
            <a:xfrm>
              <a:off x="9951720" y="4582668"/>
              <a:ext cx="304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indent="0" marL="0">
                <a:lnSpc>
                  <a:spcPts val="1000"/>
                </a:lnSpc>
                <a:buNone/>
              </a:pPr>
              <a:r>
                <a:rPr lang="en-US" sz="1000" spc="0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C2</a:t>
              </a:r>
              <a:endParaRPr lang="en-US" sz="10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78" name="node01.branches.source-003.milestones.source-002.label.part-1"/>
            <p:cNvSpPr/>
            <p:nvPr/>
          </p:nvSpPr>
          <p:spPr>
            <a:xfrm>
              <a:off x="8968740" y="4963668"/>
              <a:ext cx="2270760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SemiBold"/>
                  <a:ea typeface="IBM Plex Mono SemiBold"/>
                  <a:cs typeface="IBM Plex Mono SemiBold"/>
                </a:rPr>
                <a:t>Q1 2028</a:t>
              </a:r>
              <a:endParaRPr lang="en-US" sz="900" spc="5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79" name="node01.branches.source-003.milestones.source-002.label.part-2"/>
            <p:cNvSpPr/>
            <p:nvPr/>
          </p:nvSpPr>
          <p:spPr>
            <a:xfrm>
              <a:off x="8968740" y="5141468"/>
              <a:ext cx="22707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44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Care plans</a:t>
              </a:r>
              <a:endParaRPr lang="en-US" sz="1200" spc="0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80" name="node01.branches.source-003.milestones.source-002.label.part-3"/>
            <p:cNvSpPr/>
            <p:nvPr/>
          </p:nvSpPr>
          <p:spPr>
            <a:xfrm>
              <a:off x="8968740" y="5349748"/>
              <a:ext cx="227076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5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Shared in the app.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4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DIGITAL FRONT DOOR ROADMAP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Three horizons build one front door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Sample figures for layout only; replace with current firm data before use.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13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8" name="node01"/>
          <p:cNvGrpSpPr/>
          <p:nvPr/>
        </p:nvGrpSpPr>
        <p:grpSpPr>
          <a:xfrm>
            <a:off x="723900" y="1600200"/>
            <a:ext cx="10744200" cy="4089400"/>
            <a:chOff x="723900" y="1600200"/>
            <a:chExt cx="10744200" cy="4089400"/>
          </a:xfrm>
        </p:grpSpPr>
        <p:graphicFrame>
          <p:nvGraphicFramePr>
            <p:cNvPr id="7" name="node01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723900" y="1600200"/>
            <a:ext cx="10744200" cy="4089400"/>
          </p:xfrm>
          <a:graphic>
            <a:graphicData uri="http://schemas.openxmlformats.org/drawingml/2006/table">
              <a:tbl>
                <a:tblPr/>
                <a:tblGrid>
                  <a:gridCol w="1143000"/>
                  <a:gridCol w="1905000"/>
                  <a:gridCol w="2590800"/>
                  <a:gridCol w="2362200"/>
                  <a:gridCol w="1600200"/>
                  <a:gridCol w="11430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HORIZON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OBJECTIVE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KEY INITIATIVES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OUTCOMES AND KPIS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DEPENDENCIES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INVESTMENT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1244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20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Now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Q4 2026 to Q1 2027</a:t>
                        </a:r>
                        <a:endParaRPr lang="en-US" sz="1200" spc="0" kern="0" b="0" i="0" dirty="0">
                          <a:solidFill>
                            <a:srgbClr val="50658E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Lay the data foundation so every system agrees who the patient is.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Master patient index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Single sign-in, patients and staff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Scheduling event stream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Duplicates down 40%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One ID at 100% of sites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EHR release 4.2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Privacy sign-off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$4.2M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1244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20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Next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Q2 to Q3 2027</a:t>
                        </a:r>
                        <a:endParaRPr lang="en-US" sz="1200" spc="0" kern="0" b="0" i="0" dirty="0">
                          <a:solidFill>
                            <a:srgbClr val="50658E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Open the front door: patients book, register and see prices online.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Self-scheduling in primary care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Digital intake and consent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Price estimates before booking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60% of visits booked online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Call volume down 25%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Patient index live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Payer contract data loaded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$6.8M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1244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20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Later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Q4 2027 to 2028</a:t>
                        </a:r>
                        <a:endParaRPr lang="en-US" sz="1200" spc="0" kern="0" b="0" i="0" dirty="0">
                          <a:solidFill>
                            <a:srgbClr val="50658E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Extend access across the care journey and personalize it.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Referral tracking end to end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Care plans in the app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Virtual front desk and chat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No-show rate under 6%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App use by 50% of patients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Event stream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Clinical capacity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$5.5M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4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3429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DIGITAL FRONT DOOR ROADMAP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spc="-3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Why the roadmap runs in this order</a:t>
            </a:r>
            <a:endParaRPr lang="en-US" sz="2400" spc="-36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3429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Northfield Health System digital front door program.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14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38" name="node01"/>
          <p:cNvGrpSpPr/>
          <p:nvPr/>
        </p:nvGrpSpPr>
        <p:grpSpPr>
          <a:xfrm>
            <a:off x="723900" y="2514600"/>
            <a:ext cx="3429000" cy="800100"/>
            <a:chOff x="723900" y="2514600"/>
            <a:chExt cx="3429000" cy="800100"/>
          </a:xfrm>
        </p:grpSpPr>
        <p:sp>
          <p:nvSpPr>
            <p:cNvPr id="7" name="node01.text"/>
            <p:cNvSpPr/>
            <p:nvPr/>
          </p:nvSpPr>
          <p:spPr>
            <a:xfrm>
              <a:off x="723900" y="2514600"/>
              <a:ext cx="3429000" cy="8001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Patients feel the front door, but it only works once the data underneath it is trusted.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39" name="node02"/>
          <p:cNvGrpSpPr/>
          <p:nvPr/>
        </p:nvGrpSpPr>
        <p:grpSpPr>
          <a:xfrm>
            <a:off x="723900" y="3657600"/>
            <a:ext cx="3429000" cy="1447800"/>
            <a:chOff x="723900" y="3657600"/>
            <a:chExt cx="3429000" cy="1447800"/>
          </a:xfrm>
        </p:grpSpPr>
        <p:sp>
          <p:nvSpPr>
            <p:cNvPr id="8" name="node02.source-001.bullet"/>
            <p:cNvSpPr/>
            <p:nvPr/>
          </p:nvSpPr>
          <p:spPr>
            <a:xfrm>
              <a:off x="723900" y="37465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9" name="node02.source-001.text"/>
            <p:cNvSpPr/>
            <p:nvPr/>
          </p:nvSpPr>
          <p:spPr>
            <a:xfrm>
              <a:off x="876300" y="3657600"/>
              <a:ext cx="32766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Identity first.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Every later feature needs one patient ID.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0" name="node02.source-002.bullet"/>
            <p:cNvSpPr/>
            <p:nvPr/>
          </p:nvSpPr>
          <p:spPr>
            <a:xfrm>
              <a:off x="723900" y="42418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1" name="node02.source-002.text"/>
            <p:cNvSpPr/>
            <p:nvPr/>
          </p:nvSpPr>
          <p:spPr>
            <a:xfrm>
              <a:off x="876300" y="4152900"/>
              <a:ext cx="32766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Access before payment.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Booking creates the demand that estimates and billing serve.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2" name="node02.source-003.bullet"/>
            <p:cNvSpPr/>
            <p:nvPr/>
          </p:nvSpPr>
          <p:spPr>
            <a:xfrm>
              <a:off x="723900" y="47371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3" name="node02.source-003.text"/>
            <p:cNvSpPr/>
            <p:nvPr/>
          </p:nvSpPr>
          <p:spPr>
            <a:xfrm>
              <a:off x="876300" y="4648200"/>
              <a:ext cx="32766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Care last.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Clinical workflows change slowest, so we start them early but ship them last.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40" name="node03"/>
          <p:cNvGrpSpPr/>
          <p:nvPr/>
        </p:nvGrpSpPr>
        <p:grpSpPr>
          <a:xfrm>
            <a:off x="4381500" y="457200"/>
            <a:ext cx="7086600" cy="1600200"/>
            <a:chOff x="4381500" y="457200"/>
            <a:chExt cx="7086600" cy="1600200"/>
          </a:xfrm>
        </p:grpSpPr>
        <p:sp>
          <p:nvSpPr>
            <p:cNvPr id="14" name="node03.surface"/>
            <p:cNvSpPr/>
            <p:nvPr/>
          </p:nvSpPr>
          <p:spPr>
            <a:xfrm>
              <a:off x="4381500" y="457200"/>
              <a:ext cx="7086600" cy="16002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41" name="node04"/>
          <p:cNvGrpSpPr/>
          <p:nvPr/>
        </p:nvGrpSpPr>
        <p:grpSpPr>
          <a:xfrm>
            <a:off x="4610100" y="685800"/>
            <a:ext cx="6629400" cy="152400"/>
            <a:chOff x="4610100" y="685800"/>
            <a:chExt cx="6629400" cy="152400"/>
          </a:xfrm>
        </p:grpSpPr>
        <p:sp>
          <p:nvSpPr>
            <p:cNvPr id="15" name="node04.text"/>
            <p:cNvSpPr/>
            <p:nvPr/>
          </p:nvSpPr>
          <p:spPr>
            <a:xfrm>
              <a:off x="4610100" y="685800"/>
              <a:ext cx="66294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NOW  ·  Q4 2026 TO Q1 2027</a:t>
              </a:r>
              <a:endParaRPr lang="en-US" sz="900" spc="54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42" name="node05"/>
          <p:cNvGrpSpPr/>
          <p:nvPr/>
        </p:nvGrpSpPr>
        <p:grpSpPr>
          <a:xfrm>
            <a:off x="4610100" y="990600"/>
            <a:ext cx="2057400" cy="152400"/>
            <a:chOff x="4610100" y="990600"/>
            <a:chExt cx="2057400" cy="152400"/>
          </a:xfrm>
        </p:grpSpPr>
        <p:sp>
          <p:nvSpPr>
            <p:cNvPr id="16" name="node05.text"/>
            <p:cNvSpPr/>
            <p:nvPr/>
          </p:nvSpPr>
          <p:spPr>
            <a:xfrm>
              <a:off x="4610100" y="990600"/>
              <a:ext cx="20574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WHAT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43" name="node06"/>
          <p:cNvGrpSpPr/>
          <p:nvPr/>
        </p:nvGrpSpPr>
        <p:grpSpPr>
          <a:xfrm>
            <a:off x="4610100" y="1219200"/>
            <a:ext cx="2057400" cy="685800"/>
            <a:chOff x="4610100" y="1219200"/>
            <a:chExt cx="2057400" cy="685800"/>
          </a:xfrm>
        </p:grpSpPr>
        <p:sp>
          <p:nvSpPr>
            <p:cNvPr id="17" name="node06.text"/>
            <p:cNvSpPr/>
            <p:nvPr/>
          </p:nvSpPr>
          <p:spPr>
            <a:xfrm>
              <a:off x="4610100" y="1219200"/>
              <a:ext cx="2057400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One master patient index and one sign-in across all six hospitals.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44" name="node07"/>
          <p:cNvGrpSpPr/>
          <p:nvPr/>
        </p:nvGrpSpPr>
        <p:grpSpPr>
          <a:xfrm>
            <a:off x="6896100" y="990600"/>
            <a:ext cx="2057400" cy="152400"/>
            <a:chOff x="6896100" y="990600"/>
            <a:chExt cx="2057400" cy="152400"/>
          </a:xfrm>
        </p:grpSpPr>
        <p:sp>
          <p:nvSpPr>
            <p:cNvPr id="18" name="node07.text"/>
            <p:cNvSpPr/>
            <p:nvPr/>
          </p:nvSpPr>
          <p:spPr>
            <a:xfrm>
              <a:off x="6896100" y="990600"/>
              <a:ext cx="20574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WHY NOW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45" name="node08"/>
          <p:cNvGrpSpPr/>
          <p:nvPr/>
        </p:nvGrpSpPr>
        <p:grpSpPr>
          <a:xfrm>
            <a:off x="6896100" y="1219200"/>
            <a:ext cx="2057400" cy="457200"/>
            <a:chOff x="6896100" y="1219200"/>
            <a:chExt cx="2057400" cy="457200"/>
          </a:xfrm>
        </p:grpSpPr>
        <p:sp>
          <p:nvSpPr>
            <p:cNvPr id="19" name="node08.text"/>
            <p:cNvSpPr/>
            <p:nvPr/>
          </p:nvSpPr>
          <p:spPr>
            <a:xfrm>
              <a:off x="6896100" y="1219200"/>
              <a:ext cx="20574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Two registration flows create duplicates and denials today.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46" name="node09"/>
          <p:cNvGrpSpPr/>
          <p:nvPr/>
        </p:nvGrpSpPr>
        <p:grpSpPr>
          <a:xfrm>
            <a:off x="9182100" y="990600"/>
            <a:ext cx="2057400" cy="152400"/>
            <a:chOff x="9182100" y="990600"/>
            <a:chExt cx="2057400" cy="152400"/>
          </a:xfrm>
        </p:grpSpPr>
        <p:sp>
          <p:nvSpPr>
            <p:cNvPr id="20" name="node09.text"/>
            <p:cNvSpPr/>
            <p:nvPr/>
          </p:nvSpPr>
          <p:spPr>
            <a:xfrm>
              <a:off x="9182100" y="990600"/>
              <a:ext cx="20574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UNLOCKS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47" name="node10"/>
          <p:cNvGrpSpPr/>
          <p:nvPr/>
        </p:nvGrpSpPr>
        <p:grpSpPr>
          <a:xfrm>
            <a:off x="9182100" y="1219200"/>
            <a:ext cx="2057400" cy="457200"/>
            <a:chOff x="9182100" y="1219200"/>
            <a:chExt cx="2057400" cy="457200"/>
          </a:xfrm>
        </p:grpSpPr>
        <p:sp>
          <p:nvSpPr>
            <p:cNvPr id="21" name="node10.text"/>
            <p:cNvSpPr/>
            <p:nvPr/>
          </p:nvSpPr>
          <p:spPr>
            <a:xfrm>
              <a:off x="9182100" y="1219200"/>
              <a:ext cx="20574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Self-service for every digital feature that follows.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48" name="node11"/>
          <p:cNvGrpSpPr/>
          <p:nvPr/>
        </p:nvGrpSpPr>
        <p:grpSpPr>
          <a:xfrm>
            <a:off x="4381500" y="2286000"/>
            <a:ext cx="7086600" cy="1600200"/>
            <a:chOff x="4381500" y="2286000"/>
            <a:chExt cx="7086600" cy="1600200"/>
          </a:xfrm>
        </p:grpSpPr>
        <p:sp>
          <p:nvSpPr>
            <p:cNvPr id="22" name="node11.surface"/>
            <p:cNvSpPr/>
            <p:nvPr/>
          </p:nvSpPr>
          <p:spPr>
            <a:xfrm>
              <a:off x="4381500" y="2286000"/>
              <a:ext cx="7086600" cy="16002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49" name="node12"/>
          <p:cNvGrpSpPr/>
          <p:nvPr/>
        </p:nvGrpSpPr>
        <p:grpSpPr>
          <a:xfrm>
            <a:off x="4610100" y="2514600"/>
            <a:ext cx="6629400" cy="152400"/>
            <a:chOff x="4610100" y="2514600"/>
            <a:chExt cx="6629400" cy="152400"/>
          </a:xfrm>
        </p:grpSpPr>
        <p:sp>
          <p:nvSpPr>
            <p:cNvPr id="23" name="node12.text"/>
            <p:cNvSpPr/>
            <p:nvPr/>
          </p:nvSpPr>
          <p:spPr>
            <a:xfrm>
              <a:off x="4610100" y="2514600"/>
              <a:ext cx="66294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NEXT  ·  Q2 TO Q3 2027</a:t>
              </a:r>
              <a:endParaRPr lang="en-US" sz="900" spc="54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50" name="node13"/>
          <p:cNvGrpSpPr/>
          <p:nvPr/>
        </p:nvGrpSpPr>
        <p:grpSpPr>
          <a:xfrm>
            <a:off x="4610100" y="2819400"/>
            <a:ext cx="2057400" cy="152400"/>
            <a:chOff x="4610100" y="2819400"/>
            <a:chExt cx="2057400" cy="152400"/>
          </a:xfrm>
        </p:grpSpPr>
        <p:sp>
          <p:nvSpPr>
            <p:cNvPr id="24" name="node13.text"/>
            <p:cNvSpPr/>
            <p:nvPr/>
          </p:nvSpPr>
          <p:spPr>
            <a:xfrm>
              <a:off x="4610100" y="2819400"/>
              <a:ext cx="20574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WHAT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51" name="node14"/>
          <p:cNvGrpSpPr/>
          <p:nvPr/>
        </p:nvGrpSpPr>
        <p:grpSpPr>
          <a:xfrm>
            <a:off x="4610100" y="3048000"/>
            <a:ext cx="2057400" cy="457200"/>
            <a:chOff x="4610100" y="3048000"/>
            <a:chExt cx="2057400" cy="457200"/>
          </a:xfrm>
        </p:grpSpPr>
        <p:sp>
          <p:nvSpPr>
            <p:cNvPr id="25" name="node14.text"/>
            <p:cNvSpPr/>
            <p:nvPr/>
          </p:nvSpPr>
          <p:spPr>
            <a:xfrm>
              <a:off x="4610100" y="3048000"/>
              <a:ext cx="20574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Online scheduling, digital intake and price estimates.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52" name="node15"/>
          <p:cNvGrpSpPr/>
          <p:nvPr/>
        </p:nvGrpSpPr>
        <p:grpSpPr>
          <a:xfrm>
            <a:off x="6896100" y="2819400"/>
            <a:ext cx="2057400" cy="152400"/>
            <a:chOff x="6896100" y="2819400"/>
            <a:chExt cx="2057400" cy="152400"/>
          </a:xfrm>
        </p:grpSpPr>
        <p:sp>
          <p:nvSpPr>
            <p:cNvPr id="26" name="node15.text"/>
            <p:cNvSpPr/>
            <p:nvPr/>
          </p:nvSpPr>
          <p:spPr>
            <a:xfrm>
              <a:off x="6896100" y="2819400"/>
              <a:ext cx="20574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WHY NOW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53" name="node16"/>
          <p:cNvGrpSpPr/>
          <p:nvPr/>
        </p:nvGrpSpPr>
        <p:grpSpPr>
          <a:xfrm>
            <a:off x="6896100" y="3048000"/>
            <a:ext cx="2057400" cy="457200"/>
            <a:chOff x="6896100" y="3048000"/>
            <a:chExt cx="2057400" cy="457200"/>
          </a:xfrm>
        </p:grpSpPr>
        <p:sp>
          <p:nvSpPr>
            <p:cNvPr id="27" name="node16.text"/>
            <p:cNvSpPr/>
            <p:nvPr/>
          </p:nvSpPr>
          <p:spPr>
            <a:xfrm>
              <a:off x="6896100" y="3048000"/>
              <a:ext cx="20574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Patients ask for it, and competitors already offer it.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54" name="node17"/>
          <p:cNvGrpSpPr/>
          <p:nvPr/>
        </p:nvGrpSpPr>
        <p:grpSpPr>
          <a:xfrm>
            <a:off x="9182100" y="2819400"/>
            <a:ext cx="2057400" cy="152400"/>
            <a:chOff x="9182100" y="2819400"/>
            <a:chExt cx="2057400" cy="152400"/>
          </a:xfrm>
        </p:grpSpPr>
        <p:sp>
          <p:nvSpPr>
            <p:cNvPr id="28" name="node17.text"/>
            <p:cNvSpPr/>
            <p:nvPr/>
          </p:nvSpPr>
          <p:spPr>
            <a:xfrm>
              <a:off x="9182100" y="2819400"/>
              <a:ext cx="20574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UNLOCKS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55" name="node18"/>
          <p:cNvGrpSpPr/>
          <p:nvPr/>
        </p:nvGrpSpPr>
        <p:grpSpPr>
          <a:xfrm>
            <a:off x="9182100" y="3048000"/>
            <a:ext cx="2057400" cy="457200"/>
            <a:chOff x="9182100" y="3048000"/>
            <a:chExt cx="2057400" cy="457200"/>
          </a:xfrm>
        </p:grpSpPr>
        <p:sp>
          <p:nvSpPr>
            <p:cNvPr id="29" name="node18.text"/>
            <p:cNvSpPr/>
            <p:nvPr/>
          </p:nvSpPr>
          <p:spPr>
            <a:xfrm>
              <a:off x="9182100" y="3048000"/>
              <a:ext cx="20574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Fewer calls, fewer no-shows and cleaner claims.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56" name="node19"/>
          <p:cNvGrpSpPr/>
          <p:nvPr/>
        </p:nvGrpSpPr>
        <p:grpSpPr>
          <a:xfrm>
            <a:off x="4381500" y="4114800"/>
            <a:ext cx="7086600" cy="1600200"/>
            <a:chOff x="4381500" y="4114800"/>
            <a:chExt cx="7086600" cy="1600200"/>
          </a:xfrm>
        </p:grpSpPr>
        <p:sp>
          <p:nvSpPr>
            <p:cNvPr id="30" name="node19.surface"/>
            <p:cNvSpPr/>
            <p:nvPr/>
          </p:nvSpPr>
          <p:spPr>
            <a:xfrm>
              <a:off x="4381500" y="4114800"/>
              <a:ext cx="7086600" cy="16002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</p:grpSp>
      <p:grpSp>
        <p:nvGrpSpPr>
          <p:cNvPr id="57" name="node20"/>
          <p:cNvGrpSpPr/>
          <p:nvPr/>
        </p:nvGrpSpPr>
        <p:grpSpPr>
          <a:xfrm>
            <a:off x="4610100" y="4343400"/>
            <a:ext cx="6629400" cy="152400"/>
            <a:chOff x="4610100" y="4343400"/>
            <a:chExt cx="6629400" cy="152400"/>
          </a:xfrm>
        </p:grpSpPr>
        <p:sp>
          <p:nvSpPr>
            <p:cNvPr id="31" name="node20.text"/>
            <p:cNvSpPr/>
            <p:nvPr/>
          </p:nvSpPr>
          <p:spPr>
            <a:xfrm>
              <a:off x="4610100" y="4343400"/>
              <a:ext cx="66294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047FF"/>
                  </a:solidFill>
                  <a:latin typeface="IBM Plex Mono Medium"/>
                  <a:ea typeface="IBM Plex Mono Medium"/>
                  <a:cs typeface="IBM Plex Mono Medium"/>
                </a:rPr>
                <a:t>LATER  ·  Q4 2027 TO 2028</a:t>
              </a:r>
              <a:endParaRPr lang="en-US" sz="900" spc="54" kern="0" b="0" i="0" dirty="0">
                <a:solidFill>
                  <a:srgbClr val="0047FF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58" name="node21"/>
          <p:cNvGrpSpPr/>
          <p:nvPr/>
        </p:nvGrpSpPr>
        <p:grpSpPr>
          <a:xfrm>
            <a:off x="4610100" y="4648200"/>
            <a:ext cx="2057400" cy="152400"/>
            <a:chOff x="4610100" y="4648200"/>
            <a:chExt cx="2057400" cy="152400"/>
          </a:xfrm>
        </p:grpSpPr>
        <p:sp>
          <p:nvSpPr>
            <p:cNvPr id="32" name="node21.text"/>
            <p:cNvSpPr/>
            <p:nvPr/>
          </p:nvSpPr>
          <p:spPr>
            <a:xfrm>
              <a:off x="4610100" y="4648200"/>
              <a:ext cx="20574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WHAT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59" name="node22"/>
          <p:cNvGrpSpPr/>
          <p:nvPr/>
        </p:nvGrpSpPr>
        <p:grpSpPr>
          <a:xfrm>
            <a:off x="4610100" y="4876800"/>
            <a:ext cx="2057400" cy="457200"/>
            <a:chOff x="4610100" y="4876800"/>
            <a:chExt cx="2057400" cy="457200"/>
          </a:xfrm>
        </p:grpSpPr>
        <p:sp>
          <p:nvSpPr>
            <p:cNvPr id="33" name="node22.text"/>
            <p:cNvSpPr/>
            <p:nvPr/>
          </p:nvSpPr>
          <p:spPr>
            <a:xfrm>
              <a:off x="4610100" y="4876800"/>
              <a:ext cx="20574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Referral tracking, care plans and a virtual front desk.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0" name="node23"/>
          <p:cNvGrpSpPr/>
          <p:nvPr/>
        </p:nvGrpSpPr>
        <p:grpSpPr>
          <a:xfrm>
            <a:off x="6896100" y="4648200"/>
            <a:ext cx="2057400" cy="152400"/>
            <a:chOff x="6896100" y="4648200"/>
            <a:chExt cx="2057400" cy="152400"/>
          </a:xfrm>
        </p:grpSpPr>
        <p:sp>
          <p:nvSpPr>
            <p:cNvPr id="34" name="node23.text"/>
            <p:cNvSpPr/>
            <p:nvPr/>
          </p:nvSpPr>
          <p:spPr>
            <a:xfrm>
              <a:off x="6896100" y="4648200"/>
              <a:ext cx="20574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WHY NOW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61" name="node24"/>
          <p:cNvGrpSpPr/>
          <p:nvPr/>
        </p:nvGrpSpPr>
        <p:grpSpPr>
          <a:xfrm>
            <a:off x="6896100" y="4876800"/>
            <a:ext cx="2057400" cy="457200"/>
            <a:chOff x="6896100" y="4876800"/>
            <a:chExt cx="2057400" cy="457200"/>
          </a:xfrm>
        </p:grpSpPr>
        <p:sp>
          <p:nvSpPr>
            <p:cNvPr id="35" name="node24.text"/>
            <p:cNvSpPr/>
            <p:nvPr/>
          </p:nvSpPr>
          <p:spPr>
            <a:xfrm>
              <a:off x="6896100" y="4876800"/>
              <a:ext cx="20574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Not yet: it needs the event stream and clinical capacity.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62" name="node25"/>
          <p:cNvGrpSpPr/>
          <p:nvPr/>
        </p:nvGrpSpPr>
        <p:grpSpPr>
          <a:xfrm>
            <a:off x="9182100" y="4648200"/>
            <a:ext cx="2057400" cy="152400"/>
            <a:chOff x="9182100" y="4648200"/>
            <a:chExt cx="2057400" cy="152400"/>
          </a:xfrm>
        </p:grpSpPr>
        <p:sp>
          <p:nvSpPr>
            <p:cNvPr id="36" name="node25.text"/>
            <p:cNvSpPr/>
            <p:nvPr/>
          </p:nvSpPr>
          <p:spPr>
            <a:xfrm>
              <a:off x="9182100" y="4648200"/>
              <a:ext cx="20574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UNLOCKS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63" name="node26"/>
          <p:cNvGrpSpPr/>
          <p:nvPr/>
        </p:nvGrpSpPr>
        <p:grpSpPr>
          <a:xfrm>
            <a:off x="9182100" y="4876800"/>
            <a:ext cx="2057400" cy="457200"/>
            <a:chOff x="9182100" y="4876800"/>
            <a:chExt cx="2057400" cy="457200"/>
          </a:xfrm>
        </p:grpSpPr>
        <p:sp>
          <p:nvSpPr>
            <p:cNvPr id="37" name="node26.text"/>
            <p:cNvSpPr/>
            <p:nvPr/>
          </p:nvSpPr>
          <p:spPr>
            <a:xfrm>
              <a:off x="9182100" y="4876800"/>
              <a:ext cx="20574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Care that continues between visits.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4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DIGITAL FRONT DOOR ROADMAP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Each wave starts and ends on evidence, not on the calendar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Northfield Health System digital front door program.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nav.section-01"/>
          <p:cNvSpPr/>
          <p:nvPr/>
        </p:nvSpPr>
        <p:spPr>
          <a:xfrm>
            <a:off x="266700" y="457200"/>
            <a:ext cx="228600" cy="1036320"/>
          </a:xfrm>
          <a:prstGeom prst="rect">
            <a:avLst/>
          </a:prstGeom>
          <a:solidFill>
            <a:srgbClr val="E8EEF8"/>
          </a:solidFill>
          <a:ln>
            <a:noFill/>
          </a:ln>
        </p:spPr>
      </p:sp>
      <p:sp>
        <p:nvSpPr>
          <p:cNvPr id="7" name="nav.label.section-01"/>
          <p:cNvSpPr/>
          <p:nvPr/>
        </p:nvSpPr>
        <p:spPr>
          <a:xfrm>
            <a:off x="266700" y="457200"/>
            <a:ext cx="2286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rPr>
              <a:t>STRATEGY</a:t>
            </a:r>
            <a:endParaRPr lang="en-US" sz="800" spc="80" kern="0" b="0" i="0" dirty="0">
              <a:solidFill>
                <a:srgbClr val="50658E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8" name="nav.section-02"/>
          <p:cNvSpPr/>
          <p:nvPr/>
        </p:nvSpPr>
        <p:spPr>
          <a:xfrm>
            <a:off x="266700" y="1569720"/>
            <a:ext cx="228600" cy="1036320"/>
          </a:xfrm>
          <a:prstGeom prst="rect">
            <a:avLst/>
          </a:prstGeom>
          <a:solidFill>
            <a:srgbClr val="E8EEF8"/>
          </a:solidFill>
          <a:ln>
            <a:noFill/>
          </a:ln>
        </p:spPr>
      </p:sp>
      <p:sp>
        <p:nvSpPr>
          <p:cNvPr id="9" name="nav.label.section-02"/>
          <p:cNvSpPr/>
          <p:nvPr/>
        </p:nvSpPr>
        <p:spPr>
          <a:xfrm>
            <a:off x="266700" y="1569720"/>
            <a:ext cx="2286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rPr>
              <a:t>CAPABILITIES</a:t>
            </a:r>
            <a:endParaRPr lang="en-US" sz="800" spc="80" kern="0" b="0" i="0" dirty="0">
              <a:solidFill>
                <a:srgbClr val="50658E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10" name="nav.section-03"/>
          <p:cNvSpPr/>
          <p:nvPr/>
        </p:nvSpPr>
        <p:spPr>
          <a:xfrm>
            <a:off x="266700" y="2682240"/>
            <a:ext cx="228600" cy="1036320"/>
          </a:xfrm>
          <a:prstGeom prst="rect">
            <a:avLst/>
          </a:prstGeom>
          <a:solidFill>
            <a:srgbClr val="070154"/>
          </a:solidFill>
          <a:ln>
            <a:noFill/>
          </a:ln>
        </p:spPr>
      </p:sp>
      <p:sp>
        <p:nvSpPr>
          <p:cNvPr id="11" name="nav.label.section-03"/>
          <p:cNvSpPr/>
          <p:nvPr/>
        </p:nvSpPr>
        <p:spPr>
          <a:xfrm>
            <a:off x="266700" y="2682240"/>
            <a:ext cx="2286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rPr>
              <a:t>ROADMAP</a:t>
            </a:r>
            <a:endParaRPr lang="en-US" sz="800" spc="80" kern="0" b="0" i="0" dirty="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12" name="nav.section-04"/>
          <p:cNvSpPr/>
          <p:nvPr/>
        </p:nvSpPr>
        <p:spPr>
          <a:xfrm>
            <a:off x="266700" y="3794760"/>
            <a:ext cx="228600" cy="1036320"/>
          </a:xfrm>
          <a:prstGeom prst="rect">
            <a:avLst/>
          </a:prstGeom>
          <a:solidFill>
            <a:srgbClr val="E8EEF8"/>
          </a:solidFill>
          <a:ln>
            <a:noFill/>
          </a:ln>
        </p:spPr>
      </p:sp>
      <p:sp>
        <p:nvSpPr>
          <p:cNvPr id="13" name="nav.label.section-04"/>
          <p:cNvSpPr/>
          <p:nvPr/>
        </p:nvSpPr>
        <p:spPr>
          <a:xfrm>
            <a:off x="266700" y="3794760"/>
            <a:ext cx="2286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rPr>
              <a:t>DELIVERY</a:t>
            </a:r>
            <a:endParaRPr lang="en-US" sz="800" spc="80" kern="0" b="0" i="0" dirty="0">
              <a:solidFill>
                <a:srgbClr val="50658E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14" name="nav.section-05"/>
          <p:cNvSpPr/>
          <p:nvPr/>
        </p:nvSpPr>
        <p:spPr>
          <a:xfrm>
            <a:off x="266700" y="4907280"/>
            <a:ext cx="228600" cy="1036320"/>
          </a:xfrm>
          <a:prstGeom prst="rect">
            <a:avLst/>
          </a:prstGeom>
          <a:solidFill>
            <a:srgbClr val="E8EEF8"/>
          </a:solidFill>
          <a:ln>
            <a:noFill/>
          </a:ln>
        </p:spPr>
      </p:sp>
      <p:sp>
        <p:nvSpPr>
          <p:cNvPr id="15" name="nav.label.section-05"/>
          <p:cNvSpPr/>
          <p:nvPr/>
        </p:nvSpPr>
        <p:spPr>
          <a:xfrm>
            <a:off x="266700" y="4907280"/>
            <a:ext cx="2286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00" spc="80" kern="0" b="0" i="0" dirty="0">
                <a:solidFill>
                  <a:srgbClr val="50658E"/>
                </a:solidFill>
                <a:latin typeface="IBM Plex Mono SemiBold"/>
                <a:ea typeface="IBM Plex Mono SemiBold"/>
                <a:cs typeface="IBM Plex Mono SemiBold"/>
              </a:rPr>
              <a:t>GOVERNANCE</a:t>
            </a:r>
            <a:endParaRPr lang="en-US" sz="800" spc="80" kern="0" b="0" i="0" dirty="0">
              <a:solidFill>
                <a:srgbClr val="50658E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1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15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18" name="node01"/>
          <p:cNvGrpSpPr/>
          <p:nvPr/>
        </p:nvGrpSpPr>
        <p:grpSpPr>
          <a:xfrm>
            <a:off x="723900" y="2057400"/>
            <a:ext cx="10744200" cy="3657600"/>
            <a:chOff x="723900" y="2057400"/>
            <a:chExt cx="10744200" cy="3657600"/>
          </a:xfrm>
        </p:grpSpPr>
        <p:graphicFrame>
          <p:nvGraphicFramePr>
            <p:cNvPr id="17" name="node01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723900" y="2057400"/>
            <a:ext cx="10744200" cy="3657600"/>
          </p:xfrm>
          <a:graphic>
            <a:graphicData uri="http://schemas.openxmlformats.org/drawingml/2006/table">
              <a:tbl>
                <a:tblPr/>
                <a:tblGrid>
                  <a:gridCol w="1219200"/>
                  <a:gridCol w="2209800"/>
                  <a:gridCol w="2362200"/>
                  <a:gridCol w="2413000"/>
                  <a:gridCol w="25400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WAVE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SCOPE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ENTRY CRITERIA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EXIT CRITERIA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DECISION GATE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8255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20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Wave 1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Foundation</a:t>
                        </a:r>
                        <a:endParaRPr lang="en-US" sz="1200" spc="0" kern="0" b="0" i="0" dirty="0">
                          <a:solidFill>
                            <a:srgbClr val="50658E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Master patient index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Single sign-in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Funding approved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Privacy review signed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Duplicates down 40%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Sign-in live at all sites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Access council confirms the data is trusted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8255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20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Wave 2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Access</a:t>
                        </a:r>
                        <a:endParaRPr lang="en-US" sz="1200" spc="0" kern="0" b="0" i="0" dirty="0">
                          <a:solidFill>
                            <a:srgbClr val="50658E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Self-scheduling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Digital intake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Wave 1 exit met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Two pilot clinics named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60% of visits booked online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Intake done for 50%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Executive team chooses buy or build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8255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20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Wave 3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Revenue</a:t>
                        </a:r>
                        <a:endParaRPr lang="en-US" sz="1200" spc="0" kern="0" b="0" i="0" dirty="0">
                          <a:solidFill>
                            <a:srgbClr val="50658E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Price estimates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Online payment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Payer data loaded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Billing squad staffed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Estimates on 90% of visits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Denials down 15%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CFO signs off on rollout to all sites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8255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20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Wave 4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Clinical</a:t>
                        </a:r>
                        <a:endParaRPr lang="en-US" sz="1200" spc="0" kern="0" b="0" i="0" dirty="0">
                          <a:solidFill>
                            <a:srgbClr val="50658E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Referral tracking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Care plans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Event stream at scale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Clinical lead named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Every referral tracked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Care plans in 3 service lines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Clinical council approves workflow changes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4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DIGITAL FRONT DOOR ROADMAP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Three objectives, six initiatives, one owner each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723900" y="58293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Northfield Health System digital front door program.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16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26" name="node01"/>
          <p:cNvGrpSpPr/>
          <p:nvPr/>
        </p:nvGrpSpPr>
        <p:grpSpPr>
          <a:xfrm>
            <a:off x="723900" y="1600200"/>
            <a:ext cx="10744200" cy="4013200"/>
            <a:chOff x="723900" y="1600200"/>
            <a:chExt cx="10744200" cy="4013200"/>
          </a:xfrm>
        </p:grpSpPr>
        <p:graphicFrame>
          <p:nvGraphicFramePr>
            <p:cNvPr id="7" name="node01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1104900" y="1600200"/>
            <a:ext cx="10363200" cy="4013200"/>
          </p:xfrm>
          <a:graphic>
            <a:graphicData uri="http://schemas.openxmlformats.org/drawingml/2006/table">
              <a:tbl>
                <a:tblPr/>
                <a:tblGrid>
                  <a:gridCol w="1905000"/>
                  <a:gridCol w="3708400"/>
                  <a:gridCol w="2159000"/>
                  <a:gridCol w="838200"/>
                  <a:gridCol w="838200"/>
                  <a:gridCol w="9144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INITIATIVE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WHAT IT DELIVERS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OWNER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START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LIVE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HORIZON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609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Master patient index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One record per patient across six hospitals.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Chief data officer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Q4 26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Q1 27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609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Single sign-in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One patient and staff identity everywhere.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Chief digital officer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Q4 26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Q2 27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609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Online scheduling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Primary care self-booking, then specialty.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Chief patient access officer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Q1 27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Q3 27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609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Digital intake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Forms, insurance and consent before arrival.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Director of registration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Q2 27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Q4 27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609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Price estimates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A reliable price shown before the patient books.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VP revenue cycle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Q3 27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Q1 28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609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Referral tracking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One status view from order to appointment.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Chief nursing informatics officer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Q4 27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Q2 28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8" name="node01.row.item-001.u.priority.fill"/>
            <p:cNvSpPr/>
            <p:nvPr/>
          </p:nvSpPr>
          <p:spPr>
            <a:xfrm>
              <a:off x="10756900" y="2149475"/>
              <a:ext cx="508000" cy="222250"/>
            </a:xfrm>
            <a:prstGeom prst="rect">
              <a:avLst/>
            </a:prstGeom>
            <a:solidFill>
              <a:srgbClr val="070154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9" name="node01.row.item-001.u.priority"/>
            <p:cNvSpPr/>
            <p:nvPr/>
          </p:nvSpPr>
          <p:spPr>
            <a:xfrm>
              <a:off x="10858500" y="2174875"/>
              <a:ext cx="304800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NOW</a:t>
              </a:r>
              <a:endParaRPr lang="en-US" sz="900" spc="54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0" name="node01.row.item-002.u.priority.fill"/>
            <p:cNvSpPr/>
            <p:nvPr/>
          </p:nvSpPr>
          <p:spPr>
            <a:xfrm>
              <a:off x="10756900" y="2759075"/>
              <a:ext cx="508000" cy="222250"/>
            </a:xfrm>
            <a:prstGeom prst="rect">
              <a:avLst/>
            </a:prstGeom>
            <a:solidFill>
              <a:srgbClr val="070154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1" name="node01.row.item-002.u.priority"/>
            <p:cNvSpPr/>
            <p:nvPr/>
          </p:nvSpPr>
          <p:spPr>
            <a:xfrm>
              <a:off x="10858500" y="2784475"/>
              <a:ext cx="304800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NOW</a:t>
              </a:r>
              <a:endParaRPr lang="en-US" sz="900" spc="54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2" name="node01.row.item-003.u.priority.fill"/>
            <p:cNvSpPr/>
            <p:nvPr/>
          </p:nvSpPr>
          <p:spPr>
            <a:xfrm>
              <a:off x="10746358" y="3368675"/>
              <a:ext cx="529084" cy="222250"/>
            </a:xfrm>
            <a:prstGeom prst="rect">
              <a:avLst/>
            </a:prstGeom>
            <a:solidFill>
              <a:srgbClr val="CED7E6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3" name="node01.row.item-003.u.priority"/>
            <p:cNvSpPr/>
            <p:nvPr/>
          </p:nvSpPr>
          <p:spPr>
            <a:xfrm>
              <a:off x="10847958" y="3394075"/>
              <a:ext cx="325884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NEXT</a:t>
              </a:r>
              <a:endParaRPr lang="en-US" sz="900" spc="54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4" name="node01.row.item-004.u.priority.fill"/>
            <p:cNvSpPr/>
            <p:nvPr/>
          </p:nvSpPr>
          <p:spPr>
            <a:xfrm>
              <a:off x="10746358" y="3978275"/>
              <a:ext cx="529084" cy="222250"/>
            </a:xfrm>
            <a:prstGeom prst="rect">
              <a:avLst/>
            </a:prstGeom>
            <a:solidFill>
              <a:srgbClr val="CED7E6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5" name="node01.row.item-004.u.priority"/>
            <p:cNvSpPr/>
            <p:nvPr/>
          </p:nvSpPr>
          <p:spPr>
            <a:xfrm>
              <a:off x="10847958" y="4003675"/>
              <a:ext cx="325884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NEXT</a:t>
              </a:r>
              <a:endParaRPr lang="en-US" sz="900" spc="54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6" name="node01.row.item-005.u.priority.fill"/>
            <p:cNvSpPr/>
            <p:nvPr/>
          </p:nvSpPr>
          <p:spPr>
            <a:xfrm>
              <a:off x="10708798" y="4587875"/>
              <a:ext cx="604205" cy="22225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7" name="node01.row.item-005.u.priority"/>
            <p:cNvSpPr/>
            <p:nvPr/>
          </p:nvSpPr>
          <p:spPr>
            <a:xfrm>
              <a:off x="10810398" y="4613275"/>
              <a:ext cx="401005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LATER</a:t>
              </a:r>
              <a:endParaRPr lang="en-US" sz="900" spc="54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8" name="node01.row.item-006.u.priority.fill"/>
            <p:cNvSpPr/>
            <p:nvPr/>
          </p:nvSpPr>
          <p:spPr>
            <a:xfrm>
              <a:off x="10708798" y="5197475"/>
              <a:ext cx="604205" cy="22225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9" name="node01.row.item-006.u.priority"/>
            <p:cNvSpPr/>
            <p:nvPr/>
          </p:nvSpPr>
          <p:spPr>
            <a:xfrm>
              <a:off x="10810398" y="5222875"/>
              <a:ext cx="401005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LATER</a:t>
              </a:r>
              <a:endParaRPr lang="en-US" sz="900" spc="54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0" name="node01.row-group.source-001.fill"/>
            <p:cNvSpPr/>
            <p:nvPr/>
          </p:nvSpPr>
          <p:spPr>
            <a:xfrm>
              <a:off x="723900" y="1974850"/>
              <a:ext cx="304800" cy="1181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1" name="node01.row-group.source-001.label"/>
            <p:cNvSpPr/>
            <p:nvPr/>
          </p:nvSpPr>
          <p:spPr>
            <a:xfrm rot="-5400000">
              <a:off x="285750" y="2489200"/>
              <a:ext cx="11811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KNOW PATIENT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2" name="node01.row-group.source-002.fill"/>
            <p:cNvSpPr/>
            <p:nvPr/>
          </p:nvSpPr>
          <p:spPr>
            <a:xfrm>
              <a:off x="723900" y="3194050"/>
              <a:ext cx="304800" cy="1181100"/>
            </a:xfrm>
            <a:prstGeom prst="rect">
              <a:avLst/>
            </a:prstGeom>
            <a:solidFill>
              <a:srgbClr val="50658E"/>
            </a:solidFill>
            <a:ln>
              <a:noFill/>
            </a:ln>
          </p:spPr>
        </p:sp>
        <p:sp>
          <p:nvSpPr>
            <p:cNvPr id="23" name="node01.row-group.source-002.label"/>
            <p:cNvSpPr/>
            <p:nvPr/>
          </p:nvSpPr>
          <p:spPr>
            <a:xfrm rot="-5400000">
              <a:off x="285750" y="3708400"/>
              <a:ext cx="11811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OPEN THE DOOR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24" name="node01.row-group.source-003.fill"/>
            <p:cNvSpPr/>
            <p:nvPr/>
          </p:nvSpPr>
          <p:spPr>
            <a:xfrm>
              <a:off x="723900" y="4413250"/>
              <a:ext cx="304800" cy="1181100"/>
            </a:xfrm>
            <a:prstGeom prst="rect">
              <a:avLst/>
            </a:prstGeom>
            <a:solidFill>
              <a:srgbClr val="05013F"/>
            </a:solidFill>
            <a:ln>
              <a:noFill/>
            </a:ln>
          </p:spPr>
        </p:sp>
        <p:sp>
          <p:nvSpPr>
            <p:cNvPr id="25" name="node01.row-group.source-003.label"/>
            <p:cNvSpPr/>
            <p:nvPr/>
          </p:nvSpPr>
          <p:spPr>
            <a:xfrm rot="-5400000">
              <a:off x="285750" y="4927600"/>
              <a:ext cx="11811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PAY AND TRACK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4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8039100" y="457200"/>
            <a:ext cx="3429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DIGITAL FRONT DOOR ROADMAP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8039100" y="685800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spc="-3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Six decisions set the pace of the roadmap</a:t>
            </a:r>
            <a:endParaRPr lang="en-US" sz="2400" spc="-36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8039100" y="5829300"/>
            <a:ext cx="3429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Northfield Health System digital front door program.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17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30" name="node01"/>
          <p:cNvGrpSpPr/>
          <p:nvPr/>
        </p:nvGrpSpPr>
        <p:grpSpPr>
          <a:xfrm>
            <a:off x="723900" y="457200"/>
            <a:ext cx="7086600" cy="5232400"/>
            <a:chOff x="723900" y="457200"/>
            <a:chExt cx="7086600" cy="5232400"/>
          </a:xfrm>
        </p:grpSpPr>
        <p:graphicFrame>
          <p:nvGraphicFramePr>
            <p:cNvPr id="7" name="node01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723900" y="457200"/>
            <a:ext cx="7086600" cy="5232400"/>
          </p:xfrm>
          <a:graphic>
            <a:graphicData uri="http://schemas.openxmlformats.org/drawingml/2006/table">
              <a:tbl>
                <a:tblPr/>
                <a:tblGrid>
                  <a:gridCol w="2133600"/>
                  <a:gridCol w="914400"/>
                  <a:gridCol w="1905000"/>
                  <a:gridCol w="21336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DECISION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BY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OWNER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WHAT IT UNLOCKS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812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Fund the data foundation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Executive team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Wave 1 starts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812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Approve patient ID policy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Privacy officer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Single sign-in at every site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812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Choose buy, build or partner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Chief digital officer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Vendor selection and contracts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812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Set price estimate rules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VP revenue cycle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Estimates shown before booking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812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Agree clinical workflow changes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Clinical council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Referral tracking and care plans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8128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Decide on enterprise scale-out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ctr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Executive team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Funding for 2028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8" name="node01.row.item-001.w.priority.fill"/>
            <p:cNvSpPr/>
            <p:nvPr/>
          </p:nvSpPr>
          <p:spPr>
            <a:xfrm>
              <a:off x="3060700" y="1108075"/>
              <a:ext cx="508000" cy="222250"/>
            </a:xfrm>
            <a:prstGeom prst="rect">
              <a:avLst/>
            </a:prstGeom>
            <a:solidFill>
              <a:srgbClr val="070154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9" name="node01.row.item-001.w.priority"/>
            <p:cNvSpPr/>
            <p:nvPr/>
          </p:nvSpPr>
          <p:spPr>
            <a:xfrm>
              <a:off x="3162300" y="1133475"/>
              <a:ext cx="304800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NOW</a:t>
              </a:r>
              <a:endParaRPr lang="en-US" sz="900" spc="54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0" name="node01.row.item-002.w.priority.fill"/>
            <p:cNvSpPr/>
            <p:nvPr/>
          </p:nvSpPr>
          <p:spPr>
            <a:xfrm>
              <a:off x="3060700" y="1920875"/>
              <a:ext cx="508000" cy="222250"/>
            </a:xfrm>
            <a:prstGeom prst="rect">
              <a:avLst/>
            </a:prstGeom>
            <a:solidFill>
              <a:srgbClr val="070154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1" name="node01.row.item-002.w.priority"/>
            <p:cNvSpPr/>
            <p:nvPr/>
          </p:nvSpPr>
          <p:spPr>
            <a:xfrm>
              <a:off x="3162300" y="1946275"/>
              <a:ext cx="304800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NOW</a:t>
              </a:r>
              <a:endParaRPr lang="en-US" sz="900" spc="54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2" name="node01.row.item-003.w.priority.fill"/>
            <p:cNvSpPr/>
            <p:nvPr/>
          </p:nvSpPr>
          <p:spPr>
            <a:xfrm>
              <a:off x="3050158" y="2733675"/>
              <a:ext cx="529084" cy="222250"/>
            </a:xfrm>
            <a:prstGeom prst="rect">
              <a:avLst/>
            </a:prstGeom>
            <a:solidFill>
              <a:srgbClr val="CED7E6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3" name="node01.row.item-003.w.priority"/>
            <p:cNvSpPr/>
            <p:nvPr/>
          </p:nvSpPr>
          <p:spPr>
            <a:xfrm>
              <a:off x="3151758" y="2759075"/>
              <a:ext cx="325884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NEXT</a:t>
              </a:r>
              <a:endParaRPr lang="en-US" sz="900" spc="54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4" name="node01.row.item-004.w.priority.fill"/>
            <p:cNvSpPr/>
            <p:nvPr/>
          </p:nvSpPr>
          <p:spPr>
            <a:xfrm>
              <a:off x="3050158" y="3546475"/>
              <a:ext cx="529084" cy="222250"/>
            </a:xfrm>
            <a:prstGeom prst="rect">
              <a:avLst/>
            </a:prstGeom>
            <a:solidFill>
              <a:srgbClr val="CED7E6"/>
            </a:solidFill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5" name="node01.row.item-004.w.priority"/>
            <p:cNvSpPr/>
            <p:nvPr/>
          </p:nvSpPr>
          <p:spPr>
            <a:xfrm>
              <a:off x="3151758" y="3571875"/>
              <a:ext cx="325884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NEXT</a:t>
              </a:r>
              <a:endParaRPr lang="en-US" sz="900" spc="54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6" name="node01.row.item-005.w.priority.fill"/>
            <p:cNvSpPr/>
            <p:nvPr/>
          </p:nvSpPr>
          <p:spPr>
            <a:xfrm>
              <a:off x="3012598" y="4359275"/>
              <a:ext cx="604205" cy="22225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7" name="node01.row.item-005.w.priority"/>
            <p:cNvSpPr/>
            <p:nvPr/>
          </p:nvSpPr>
          <p:spPr>
            <a:xfrm>
              <a:off x="3114198" y="4384675"/>
              <a:ext cx="401005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LATER</a:t>
              </a:r>
              <a:endParaRPr lang="en-US" sz="900" spc="54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8" name="node01.row.item-006.w.priority.fill"/>
            <p:cNvSpPr/>
            <p:nvPr/>
          </p:nvSpPr>
          <p:spPr>
            <a:xfrm>
              <a:off x="3012598" y="5172075"/>
              <a:ext cx="604205" cy="222250"/>
            </a:xfrm>
            <a:prstGeom prst="rect">
              <a:avLst/>
            </a:prstGeom>
            <a:ln w="9525">
              <a:solidFill>
                <a:srgbClr val="070154"/>
              </a:solidFill>
              <a:prstDash val="solid"/>
            </a:ln>
          </p:spPr>
        </p:sp>
        <p:sp>
          <p:nvSpPr>
            <p:cNvPr id="19" name="node01.row.item-006.w.priority"/>
            <p:cNvSpPr/>
            <p:nvPr/>
          </p:nvSpPr>
          <p:spPr>
            <a:xfrm>
              <a:off x="3114198" y="5197475"/>
              <a:ext cx="401005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070154"/>
                  </a:solidFill>
                  <a:latin typeface="IBM Plex Mono SemiBold"/>
                  <a:ea typeface="IBM Plex Mono SemiBold"/>
                  <a:cs typeface="IBM Plex Mono SemiBold"/>
                </a:rPr>
                <a:t>LATER</a:t>
              </a:r>
              <a:endParaRPr lang="en-US" sz="900" spc="54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  <p:grpSp>
        <p:nvGrpSpPr>
          <p:cNvPr id="31" name="node02"/>
          <p:cNvGrpSpPr/>
          <p:nvPr/>
        </p:nvGrpSpPr>
        <p:grpSpPr>
          <a:xfrm>
            <a:off x="8039100" y="2514600"/>
            <a:ext cx="3429000" cy="800100"/>
            <a:chOff x="8039100" y="2514600"/>
            <a:chExt cx="3429000" cy="800100"/>
          </a:xfrm>
        </p:grpSpPr>
        <p:sp>
          <p:nvSpPr>
            <p:cNvPr id="20" name="node02.text"/>
            <p:cNvSpPr/>
            <p:nvPr/>
          </p:nvSpPr>
          <p:spPr>
            <a:xfrm>
              <a:off x="8039100" y="2514600"/>
              <a:ext cx="3429000" cy="8001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A roadmap is a series of choices, each made by a named owner before work can start.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32" name="node03"/>
          <p:cNvGrpSpPr/>
          <p:nvPr/>
        </p:nvGrpSpPr>
        <p:grpSpPr>
          <a:xfrm>
            <a:off x="8039100" y="3657600"/>
            <a:ext cx="3429000" cy="228600"/>
            <a:chOff x="8039100" y="3657600"/>
            <a:chExt cx="3429000" cy="228600"/>
          </a:xfrm>
        </p:grpSpPr>
        <p:sp>
          <p:nvSpPr>
            <p:cNvPr id="21" name="node03.label"/>
            <p:cNvSpPr/>
            <p:nvPr/>
          </p:nvSpPr>
          <p:spPr>
            <a:xfrm>
              <a:off x="8039100" y="3657600"/>
              <a:ext cx="167806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50658E"/>
                  </a:solidFill>
                  <a:latin typeface="IBM Plex Mono Medium"/>
                  <a:ea typeface="IBM Plex Mono Medium"/>
                  <a:cs typeface="IBM Plex Mono Medium"/>
                </a:rPr>
                <a:t>HOW DECISIONS ARE MADE</a:t>
              </a:r>
              <a:endParaRPr lang="en-US" sz="900" spc="54" kern="0" b="0" i="0" dirty="0">
                <a:solidFill>
                  <a:srgbClr val="50658E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  <p:sp>
          <p:nvSpPr>
            <p:cNvPr id="22" name="node03.rule"/>
            <p:cNvSpPr/>
            <p:nvPr/>
          </p:nvSpPr>
          <p:spPr>
            <a:xfrm>
              <a:off x="9844162" y="3767138"/>
              <a:ext cx="1623938" cy="9525"/>
            </a:xfrm>
            <a:prstGeom prst="rect">
              <a:avLst/>
            </a:prstGeom>
            <a:solidFill>
              <a:srgbClr val="CED7E6"/>
            </a:solidFill>
            <a:ln>
              <a:noFill/>
            </a:ln>
          </p:spPr>
        </p:sp>
      </p:grpSp>
      <p:sp>
        <p:nvSpPr>
          <p:cNvPr id="23" name="node04"/>
          <p:cNvSpPr/>
          <p:nvPr/>
        </p:nvSpPr>
        <p:spPr>
          <a:xfrm>
            <a:off x="8039100" y="3886200"/>
            <a:ext cx="34290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grpSp>
        <p:nvGrpSpPr>
          <p:cNvPr id="33" name="node05"/>
          <p:cNvGrpSpPr/>
          <p:nvPr/>
        </p:nvGrpSpPr>
        <p:grpSpPr>
          <a:xfrm>
            <a:off x="8039100" y="3962400"/>
            <a:ext cx="3429000" cy="1219200"/>
            <a:chOff x="8039100" y="3962400"/>
            <a:chExt cx="3429000" cy="1219200"/>
          </a:xfrm>
        </p:grpSpPr>
        <p:sp>
          <p:nvSpPr>
            <p:cNvPr id="24" name="node05.source-001.bullet"/>
            <p:cNvSpPr/>
            <p:nvPr/>
          </p:nvSpPr>
          <p:spPr>
            <a:xfrm>
              <a:off x="8039100" y="40513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5" name="node05.source-001.text"/>
            <p:cNvSpPr/>
            <p:nvPr/>
          </p:nvSpPr>
          <p:spPr>
            <a:xfrm>
              <a:off x="8191500" y="3962400"/>
              <a:ext cx="32766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Forum.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Access council, monthly.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6" name="node05.source-002.bullet"/>
            <p:cNvSpPr/>
            <p:nvPr/>
          </p:nvSpPr>
          <p:spPr>
            <a:xfrm>
              <a:off x="8039100" y="43180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7" name="node05.source-002.text"/>
            <p:cNvSpPr/>
            <p:nvPr/>
          </p:nvSpPr>
          <p:spPr>
            <a:xfrm>
              <a:off x="8191500" y="4229100"/>
              <a:ext cx="32766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Rule.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No wave starts without its decision logged.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28" name="node05.source-003.bullet"/>
            <p:cNvSpPr/>
            <p:nvPr/>
          </p:nvSpPr>
          <p:spPr>
            <a:xfrm>
              <a:off x="8039100" y="48133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29" name="node05.source-003.text"/>
            <p:cNvSpPr/>
            <p:nvPr/>
          </p:nvSpPr>
          <p:spPr>
            <a:xfrm>
              <a:off x="8191500" y="4724400"/>
              <a:ext cx="32766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Escalation.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Late decisions move to the executive team within two weeks.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ource-4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4381500" y="457200"/>
            <a:ext cx="7086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DIGITAL FRONT DOOR ROADMAP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4381500" y="685800"/>
            <a:ext cx="7086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Each horizon is judged by its measures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source"/>
          <p:cNvSpPr/>
          <p:nvPr/>
        </p:nvSpPr>
        <p:spPr>
          <a:xfrm>
            <a:off x="4381500" y="5829300"/>
            <a:ext cx="7086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rPr>
              <a:t>Source: Sample figures for layout only; replace with current firm data before use.</a:t>
            </a:r>
            <a:endParaRPr lang="en-US" sz="900" spc="0" kern="0" b="0" i="0" dirty="0">
              <a:solidFill>
                <a:srgbClr val="50658E"/>
              </a:solidFill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6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18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17" name="node01"/>
          <p:cNvGrpSpPr/>
          <p:nvPr/>
        </p:nvGrpSpPr>
        <p:grpSpPr>
          <a:xfrm>
            <a:off x="723900" y="2057400"/>
            <a:ext cx="2514600" cy="152400"/>
            <a:chOff x="723900" y="2057400"/>
            <a:chExt cx="2514600" cy="152400"/>
          </a:xfrm>
        </p:grpSpPr>
        <p:sp>
          <p:nvSpPr>
            <p:cNvPr id="7" name="node01.text"/>
            <p:cNvSpPr/>
            <p:nvPr/>
          </p:nvSpPr>
          <p:spPr>
            <a:xfrm>
              <a:off x="723900" y="2057400"/>
              <a:ext cx="25146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200"/>
                </a:lnSpc>
                <a:buNone/>
              </a:pPr>
              <a:r>
                <a:rPr lang="en-US" sz="900" spc="54" kern="0" b="0" i="0" dirty="0">
                  <a:solidFill>
                    <a:srgbClr val="CED7E6"/>
                  </a:solidFill>
                  <a:latin typeface="IBM Plex Mono Medium"/>
                  <a:ea typeface="IBM Plex Mono Medium"/>
                  <a:cs typeface="IBM Plex Mono Medium"/>
                </a:rPr>
                <a:t>NORTH STAR</a:t>
              </a:r>
              <a:endParaRPr lang="en-US" sz="900" spc="54" kern="0" b="0" i="0" dirty="0">
                <a:solidFill>
                  <a:srgbClr val="CED7E6"/>
                </a:solidFill>
                <a:latin typeface="IBM Plex Mono Medium"/>
                <a:ea typeface="IBM Plex Mono Medium"/>
                <a:cs typeface="IBM Plex Mono Medium"/>
              </a:endParaRPr>
            </a:p>
          </p:txBody>
        </p:sp>
      </p:grpSp>
      <p:grpSp>
        <p:nvGrpSpPr>
          <p:cNvPr id="18" name="node02"/>
          <p:cNvGrpSpPr/>
          <p:nvPr/>
        </p:nvGrpSpPr>
        <p:grpSpPr>
          <a:xfrm>
            <a:off x="723900" y="2286000"/>
            <a:ext cx="2514600" cy="1524000"/>
            <a:chOff x="723900" y="2286000"/>
            <a:chExt cx="2514600" cy="1524000"/>
          </a:xfrm>
        </p:grpSpPr>
        <p:sp>
          <p:nvSpPr>
            <p:cNvPr id="8" name="node02.text"/>
            <p:cNvSpPr/>
            <p:nvPr/>
          </p:nvSpPr>
          <p:spPr>
            <a:xfrm>
              <a:off x="723900" y="2286000"/>
              <a:ext cx="2514600" cy="1524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3000"/>
                </a:lnSpc>
                <a:buNone/>
              </a:pPr>
              <a:r>
                <a:rPr lang="en-US" sz="2400" spc="-36" kern="0" b="0" i="0" dirty="0">
                  <a:solidFill>
                    <a:srgbClr val="FFFFFF"/>
                  </a:solidFill>
                  <a:latin typeface="IBM Plex Sans SemiBold"/>
                  <a:ea typeface="IBM Plex Sans SemiBold"/>
                  <a:cs typeface="IBM Plex Sans SemiBold"/>
                </a:rPr>
                <a:t>Eight in ten patients complete access online by 2028.</a:t>
              </a:r>
              <a:endParaRPr lang="en-US" sz="2400" spc="-36" kern="0" b="0" i="0" dirty="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</p:grpSp>
      <p:grpSp>
        <p:nvGrpSpPr>
          <p:cNvPr id="19" name="node03"/>
          <p:cNvGrpSpPr/>
          <p:nvPr/>
        </p:nvGrpSpPr>
        <p:grpSpPr>
          <a:xfrm>
            <a:off x="723900" y="4114800"/>
            <a:ext cx="2514600" cy="457200"/>
            <a:chOff x="723900" y="4114800"/>
            <a:chExt cx="2514600" cy="457200"/>
          </a:xfrm>
        </p:grpSpPr>
        <p:sp>
          <p:nvSpPr>
            <p:cNvPr id="9" name="node03.text"/>
            <p:cNvSpPr/>
            <p:nvPr/>
          </p:nvSpPr>
          <p:spPr>
            <a:xfrm>
              <a:off x="723900" y="4114800"/>
              <a:ext cx="25146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CED7E6"/>
                  </a:solidFill>
                  <a:latin typeface="IBM Plex Sans"/>
                  <a:ea typeface="IBM Plex Sans"/>
                  <a:cs typeface="IBM Plex Sans"/>
                </a:rPr>
                <a:t>Baselines are 2026 averages across six hospitals.</a:t>
              </a:r>
              <a:endParaRPr lang="en-US" sz="1200" spc="0" kern="0" b="0" i="0" dirty="0">
                <a:solidFill>
                  <a:srgbClr val="CED7E6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20" name="node04"/>
          <p:cNvGrpSpPr/>
          <p:nvPr/>
        </p:nvGrpSpPr>
        <p:grpSpPr>
          <a:xfrm>
            <a:off x="4381500" y="1600200"/>
            <a:ext cx="7086600" cy="4013200"/>
            <a:chOff x="4381500" y="1600200"/>
            <a:chExt cx="7086600" cy="4013200"/>
          </a:xfrm>
        </p:grpSpPr>
        <p:graphicFrame>
          <p:nvGraphicFramePr>
            <p:cNvPr id="10" name="node04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4762500" y="1600200"/>
            <a:ext cx="6705600" cy="4013200"/>
          </p:xfrm>
          <a:graphic>
            <a:graphicData uri="http://schemas.openxmlformats.org/drawingml/2006/table">
              <a:tbl>
                <a:tblPr/>
                <a:tblGrid>
                  <a:gridCol w="1905000"/>
                  <a:gridCol w="889000"/>
                  <a:gridCol w="889000"/>
                  <a:gridCol w="30226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KPI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BASELINE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76200" marR="762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TARGET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MOVED BY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609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Duplicate patient records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11%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6%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Master patient index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609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Sites on one sign-in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0 of 6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6 of 6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Single sign-in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609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Visits booked online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8%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60%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Self-scheduling; digital intake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609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Calls to the access center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100%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75%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Reminders; price estimates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609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No-show rate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11%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6%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Smart reminders; care plans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609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Front-end denials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9%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5%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Digital intake; eligibility checks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  <p:sp>
          <p:nvSpPr>
            <p:cNvPr id="11" name="node04.row-group.source-001.fill"/>
            <p:cNvSpPr/>
            <p:nvPr/>
          </p:nvSpPr>
          <p:spPr>
            <a:xfrm>
              <a:off x="4381500" y="1974850"/>
              <a:ext cx="304800" cy="1181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2" name="node04.row-group.source-001.label"/>
            <p:cNvSpPr/>
            <p:nvPr/>
          </p:nvSpPr>
          <p:spPr>
            <a:xfrm rot="-5400000">
              <a:off x="3943350" y="2489200"/>
              <a:ext cx="11811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NOW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3" name="node04.row-group.source-002.fill"/>
            <p:cNvSpPr/>
            <p:nvPr/>
          </p:nvSpPr>
          <p:spPr>
            <a:xfrm>
              <a:off x="4381500" y="3194050"/>
              <a:ext cx="304800" cy="1181100"/>
            </a:xfrm>
            <a:prstGeom prst="rect">
              <a:avLst/>
            </a:prstGeom>
            <a:solidFill>
              <a:srgbClr val="50658E"/>
            </a:solidFill>
            <a:ln>
              <a:noFill/>
            </a:ln>
          </p:spPr>
        </p:sp>
        <p:sp>
          <p:nvSpPr>
            <p:cNvPr id="14" name="node04.row-group.source-002.label"/>
            <p:cNvSpPr/>
            <p:nvPr/>
          </p:nvSpPr>
          <p:spPr>
            <a:xfrm rot="-5400000">
              <a:off x="3943350" y="3708400"/>
              <a:ext cx="11811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NEXT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  <p:sp>
          <p:nvSpPr>
            <p:cNvPr id="15" name="node04.row-group.source-003.fill"/>
            <p:cNvSpPr/>
            <p:nvPr/>
          </p:nvSpPr>
          <p:spPr>
            <a:xfrm>
              <a:off x="4381500" y="4413250"/>
              <a:ext cx="304800" cy="1181100"/>
            </a:xfrm>
            <a:prstGeom prst="rect">
              <a:avLst/>
            </a:prstGeom>
            <a:solidFill>
              <a:srgbClr val="05013F"/>
            </a:solidFill>
            <a:ln>
              <a:noFill/>
            </a:ln>
          </p:spPr>
        </p:sp>
        <p:sp>
          <p:nvSpPr>
            <p:cNvPr id="16" name="node04.row-group.source-003.label"/>
            <p:cNvSpPr/>
            <p:nvPr/>
          </p:nvSpPr>
          <p:spPr>
            <a:xfrm rot="-5400000">
              <a:off x="3943350" y="4927600"/>
              <a:ext cx="1181100" cy="152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 indent="0" marL="0">
                <a:lnSpc>
                  <a:spcPts val="1200"/>
                </a:lnSpc>
                <a:buNone/>
              </a:pPr>
              <a:r>
                <a:rPr lang="en-US" sz="800" spc="80" kern="0" b="0" i="0" dirty="0">
                  <a:solidFill>
                    <a:srgbClr val="FFFFFF"/>
                  </a:solidFill>
                  <a:latin typeface="IBM Plex Mono SemiBold"/>
                  <a:ea typeface="IBM Plex Mono SemiBold"/>
                  <a:cs typeface="IBM Plex Mono SemiBold"/>
                </a:rPr>
                <a:t>LATER</a:t>
              </a:r>
              <a:endParaRPr lang="en-US" sz="800" spc="80" kern="0" b="0" i="0" dirty="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BM Plex Sans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WMDS foundation reference</dc:title>
  <dc:subject>PptxGenJS Presentation</dc:subject>
  <dc:creator>West Monroe</dc:creator>
  <cp:lastModifiedBy>West Monroe</cp:lastModifiedBy>
  <cp:revision>1</cp:revision>
  <dcterms:created xsi:type="dcterms:W3CDTF">2026-10-06T13:17:01Z</dcterms:created>
  <dcterms:modified xsi:type="dcterms:W3CDTF">2026-10-06T13:17:01Z</dcterms:modified>
</cp:coreProperties>
</file>