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foundation reference; synthetic labels. Source files and exact font identities are in layout-report.json. This Go layout profile requires PowerPoint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foundation reference; synthetic labels. Source files and exact font identities are in layout-report.json. This Go layout profile requires PowerPoint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foundation reference; synthetic labels. Source files and exact font identities are in layout-report.json. This Go layout profile requires PowerPoint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65fa27430157ff1bff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53c346042c23db17db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CAPABILITY GAPS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One row carries the largest gap to target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assessment, Sep 2026.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4" name="node01"/>
          <p:cNvGrpSpPr/>
          <p:nvPr/>
        </p:nvGrpSpPr>
        <p:grpSpPr>
          <a:xfrm>
            <a:off x="723900" y="1600200"/>
            <a:ext cx="5715000" cy="3657600"/>
            <a:chOff x="723900" y="1600200"/>
            <a:chExt cx="5715000" cy="3657600"/>
          </a:xfrm>
        </p:grpSpPr>
        <p:sp>
          <p:nvSpPr>
            <p:cNvPr id="7" name="node01.row.item-001.c1.heat-gap"/>
            <p:cNvSpPr/>
            <p:nvPr/>
          </p:nvSpPr>
          <p:spPr>
            <a:xfrm>
              <a:off x="2781300" y="20574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c1.heat"/>
            <p:cNvSpPr/>
            <p:nvPr/>
          </p:nvSpPr>
          <p:spPr>
            <a:xfrm>
              <a:off x="2800350" y="2076450"/>
              <a:ext cx="876300" cy="4191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9" name="node01.row.item-001.c2.heat-gap"/>
            <p:cNvSpPr/>
            <p:nvPr/>
          </p:nvSpPr>
          <p:spPr>
            <a:xfrm>
              <a:off x="3695700" y="20574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c2.heat"/>
            <p:cNvSpPr/>
            <p:nvPr/>
          </p:nvSpPr>
          <p:spPr>
            <a:xfrm>
              <a:off x="3714750" y="2076450"/>
              <a:ext cx="876300" cy="4191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11" name="node01.row.item-001.c3.heat-gap"/>
            <p:cNvSpPr/>
            <p:nvPr/>
          </p:nvSpPr>
          <p:spPr>
            <a:xfrm>
              <a:off x="4610100" y="20574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c3.heat"/>
            <p:cNvSpPr/>
            <p:nvPr/>
          </p:nvSpPr>
          <p:spPr>
            <a:xfrm>
              <a:off x="4629150" y="2076450"/>
              <a:ext cx="876300" cy="4191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13" name="node01.row.item-001.c4.heat-gap"/>
            <p:cNvSpPr/>
            <p:nvPr/>
          </p:nvSpPr>
          <p:spPr>
            <a:xfrm>
              <a:off x="5524500" y="20574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c4.heat"/>
            <p:cNvSpPr/>
            <p:nvPr/>
          </p:nvSpPr>
          <p:spPr>
            <a:xfrm>
              <a:off x="5543550" y="2076450"/>
              <a:ext cx="876300" cy="4191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sp>
          <p:nvSpPr>
            <p:cNvPr id="15" name="node01.row.item-002.c1.heat-gap"/>
            <p:cNvSpPr/>
            <p:nvPr/>
          </p:nvSpPr>
          <p:spPr>
            <a:xfrm>
              <a:off x="2781300" y="25146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2.c1.heat"/>
            <p:cNvSpPr/>
            <p:nvPr/>
          </p:nvSpPr>
          <p:spPr>
            <a:xfrm>
              <a:off x="2800350" y="2533650"/>
              <a:ext cx="876300" cy="4191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17" name="node01.row.item-002.c2.heat-gap"/>
            <p:cNvSpPr/>
            <p:nvPr/>
          </p:nvSpPr>
          <p:spPr>
            <a:xfrm>
              <a:off x="3695700" y="25146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c2.heat"/>
            <p:cNvSpPr/>
            <p:nvPr/>
          </p:nvSpPr>
          <p:spPr>
            <a:xfrm>
              <a:off x="3714750" y="2533650"/>
              <a:ext cx="876300" cy="4191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19" name="node01.row.item-002.c3.heat-gap"/>
            <p:cNvSpPr/>
            <p:nvPr/>
          </p:nvSpPr>
          <p:spPr>
            <a:xfrm>
              <a:off x="4610100" y="25146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c3.heat"/>
            <p:cNvSpPr/>
            <p:nvPr/>
          </p:nvSpPr>
          <p:spPr>
            <a:xfrm>
              <a:off x="4629150" y="2533650"/>
              <a:ext cx="876300" cy="4191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sp>
          <p:nvSpPr>
            <p:cNvPr id="21" name="node01.row.item-002.c4.heat-gap"/>
            <p:cNvSpPr/>
            <p:nvPr/>
          </p:nvSpPr>
          <p:spPr>
            <a:xfrm>
              <a:off x="5524500" y="25146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c4.heat"/>
            <p:cNvSpPr/>
            <p:nvPr/>
          </p:nvSpPr>
          <p:spPr>
            <a:xfrm>
              <a:off x="5543550" y="2533650"/>
              <a:ext cx="876300" cy="4191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sp>
          <p:nvSpPr>
            <p:cNvPr id="23" name="node01.row.item-003.c1.heat-gap"/>
            <p:cNvSpPr/>
            <p:nvPr/>
          </p:nvSpPr>
          <p:spPr>
            <a:xfrm>
              <a:off x="2781300" y="29718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3.c1.heat"/>
            <p:cNvSpPr/>
            <p:nvPr/>
          </p:nvSpPr>
          <p:spPr>
            <a:xfrm>
              <a:off x="2800350" y="2990850"/>
              <a:ext cx="876300" cy="4191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5" name="node01.row.item-003.c2.heat-gap"/>
            <p:cNvSpPr/>
            <p:nvPr/>
          </p:nvSpPr>
          <p:spPr>
            <a:xfrm>
              <a:off x="3695700" y="29718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3.c2.heat"/>
            <p:cNvSpPr/>
            <p:nvPr/>
          </p:nvSpPr>
          <p:spPr>
            <a:xfrm>
              <a:off x="3714750" y="2990850"/>
              <a:ext cx="876300" cy="4191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7" name="node01.row.item-003.c3.heat-gap"/>
            <p:cNvSpPr/>
            <p:nvPr/>
          </p:nvSpPr>
          <p:spPr>
            <a:xfrm>
              <a:off x="4610100" y="29718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c3.heat"/>
            <p:cNvSpPr/>
            <p:nvPr/>
          </p:nvSpPr>
          <p:spPr>
            <a:xfrm>
              <a:off x="4629150" y="2990850"/>
              <a:ext cx="876300" cy="4191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29" name="node01.row.item-003.c4.heat-gap"/>
            <p:cNvSpPr/>
            <p:nvPr/>
          </p:nvSpPr>
          <p:spPr>
            <a:xfrm>
              <a:off x="5524500" y="29718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c4.heat"/>
            <p:cNvSpPr/>
            <p:nvPr/>
          </p:nvSpPr>
          <p:spPr>
            <a:xfrm>
              <a:off x="5543550" y="2990850"/>
              <a:ext cx="876300" cy="4191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sp>
          <p:nvSpPr>
            <p:cNvPr id="31" name="node01.row.item-004.c1.heat-gap"/>
            <p:cNvSpPr/>
            <p:nvPr/>
          </p:nvSpPr>
          <p:spPr>
            <a:xfrm>
              <a:off x="2781300" y="34290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4.c1.heat"/>
            <p:cNvSpPr/>
            <p:nvPr/>
          </p:nvSpPr>
          <p:spPr>
            <a:xfrm>
              <a:off x="2800350" y="3448050"/>
              <a:ext cx="876300" cy="4191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3" name="node01.row.item-004.c2.heat-gap"/>
            <p:cNvSpPr/>
            <p:nvPr/>
          </p:nvSpPr>
          <p:spPr>
            <a:xfrm>
              <a:off x="3695700" y="34290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4.c2.heat"/>
            <p:cNvSpPr/>
            <p:nvPr/>
          </p:nvSpPr>
          <p:spPr>
            <a:xfrm>
              <a:off x="3714750" y="3448050"/>
              <a:ext cx="876300" cy="4191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35" name="node01.row.item-004.c3.heat-gap"/>
            <p:cNvSpPr/>
            <p:nvPr/>
          </p:nvSpPr>
          <p:spPr>
            <a:xfrm>
              <a:off x="4610100" y="34290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4.c3.heat"/>
            <p:cNvSpPr/>
            <p:nvPr/>
          </p:nvSpPr>
          <p:spPr>
            <a:xfrm>
              <a:off x="4629150" y="3448050"/>
              <a:ext cx="876300" cy="4191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37" name="node01.row.item-004.c4.heat-gap"/>
            <p:cNvSpPr/>
            <p:nvPr/>
          </p:nvSpPr>
          <p:spPr>
            <a:xfrm>
              <a:off x="5524500" y="34290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c4.heat"/>
            <p:cNvSpPr/>
            <p:nvPr/>
          </p:nvSpPr>
          <p:spPr>
            <a:xfrm>
              <a:off x="5543550" y="3448050"/>
              <a:ext cx="876300" cy="4191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39" name="node01.row.item-005.c1.heat-gap"/>
            <p:cNvSpPr/>
            <p:nvPr/>
          </p:nvSpPr>
          <p:spPr>
            <a:xfrm>
              <a:off x="2781300" y="38862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5.c1.heat"/>
            <p:cNvSpPr/>
            <p:nvPr/>
          </p:nvSpPr>
          <p:spPr>
            <a:xfrm>
              <a:off x="2800350" y="3905250"/>
              <a:ext cx="876300" cy="4191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41" name="node01.row.item-005.c2.heat-gap"/>
            <p:cNvSpPr/>
            <p:nvPr/>
          </p:nvSpPr>
          <p:spPr>
            <a:xfrm>
              <a:off x="3695700" y="38862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5.c2.heat"/>
            <p:cNvSpPr/>
            <p:nvPr/>
          </p:nvSpPr>
          <p:spPr>
            <a:xfrm>
              <a:off x="3714750" y="3905250"/>
              <a:ext cx="876300" cy="4191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43" name="node01.row.item-005.c3.heat-gap"/>
            <p:cNvSpPr/>
            <p:nvPr/>
          </p:nvSpPr>
          <p:spPr>
            <a:xfrm>
              <a:off x="4610100" y="38862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5.c3.heat"/>
            <p:cNvSpPr/>
            <p:nvPr/>
          </p:nvSpPr>
          <p:spPr>
            <a:xfrm>
              <a:off x="4629150" y="3905250"/>
              <a:ext cx="876300" cy="4191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sp>
          <p:nvSpPr>
            <p:cNvPr id="45" name="node01.row.item-005.c4.heat-gap"/>
            <p:cNvSpPr/>
            <p:nvPr/>
          </p:nvSpPr>
          <p:spPr>
            <a:xfrm>
              <a:off x="5524500" y="38862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5.c4.heat"/>
            <p:cNvSpPr/>
            <p:nvPr/>
          </p:nvSpPr>
          <p:spPr>
            <a:xfrm>
              <a:off x="5543550" y="3905250"/>
              <a:ext cx="876300" cy="4191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47" name="node01.row.item-006.c1.heat-gap"/>
            <p:cNvSpPr/>
            <p:nvPr/>
          </p:nvSpPr>
          <p:spPr>
            <a:xfrm>
              <a:off x="2781300" y="43434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6.c1.heat"/>
            <p:cNvSpPr/>
            <p:nvPr/>
          </p:nvSpPr>
          <p:spPr>
            <a:xfrm>
              <a:off x="2800350" y="4362450"/>
              <a:ext cx="876300" cy="4191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9" name="node01.row.item-006.c2.heat-gap"/>
            <p:cNvSpPr/>
            <p:nvPr/>
          </p:nvSpPr>
          <p:spPr>
            <a:xfrm>
              <a:off x="3695700" y="43434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6.c2.heat"/>
            <p:cNvSpPr/>
            <p:nvPr/>
          </p:nvSpPr>
          <p:spPr>
            <a:xfrm>
              <a:off x="3714750" y="4362450"/>
              <a:ext cx="876300" cy="4191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51" name="node01.row.item-006.c3.heat-gap"/>
            <p:cNvSpPr/>
            <p:nvPr/>
          </p:nvSpPr>
          <p:spPr>
            <a:xfrm>
              <a:off x="4610100" y="43434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6.c3.heat"/>
            <p:cNvSpPr/>
            <p:nvPr/>
          </p:nvSpPr>
          <p:spPr>
            <a:xfrm>
              <a:off x="4629150" y="4362450"/>
              <a:ext cx="876300" cy="4191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sp>
          <p:nvSpPr>
            <p:cNvPr id="53" name="node01.row.item-006.c4.heat-gap"/>
            <p:cNvSpPr/>
            <p:nvPr/>
          </p:nvSpPr>
          <p:spPr>
            <a:xfrm>
              <a:off x="5524500" y="43434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6.c4.heat"/>
            <p:cNvSpPr/>
            <p:nvPr/>
          </p:nvSpPr>
          <p:spPr>
            <a:xfrm>
              <a:off x="5543550" y="4362450"/>
              <a:ext cx="876300" cy="4191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sp>
          <p:nvSpPr>
            <p:cNvPr id="55" name="node01.row.item-007.c1.heat-gap"/>
            <p:cNvSpPr/>
            <p:nvPr/>
          </p:nvSpPr>
          <p:spPr>
            <a:xfrm>
              <a:off x="2781300" y="48006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7.c1.heat"/>
            <p:cNvSpPr/>
            <p:nvPr/>
          </p:nvSpPr>
          <p:spPr>
            <a:xfrm>
              <a:off x="2800350" y="4819650"/>
              <a:ext cx="876300" cy="4191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57" name="node01.row.item-007.c2.heat-gap"/>
            <p:cNvSpPr/>
            <p:nvPr/>
          </p:nvSpPr>
          <p:spPr>
            <a:xfrm>
              <a:off x="3695700" y="48006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node01.row.item-007.c2.heat"/>
            <p:cNvSpPr/>
            <p:nvPr/>
          </p:nvSpPr>
          <p:spPr>
            <a:xfrm>
              <a:off x="3714750" y="4819650"/>
              <a:ext cx="876300" cy="4191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59" name="node01.row.item-007.c3.heat-gap"/>
            <p:cNvSpPr/>
            <p:nvPr/>
          </p:nvSpPr>
          <p:spPr>
            <a:xfrm>
              <a:off x="4610100" y="48006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node01.row.item-007.c3.heat"/>
            <p:cNvSpPr/>
            <p:nvPr/>
          </p:nvSpPr>
          <p:spPr>
            <a:xfrm>
              <a:off x="4629150" y="4819650"/>
              <a:ext cx="876300" cy="4191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sp>
          <p:nvSpPr>
            <p:cNvPr id="61" name="node01.row.item-007.c4.heat-gap"/>
            <p:cNvSpPr/>
            <p:nvPr/>
          </p:nvSpPr>
          <p:spPr>
            <a:xfrm>
              <a:off x="5524500" y="4800600"/>
              <a:ext cx="914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node01.row.item-007.c4.heat"/>
            <p:cNvSpPr/>
            <p:nvPr/>
          </p:nvSpPr>
          <p:spPr>
            <a:xfrm>
              <a:off x="5543550" y="4819650"/>
              <a:ext cx="876300" cy="4191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graphicFrame>
          <p:nvGraphicFramePr>
            <p:cNvPr id="63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5715000" cy="3657600"/>
          </p:xfrm>
          <a:graphic>
            <a:graphicData uri="http://schemas.openxmlformats.org/drawingml/2006/table">
              <a:tbl>
                <a:tblPr/>
                <a:tblGrid>
                  <a:gridCol w="2057400"/>
                  <a:gridCol w="914400"/>
                  <a:gridCol w="914400"/>
                  <a:gridCol w="914400"/>
                  <a:gridCol w="914400"/>
                </a:tblGrid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CAPABILITY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MAIN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LAKESIDE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RIDGEVIEW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HARBOR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Patient access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Scheduling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Documentation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Care coordination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Supply chain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Data and analytics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7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85" name="node02"/>
          <p:cNvGrpSpPr/>
          <p:nvPr/>
        </p:nvGrpSpPr>
        <p:grpSpPr>
          <a:xfrm>
            <a:off x="723900" y="5486400"/>
            <a:ext cx="4803775" cy="190500"/>
            <a:chOff x="723900" y="5486400"/>
            <a:chExt cx="4803775" cy="190500"/>
          </a:xfrm>
        </p:grpSpPr>
        <p:sp>
          <p:nvSpPr>
            <p:cNvPr id="64" name="node02.items.slot-001.swatch"/>
            <p:cNvSpPr/>
            <p:nvPr/>
          </p:nvSpPr>
          <p:spPr>
            <a:xfrm>
              <a:off x="723900" y="551815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65" name="node02.items.slot-001.text"/>
            <p:cNvSpPr/>
            <p:nvPr/>
          </p:nvSpPr>
          <p:spPr>
            <a:xfrm>
              <a:off x="1016000" y="5486400"/>
              <a:ext cx="4889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No gap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6" name="node02.items.slot-002.swatch"/>
            <p:cNvSpPr/>
            <p:nvPr/>
          </p:nvSpPr>
          <p:spPr>
            <a:xfrm>
              <a:off x="1733550" y="5518150"/>
              <a:ext cx="228600" cy="1270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67" name="node02.items.slot-002.text"/>
            <p:cNvSpPr/>
            <p:nvPr/>
          </p:nvSpPr>
          <p:spPr>
            <a:xfrm>
              <a:off x="2025650" y="5486400"/>
              <a:ext cx="40481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Small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8" name="node02.items.slot-003.swatch"/>
            <p:cNvSpPr/>
            <p:nvPr/>
          </p:nvSpPr>
          <p:spPr>
            <a:xfrm>
              <a:off x="2659063" y="5518150"/>
              <a:ext cx="228600" cy="1270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69" name="node02.items.slot-003.text"/>
            <p:cNvSpPr/>
            <p:nvPr/>
          </p:nvSpPr>
          <p:spPr>
            <a:xfrm>
              <a:off x="2951163" y="5486400"/>
              <a:ext cx="64928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Moderate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0" name="node02.items.slot-004.swatch"/>
            <p:cNvSpPr/>
            <p:nvPr/>
          </p:nvSpPr>
          <p:spPr>
            <a:xfrm>
              <a:off x="3829050" y="5518150"/>
              <a:ext cx="228600" cy="1270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sp>
          <p:nvSpPr>
            <p:cNvPr id="71" name="node02.items.slot-004.text"/>
            <p:cNvSpPr/>
            <p:nvPr/>
          </p:nvSpPr>
          <p:spPr>
            <a:xfrm>
              <a:off x="4121150" y="5486400"/>
              <a:ext cx="39528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Large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2" name="node02.items.slot-005.swatch"/>
            <p:cNvSpPr/>
            <p:nvPr/>
          </p:nvSpPr>
          <p:spPr>
            <a:xfrm>
              <a:off x="4745038" y="5518150"/>
              <a:ext cx="228600" cy="1270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73" name="node02.items.slot-005.text"/>
            <p:cNvSpPr/>
            <p:nvPr/>
          </p:nvSpPr>
          <p:spPr>
            <a:xfrm>
              <a:off x="5037138" y="5486400"/>
              <a:ext cx="49053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Critical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6" name="node03"/>
          <p:cNvGrpSpPr/>
          <p:nvPr/>
        </p:nvGrpSpPr>
        <p:grpSpPr>
          <a:xfrm>
            <a:off x="800100" y="4216400"/>
            <a:ext cx="1600200" cy="144366"/>
            <a:chOff x="800100" y="4216400"/>
            <a:chExt cx="1600200" cy="144366"/>
          </a:xfrm>
        </p:grpSpPr>
        <p:pic>
          <p:nvPicPr>
            <p:cNvPr id="74" name="node03.mark" descr="underscore; canonical SHA256=49d5a97f776a33dcf11e794bad153776f1f33cf3747f42e2c277857faa224278; resolved ink=070154">    </p:cNvPr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00100" y="4216400"/>
              <a:ext cx="1600200" cy="144366"/>
            </a:xfrm>
            <a:prstGeom prst="rect">
              <a:avLst/>
            </a:prstGeom>
          </p:spPr>
        </p:pic>
      </p:grpSp>
      <p:grpSp>
        <p:nvGrpSpPr>
          <p:cNvPr id="87" name="node04"/>
          <p:cNvGrpSpPr/>
          <p:nvPr/>
        </p:nvGrpSpPr>
        <p:grpSpPr>
          <a:xfrm>
            <a:off x="6591300" y="3962400"/>
            <a:ext cx="1219200" cy="230532"/>
            <a:chOff x="6591300" y="3962400"/>
            <a:chExt cx="1219200" cy="230532"/>
          </a:xfrm>
        </p:grpSpPr>
        <p:pic>
          <p:nvPicPr>
            <p:cNvPr id="75" name="node04.mark" descr="arrow-straight; canonical SHA256=115a8f5079b158c346e9f9ca6c6eeecb7567bbab70f4cd058c365f09ed10290e; resolved ink=070154">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91300" y="3962400"/>
              <a:ext cx="1219200" cy="230532"/>
            </a:xfrm>
            <a:prstGeom prst="rect">
              <a:avLst/>
            </a:prstGeom>
          </p:spPr>
        </p:pic>
      </p:grpSp>
      <p:grpSp>
        <p:nvGrpSpPr>
          <p:cNvPr id="88" name="node05"/>
          <p:cNvGrpSpPr/>
          <p:nvPr/>
        </p:nvGrpSpPr>
        <p:grpSpPr>
          <a:xfrm>
            <a:off x="8039100" y="2971800"/>
            <a:ext cx="3429000" cy="2057400"/>
            <a:chOff x="8039100" y="2971800"/>
            <a:chExt cx="3429000" cy="2057400"/>
          </a:xfrm>
        </p:grpSpPr>
        <p:sp>
          <p:nvSpPr>
            <p:cNvPr id="76" name="node05.container"/>
            <p:cNvSpPr/>
            <p:nvPr/>
          </p:nvSpPr>
          <p:spPr>
            <a:xfrm>
              <a:off x="8039100" y="2971800"/>
              <a:ext cx="3429000" cy="20574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77" name="node05.label"/>
            <p:cNvSpPr/>
            <p:nvPr/>
          </p:nvSpPr>
          <p:spPr>
            <a:xfrm>
              <a:off x="8267700" y="32004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BIGGEST GAP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8" name="node05.title"/>
            <p:cNvSpPr/>
            <p:nvPr/>
          </p:nvSpPr>
          <p:spPr>
            <a:xfrm>
              <a:off x="8267700" y="34163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Care coordination at Harbor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9" name="node05.body.item-001.paragraph"/>
            <p:cNvSpPr/>
            <p:nvPr/>
          </p:nvSpPr>
          <p:spPr>
            <a:xfrm>
              <a:off x="8267700" y="3835400"/>
              <a:ext cx="2971800" cy="647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Referral status lives in faxes and phone notes, so no one sees a patient's whole path.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9" name="node06"/>
          <p:cNvGrpSpPr/>
          <p:nvPr/>
        </p:nvGrpSpPr>
        <p:grpSpPr>
          <a:xfrm>
            <a:off x="8039100" y="1600200"/>
            <a:ext cx="3429000" cy="685800"/>
            <a:chOff x="8039100" y="1600200"/>
            <a:chExt cx="3429000" cy="685800"/>
          </a:xfrm>
        </p:grpSpPr>
        <p:sp>
          <p:nvSpPr>
            <p:cNvPr id="80" name="node06.source-001.bullet"/>
            <p:cNvSpPr/>
            <p:nvPr/>
          </p:nvSpPr>
          <p:spPr>
            <a:xfrm>
              <a:off x="8039100" y="1689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1" name="node06.source-001.text"/>
            <p:cNvSpPr/>
            <p:nvPr/>
          </p:nvSpPr>
          <p:spPr>
            <a:xfrm>
              <a:off x="8191500" y="1600200"/>
              <a:ext cx="32766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Nine other cells sit in the large band, all at Ridgeview or Harbor.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2" name="node06.source-002.bullet"/>
            <p:cNvSpPr/>
            <p:nvPr/>
          </p:nvSpPr>
          <p:spPr>
            <a:xfrm>
              <a:off x="8039100" y="2159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3" name="node06.source-002.text"/>
            <p:cNvSpPr/>
            <p:nvPr/>
          </p:nvSpPr>
          <p:spPr>
            <a:xfrm>
              <a:off x="8191500" y="20701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Main campus has no gap above moderate.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RISK REGISTER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One risk is both certain and critical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program risk register, Sep 2026.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0" name="node01"/>
          <p:cNvGrpSpPr/>
          <p:nvPr/>
        </p:nvGrpSpPr>
        <p:grpSpPr>
          <a:xfrm>
            <a:off x="723900" y="1600200"/>
            <a:ext cx="6096000" cy="3708400"/>
            <a:chOff x="723900" y="1600200"/>
            <a:chExt cx="6096000" cy="3708400"/>
          </a:xfrm>
        </p:grpSpPr>
        <p:sp>
          <p:nvSpPr>
            <p:cNvPr id="7" name="node01.row.item-001.c1.heat-gap"/>
            <p:cNvSpPr/>
            <p:nvPr/>
          </p:nvSpPr>
          <p:spPr>
            <a:xfrm>
              <a:off x="2247900" y="22606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node01.row.item-001.c1.heat"/>
            <p:cNvSpPr/>
            <p:nvPr/>
          </p:nvSpPr>
          <p:spPr>
            <a:xfrm>
              <a:off x="2266950" y="2279650"/>
              <a:ext cx="876300" cy="5715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9" name="node01.row.item-001.c2.heat-gap"/>
            <p:cNvSpPr/>
            <p:nvPr/>
          </p:nvSpPr>
          <p:spPr>
            <a:xfrm>
              <a:off x="3162300" y="22606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node01.row.item-001.c2.heat"/>
            <p:cNvSpPr/>
            <p:nvPr/>
          </p:nvSpPr>
          <p:spPr>
            <a:xfrm>
              <a:off x="3181350" y="2279650"/>
              <a:ext cx="876300" cy="5715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11" name="node01.row.item-001.c3.heat-gap"/>
            <p:cNvSpPr/>
            <p:nvPr/>
          </p:nvSpPr>
          <p:spPr>
            <a:xfrm>
              <a:off x="4076700" y="22606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node01.row.item-001.c3.heat"/>
            <p:cNvSpPr/>
            <p:nvPr/>
          </p:nvSpPr>
          <p:spPr>
            <a:xfrm>
              <a:off x="4095750" y="2279650"/>
              <a:ext cx="876300" cy="5715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13" name="node01.row.item-001.c4.heat-gap"/>
            <p:cNvSpPr/>
            <p:nvPr/>
          </p:nvSpPr>
          <p:spPr>
            <a:xfrm>
              <a:off x="4991100" y="22606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node01.row.item-001.c4.heat"/>
            <p:cNvSpPr/>
            <p:nvPr/>
          </p:nvSpPr>
          <p:spPr>
            <a:xfrm>
              <a:off x="5010150" y="2279650"/>
              <a:ext cx="876300" cy="5715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sp>
          <p:nvSpPr>
            <p:cNvPr id="15" name="node01.row.item-001.c5.heat-gap"/>
            <p:cNvSpPr/>
            <p:nvPr/>
          </p:nvSpPr>
          <p:spPr>
            <a:xfrm>
              <a:off x="5905500" y="22606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node01.row.item-001.c5.heat"/>
            <p:cNvSpPr/>
            <p:nvPr/>
          </p:nvSpPr>
          <p:spPr>
            <a:xfrm>
              <a:off x="5924550" y="2279650"/>
              <a:ext cx="876300" cy="5715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17" name="node01.row.item-002.c1.heat-gap"/>
            <p:cNvSpPr/>
            <p:nvPr/>
          </p:nvSpPr>
          <p:spPr>
            <a:xfrm>
              <a:off x="2247900" y="28702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node01.row.item-002.c1.heat"/>
            <p:cNvSpPr/>
            <p:nvPr/>
          </p:nvSpPr>
          <p:spPr>
            <a:xfrm>
              <a:off x="2266950" y="2889250"/>
              <a:ext cx="876300" cy="5715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9" name="node01.row.item-002.c2.heat-gap"/>
            <p:cNvSpPr/>
            <p:nvPr/>
          </p:nvSpPr>
          <p:spPr>
            <a:xfrm>
              <a:off x="3162300" y="28702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node01.row.item-002.c2.heat"/>
            <p:cNvSpPr/>
            <p:nvPr/>
          </p:nvSpPr>
          <p:spPr>
            <a:xfrm>
              <a:off x="3181350" y="2889250"/>
              <a:ext cx="876300" cy="5715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1" name="node01.row.item-002.c3.heat-gap"/>
            <p:cNvSpPr/>
            <p:nvPr/>
          </p:nvSpPr>
          <p:spPr>
            <a:xfrm>
              <a:off x="4076700" y="28702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node01.row.item-002.c3.heat"/>
            <p:cNvSpPr/>
            <p:nvPr/>
          </p:nvSpPr>
          <p:spPr>
            <a:xfrm>
              <a:off x="4095750" y="2889250"/>
              <a:ext cx="876300" cy="5715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23" name="node01.row.item-002.c4.heat-gap"/>
            <p:cNvSpPr/>
            <p:nvPr/>
          </p:nvSpPr>
          <p:spPr>
            <a:xfrm>
              <a:off x="4991100" y="28702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node01.row.item-002.c4.heat"/>
            <p:cNvSpPr/>
            <p:nvPr/>
          </p:nvSpPr>
          <p:spPr>
            <a:xfrm>
              <a:off x="5010150" y="2889250"/>
              <a:ext cx="876300" cy="5715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sp>
          <p:nvSpPr>
            <p:cNvPr id="25" name="node01.row.item-002.c5.heat-gap"/>
            <p:cNvSpPr/>
            <p:nvPr/>
          </p:nvSpPr>
          <p:spPr>
            <a:xfrm>
              <a:off x="5905500" y="28702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node01.row.item-002.c5.heat"/>
            <p:cNvSpPr/>
            <p:nvPr/>
          </p:nvSpPr>
          <p:spPr>
            <a:xfrm>
              <a:off x="5924550" y="2889250"/>
              <a:ext cx="876300" cy="5715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sp>
          <p:nvSpPr>
            <p:cNvPr id="27" name="node01.row.item-003.c1.heat-gap"/>
            <p:cNvSpPr/>
            <p:nvPr/>
          </p:nvSpPr>
          <p:spPr>
            <a:xfrm>
              <a:off x="2247900" y="34798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node01.row.item-003.c1.heat"/>
            <p:cNvSpPr/>
            <p:nvPr/>
          </p:nvSpPr>
          <p:spPr>
            <a:xfrm>
              <a:off x="2266950" y="3498850"/>
              <a:ext cx="8763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9" name="node01.row.item-003.c2.heat-gap"/>
            <p:cNvSpPr/>
            <p:nvPr/>
          </p:nvSpPr>
          <p:spPr>
            <a:xfrm>
              <a:off x="3162300" y="34798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node01.row.item-003.c2.heat"/>
            <p:cNvSpPr/>
            <p:nvPr/>
          </p:nvSpPr>
          <p:spPr>
            <a:xfrm>
              <a:off x="3181350" y="3498850"/>
              <a:ext cx="876300" cy="5715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1" name="node01.row.item-003.c3.heat-gap"/>
            <p:cNvSpPr/>
            <p:nvPr/>
          </p:nvSpPr>
          <p:spPr>
            <a:xfrm>
              <a:off x="4076700" y="34798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node01.row.item-003.c3.heat"/>
            <p:cNvSpPr/>
            <p:nvPr/>
          </p:nvSpPr>
          <p:spPr>
            <a:xfrm>
              <a:off x="4095750" y="3498850"/>
              <a:ext cx="876300" cy="5715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3" name="node01.row.item-003.c4.heat-gap"/>
            <p:cNvSpPr/>
            <p:nvPr/>
          </p:nvSpPr>
          <p:spPr>
            <a:xfrm>
              <a:off x="4991100" y="34798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node01.row.item-003.c4.heat"/>
            <p:cNvSpPr/>
            <p:nvPr/>
          </p:nvSpPr>
          <p:spPr>
            <a:xfrm>
              <a:off x="5010150" y="3498850"/>
              <a:ext cx="876300" cy="5715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35" name="node01.row.item-003.c5.heat-gap"/>
            <p:cNvSpPr/>
            <p:nvPr/>
          </p:nvSpPr>
          <p:spPr>
            <a:xfrm>
              <a:off x="5905500" y="34798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node01.row.item-003.c5.heat"/>
            <p:cNvSpPr/>
            <p:nvPr/>
          </p:nvSpPr>
          <p:spPr>
            <a:xfrm>
              <a:off x="5924550" y="3498850"/>
              <a:ext cx="876300" cy="5715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37" name="node01.row.item-004.c1.heat-gap"/>
            <p:cNvSpPr/>
            <p:nvPr/>
          </p:nvSpPr>
          <p:spPr>
            <a:xfrm>
              <a:off x="2247900" y="40894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node01.row.item-004.c1.heat"/>
            <p:cNvSpPr/>
            <p:nvPr/>
          </p:nvSpPr>
          <p:spPr>
            <a:xfrm>
              <a:off x="2266950" y="4108450"/>
              <a:ext cx="8763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9" name="node01.row.item-004.c2.heat-gap"/>
            <p:cNvSpPr/>
            <p:nvPr/>
          </p:nvSpPr>
          <p:spPr>
            <a:xfrm>
              <a:off x="3162300" y="40894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node01.row.item-004.c2.heat"/>
            <p:cNvSpPr/>
            <p:nvPr/>
          </p:nvSpPr>
          <p:spPr>
            <a:xfrm>
              <a:off x="3181350" y="4108450"/>
              <a:ext cx="876300" cy="5715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1" name="node01.row.item-004.c3.heat-gap"/>
            <p:cNvSpPr/>
            <p:nvPr/>
          </p:nvSpPr>
          <p:spPr>
            <a:xfrm>
              <a:off x="4076700" y="40894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node01.row.item-004.c3.heat"/>
            <p:cNvSpPr/>
            <p:nvPr/>
          </p:nvSpPr>
          <p:spPr>
            <a:xfrm>
              <a:off x="4095750" y="4108450"/>
              <a:ext cx="876300" cy="5715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3" name="node01.row.item-004.c4.heat-gap"/>
            <p:cNvSpPr/>
            <p:nvPr/>
          </p:nvSpPr>
          <p:spPr>
            <a:xfrm>
              <a:off x="4991100" y="40894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node01.row.item-004.c4.heat"/>
            <p:cNvSpPr/>
            <p:nvPr/>
          </p:nvSpPr>
          <p:spPr>
            <a:xfrm>
              <a:off x="5010150" y="4108450"/>
              <a:ext cx="876300" cy="5715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5" name="node01.row.item-004.c5.heat-gap"/>
            <p:cNvSpPr/>
            <p:nvPr/>
          </p:nvSpPr>
          <p:spPr>
            <a:xfrm>
              <a:off x="5905500" y="40894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node01.row.item-004.c5.heat"/>
            <p:cNvSpPr/>
            <p:nvPr/>
          </p:nvSpPr>
          <p:spPr>
            <a:xfrm>
              <a:off x="5924550" y="4108450"/>
              <a:ext cx="876300" cy="5715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47" name="node01.row.item-005.c1.heat-gap"/>
            <p:cNvSpPr/>
            <p:nvPr/>
          </p:nvSpPr>
          <p:spPr>
            <a:xfrm>
              <a:off x="2247900" y="46990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node01.row.item-005.c1.heat"/>
            <p:cNvSpPr/>
            <p:nvPr/>
          </p:nvSpPr>
          <p:spPr>
            <a:xfrm>
              <a:off x="2266950" y="4718050"/>
              <a:ext cx="8763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9" name="node01.row.item-005.c2.heat-gap"/>
            <p:cNvSpPr/>
            <p:nvPr/>
          </p:nvSpPr>
          <p:spPr>
            <a:xfrm>
              <a:off x="3162300" y="46990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node01.row.item-005.c2.heat"/>
            <p:cNvSpPr/>
            <p:nvPr/>
          </p:nvSpPr>
          <p:spPr>
            <a:xfrm>
              <a:off x="3181350" y="4718050"/>
              <a:ext cx="8763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1" name="node01.row.item-005.c3.heat-gap"/>
            <p:cNvSpPr/>
            <p:nvPr/>
          </p:nvSpPr>
          <p:spPr>
            <a:xfrm>
              <a:off x="4076700" y="46990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node01.row.item-005.c3.heat"/>
            <p:cNvSpPr/>
            <p:nvPr/>
          </p:nvSpPr>
          <p:spPr>
            <a:xfrm>
              <a:off x="4095750" y="4718050"/>
              <a:ext cx="876300" cy="5715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3" name="node01.row.item-005.c4.heat-gap"/>
            <p:cNvSpPr/>
            <p:nvPr/>
          </p:nvSpPr>
          <p:spPr>
            <a:xfrm>
              <a:off x="4991100" y="46990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node01.row.item-005.c4.heat"/>
            <p:cNvSpPr/>
            <p:nvPr/>
          </p:nvSpPr>
          <p:spPr>
            <a:xfrm>
              <a:off x="5010150" y="4718050"/>
              <a:ext cx="876300" cy="5715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55" name="node01.row.item-005.c5.heat-gap"/>
            <p:cNvSpPr/>
            <p:nvPr/>
          </p:nvSpPr>
          <p:spPr>
            <a:xfrm>
              <a:off x="5905500" y="4699000"/>
              <a:ext cx="9144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node01.row.item-005.c5.heat"/>
            <p:cNvSpPr/>
            <p:nvPr/>
          </p:nvSpPr>
          <p:spPr>
            <a:xfrm>
              <a:off x="5924550" y="4718050"/>
              <a:ext cx="876300" cy="5715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graphicFrame>
          <p:nvGraphicFramePr>
            <p:cNvPr id="5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6096000" cy="3708400"/>
          </p:xfrm>
          <a:graphic>
            <a:graphicData uri="http://schemas.openxmlformats.org/drawingml/2006/table">
              <a:tbl>
                <a:tblPr/>
                <a:tblGrid>
                  <a:gridCol w="1524000"/>
                  <a:gridCol w="914400"/>
                  <a:gridCol w="914400"/>
                  <a:gridCol w="914400"/>
                  <a:gridCol w="914400"/>
                  <a:gridCol w="914400"/>
                </a:tblGrid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270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 gridSpan="5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IMPACT (1 MINOR TO 5 CRITICAL)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270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  <a:tc hMerge="1"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/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LIKELIHOOD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1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2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3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4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5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5 Almost certain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R9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R1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4 Likely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R7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R3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R10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3 Possible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R6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R2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R4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2 Unlikely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R8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R5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1 Rare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0"/>
                        </a:srgbClr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81" name="node02"/>
          <p:cNvGrpSpPr/>
          <p:nvPr/>
        </p:nvGrpSpPr>
        <p:grpSpPr>
          <a:xfrm>
            <a:off x="723900" y="5486400"/>
            <a:ext cx="6526213" cy="190500"/>
            <a:chOff x="723900" y="5486400"/>
            <a:chExt cx="6526213" cy="190500"/>
          </a:xfrm>
        </p:grpSpPr>
        <p:sp>
          <p:nvSpPr>
            <p:cNvPr id="58" name="node02.items.slot-001.swatch"/>
            <p:cNvSpPr/>
            <p:nvPr/>
          </p:nvSpPr>
          <p:spPr>
            <a:xfrm>
              <a:off x="723900" y="5518150"/>
              <a:ext cx="228600" cy="127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9" name="node02.items.slot-001.text"/>
            <p:cNvSpPr/>
            <p:nvPr/>
          </p:nvSpPr>
          <p:spPr>
            <a:xfrm>
              <a:off x="1016000" y="5486400"/>
              <a:ext cx="590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Low 1–3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0" name="node02.items.slot-002.swatch"/>
            <p:cNvSpPr/>
            <p:nvPr/>
          </p:nvSpPr>
          <p:spPr>
            <a:xfrm>
              <a:off x="1835150" y="5518150"/>
              <a:ext cx="228600" cy="127000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61" name="node02.items.slot-002.text"/>
            <p:cNvSpPr/>
            <p:nvPr/>
          </p:nvSpPr>
          <p:spPr>
            <a:xfrm>
              <a:off x="2127250" y="5486400"/>
              <a:ext cx="73183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Watch 4–9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2" name="node02.items.slot-003.swatch"/>
            <p:cNvSpPr/>
            <p:nvPr/>
          </p:nvSpPr>
          <p:spPr>
            <a:xfrm>
              <a:off x="3087688" y="5518150"/>
              <a:ext cx="228600" cy="127000"/>
            </a:xfrm>
            <a:prstGeom prst="rect">
              <a:avLst/>
            </a:prstGeom>
            <a:solidFill>
              <a:srgbClr val="F3D6EE"/>
            </a:solidFill>
            <a:ln>
              <a:noFill/>
            </a:ln>
          </p:spPr>
        </p:sp>
        <p:sp>
          <p:nvSpPr>
            <p:cNvPr id="63" name="node02.items.slot-003.text"/>
            <p:cNvSpPr/>
            <p:nvPr/>
          </p:nvSpPr>
          <p:spPr>
            <a:xfrm>
              <a:off x="3379788" y="5486400"/>
              <a:ext cx="10096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Medium 10–15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4" name="node02.items.slot-004.swatch"/>
            <p:cNvSpPr/>
            <p:nvPr/>
          </p:nvSpPr>
          <p:spPr>
            <a:xfrm>
              <a:off x="4618038" y="5518150"/>
              <a:ext cx="228600" cy="127000"/>
            </a:xfrm>
            <a:prstGeom prst="rect">
              <a:avLst/>
            </a:prstGeom>
            <a:solidFill>
              <a:srgbClr val="FB7FE8"/>
            </a:solidFill>
            <a:ln>
              <a:noFill/>
            </a:ln>
          </p:spPr>
        </p:sp>
        <p:sp>
          <p:nvSpPr>
            <p:cNvPr id="65" name="node02.items.slot-004.text"/>
            <p:cNvSpPr/>
            <p:nvPr/>
          </p:nvSpPr>
          <p:spPr>
            <a:xfrm>
              <a:off x="4910138" y="5486400"/>
              <a:ext cx="78898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High 16–21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6" name="node02.items.slot-005.swatch"/>
            <p:cNvSpPr/>
            <p:nvPr/>
          </p:nvSpPr>
          <p:spPr>
            <a:xfrm>
              <a:off x="5927725" y="5518150"/>
              <a:ext cx="228600" cy="1270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67" name="node02.items.slot-005.text"/>
            <p:cNvSpPr/>
            <p:nvPr/>
          </p:nvSpPr>
          <p:spPr>
            <a:xfrm>
              <a:off x="6219825" y="5486400"/>
              <a:ext cx="103028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Extreme 22–25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2" name="node03"/>
          <p:cNvGrpSpPr/>
          <p:nvPr/>
        </p:nvGrpSpPr>
        <p:grpSpPr>
          <a:xfrm>
            <a:off x="5702300" y="2286000"/>
            <a:ext cx="1320800" cy="594043"/>
            <a:chOff x="5702300" y="2286000"/>
            <a:chExt cx="1320800" cy="594043"/>
          </a:xfrm>
        </p:grpSpPr>
        <p:pic>
          <p:nvPicPr>
            <p:cNvPr id="68" name="node03.mark" descr="circle; canonical SHA256=124ae1e135b9541977ce5d2341d25f294d65a3b100cbfb4f243578081972a04d; resolved ink=070154">    </p:cNvPr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02300" y="2286000"/>
              <a:ext cx="1320800" cy="594043"/>
            </a:xfrm>
            <a:prstGeom prst="rect">
              <a:avLst/>
            </a:prstGeom>
          </p:spPr>
        </p:pic>
      </p:grpSp>
      <p:grpSp>
        <p:nvGrpSpPr>
          <p:cNvPr id="83" name="node04"/>
          <p:cNvGrpSpPr/>
          <p:nvPr/>
        </p:nvGrpSpPr>
        <p:grpSpPr>
          <a:xfrm>
            <a:off x="7124700" y="2489200"/>
            <a:ext cx="838200" cy="158490"/>
            <a:chOff x="7124700" y="2489200"/>
            <a:chExt cx="838200" cy="158490"/>
          </a:xfrm>
        </p:grpSpPr>
        <p:pic>
          <p:nvPicPr>
            <p:cNvPr id="69" name="node04.mark" descr="arrow-straight; canonical SHA256=115a8f5079b158c346e9f9ca6c6eeecb7567bbab70f4cd058c365f09ed10290e; resolved ink=070154">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24700" y="2489200"/>
              <a:ext cx="838200" cy="158490"/>
            </a:xfrm>
            <a:prstGeom prst="rect">
              <a:avLst/>
            </a:prstGeom>
          </p:spPr>
        </p:pic>
      </p:grpSp>
      <p:grpSp>
        <p:nvGrpSpPr>
          <p:cNvPr id="84" name="node05"/>
          <p:cNvGrpSpPr/>
          <p:nvPr/>
        </p:nvGrpSpPr>
        <p:grpSpPr>
          <a:xfrm>
            <a:off x="8039100" y="1600200"/>
            <a:ext cx="3429000" cy="2057400"/>
            <a:chOff x="8039100" y="1600200"/>
            <a:chExt cx="3429000" cy="2057400"/>
          </a:xfrm>
        </p:grpSpPr>
        <p:sp>
          <p:nvSpPr>
            <p:cNvPr id="70" name="node05.container"/>
            <p:cNvSpPr/>
            <p:nvPr/>
          </p:nvSpPr>
          <p:spPr>
            <a:xfrm>
              <a:off x="8039100" y="1600200"/>
              <a:ext cx="3429000" cy="20574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71" name="node05.label"/>
            <p:cNvSpPr/>
            <p:nvPr/>
          </p:nvSpPr>
          <p:spPr>
            <a:xfrm>
              <a:off x="8267700" y="1828800"/>
              <a:ext cx="29718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800" spc="48" kern="0" b="0" i="0" dirty="0">
                  <a:solidFill>
                    <a:srgbClr val="070154"/>
                  </a:solidFill>
                  <a:latin typeface="IBM Plex Mono Medium"/>
                  <a:ea typeface="IBM Plex Mono Medium"/>
                  <a:cs typeface="IBM Plex Mono Medium"/>
                </a:rPr>
                <a:t>R1, SCORE 25</a:t>
              </a:r>
              <a:endPara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2" name="node05.title"/>
            <p:cNvSpPr/>
            <p:nvPr/>
          </p:nvSpPr>
          <p:spPr>
            <a:xfrm>
              <a:off x="8267700" y="20447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Interface failure at cutover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3" name="node05.body.item-001.paragraph"/>
            <p:cNvSpPr/>
            <p:nvPr/>
          </p:nvSpPr>
          <p:spPr>
            <a:xfrm>
              <a:off x="8267700" y="2463800"/>
              <a:ext cx="29718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Owner: CIO. Mitigation: dual-run the lab and pharmacy interfaces for two weeks.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5" name="node06"/>
          <p:cNvGrpSpPr/>
          <p:nvPr/>
        </p:nvGrpSpPr>
        <p:grpSpPr>
          <a:xfrm>
            <a:off x="8039100" y="3886200"/>
            <a:ext cx="3429000" cy="939800"/>
            <a:chOff x="8039100" y="3886200"/>
            <a:chExt cx="3429000" cy="939800"/>
          </a:xfrm>
        </p:grpSpPr>
        <p:sp>
          <p:nvSpPr>
            <p:cNvPr id="74" name="node06.source-001.bullet"/>
            <p:cNvSpPr/>
            <p:nvPr/>
          </p:nvSpPr>
          <p:spPr>
            <a:xfrm>
              <a:off x="8039100" y="3975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5" name="node06.source-001.text"/>
            <p:cNvSpPr/>
            <p:nvPr/>
          </p:nvSpPr>
          <p:spPr>
            <a:xfrm>
              <a:off x="8191500" y="38862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R10 and R3 follow at scores of 20 and 16.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6" name="node06.source-002.bullet"/>
            <p:cNvSpPr/>
            <p:nvPr/>
          </p:nvSpPr>
          <p:spPr>
            <a:xfrm>
              <a:off x="8039100" y="4229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7" name="node06.source-002.text"/>
            <p:cNvSpPr/>
            <p:nvPr/>
          </p:nvSpPr>
          <p:spPr>
            <a:xfrm>
              <a:off x="8191500" y="4140200"/>
              <a:ext cx="32766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Both share the same migration team and cutover window.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8" name="node06.source-003.bullet"/>
            <p:cNvSpPr/>
            <p:nvPr/>
          </p:nvSpPr>
          <p:spPr>
            <a:xfrm>
              <a:off x="8039100" y="4699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9" name="node06.source-003.text"/>
            <p:cNvSpPr/>
            <p:nvPr/>
          </p:nvSpPr>
          <p:spPr>
            <a:xfrm>
              <a:off x="8191500" y="46101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After the dual run, R1 drops to a score of 15.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WHY IT IS HARD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Why modernization has been slow and costly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5" name="node01"/>
          <p:cNvGrpSpPr/>
          <p:nvPr/>
        </p:nvGrpSpPr>
        <p:grpSpPr>
          <a:xfrm>
            <a:off x="723900" y="1600200"/>
            <a:ext cx="10744200" cy="254000"/>
            <a:chOff x="723900" y="1600200"/>
            <a:chExt cx="10744200" cy="254000"/>
          </a:xfrm>
        </p:grpSpPr>
        <p:sp>
          <p:nvSpPr>
            <p:cNvPr id="6" name="node01.text"/>
            <p:cNvSpPr/>
            <p:nvPr/>
          </p:nvSpPr>
          <p:spPr>
            <a:xfrm>
              <a:off x="723900" y="1600200"/>
              <a:ext cx="10744200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Coding is only one part. The harder work is rediscovering, deciding and cutting over safely.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6" name="node02"/>
          <p:cNvGrpSpPr/>
          <p:nvPr/>
        </p:nvGrpSpPr>
        <p:grpSpPr>
          <a:xfrm>
            <a:off x="723900" y="2514600"/>
            <a:ext cx="5029200" cy="139700"/>
            <a:chOff x="723900" y="2514600"/>
            <a:chExt cx="5029200" cy="139700"/>
          </a:xfrm>
        </p:grpSpPr>
        <p:sp>
          <p:nvSpPr>
            <p:cNvPr id="7" name="node02.text"/>
            <p:cNvSpPr/>
            <p:nvPr/>
          </p:nvSpPr>
          <p:spPr>
            <a:xfrm>
              <a:off x="723900" y="2514600"/>
              <a:ext cx="5029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DISCOVER AND DEFINE</a:t>
              </a:r>
              <a:endParaRPr lang="en-US" sz="900" spc="72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7" name="node03"/>
          <p:cNvGrpSpPr/>
          <p:nvPr/>
        </p:nvGrpSpPr>
        <p:grpSpPr>
          <a:xfrm>
            <a:off x="6438900" y="2514600"/>
            <a:ext cx="5029200" cy="139700"/>
            <a:chOff x="6438900" y="2514600"/>
            <a:chExt cx="5029200" cy="139700"/>
          </a:xfrm>
        </p:grpSpPr>
        <p:sp>
          <p:nvSpPr>
            <p:cNvPr id="8" name="node03.text"/>
            <p:cNvSpPr/>
            <p:nvPr/>
          </p:nvSpPr>
          <p:spPr>
            <a:xfrm>
              <a:off x="6438900" y="2514600"/>
              <a:ext cx="5029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DELIVER AND TRANSITION</a:t>
              </a:r>
              <a:endParaRPr lang="en-US" sz="900" spc="72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8" name="node04"/>
          <p:cNvGrpSpPr/>
          <p:nvPr/>
        </p:nvGrpSpPr>
        <p:grpSpPr>
          <a:xfrm>
            <a:off x="723900" y="2743200"/>
            <a:ext cx="5029200" cy="914400"/>
            <a:chOff x="723900" y="2743200"/>
            <a:chExt cx="5029200" cy="914400"/>
          </a:xfrm>
        </p:grpSpPr>
        <p:sp>
          <p:nvSpPr>
            <p:cNvPr id="9" name="node04.container"/>
            <p:cNvSpPr/>
            <p:nvPr/>
          </p:nvSpPr>
          <p:spPr>
            <a:xfrm>
              <a:off x="723900" y="2743200"/>
              <a:ext cx="5029200" cy="914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0" name="node04.edge"/>
            <p:cNvSpPr/>
            <p:nvPr/>
          </p:nvSpPr>
          <p:spPr>
            <a:xfrm>
              <a:off x="723900" y="2743200"/>
              <a:ext cx="38100" cy="9144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1" name="node04.number-tile"/>
            <p:cNvSpPr/>
            <p:nvPr/>
          </p:nvSpPr>
          <p:spPr>
            <a:xfrm>
              <a:off x="914400" y="283210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12" name="node04.number"/>
            <p:cNvSpPr/>
            <p:nvPr/>
          </p:nvSpPr>
          <p:spPr>
            <a:xfrm>
              <a:off x="914400" y="283210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4.title"/>
            <p:cNvSpPr/>
            <p:nvPr/>
          </p:nvSpPr>
          <p:spPr>
            <a:xfrm>
              <a:off x="1371600" y="2895600"/>
              <a:ext cx="42291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Reconstruct business behavior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4.body.item-001.paragraph"/>
            <p:cNvSpPr/>
            <p:nvPr/>
          </p:nvSpPr>
          <p:spPr>
            <a:xfrm>
              <a:off x="914400" y="3263900"/>
              <a:ext cx="46863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Document current processes, rules and workarounds.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9" name="node05"/>
          <p:cNvGrpSpPr/>
          <p:nvPr/>
        </p:nvGrpSpPr>
        <p:grpSpPr>
          <a:xfrm>
            <a:off x="723900" y="3886200"/>
            <a:ext cx="5029200" cy="914400"/>
            <a:chOff x="723900" y="3886200"/>
            <a:chExt cx="5029200" cy="914400"/>
          </a:xfrm>
        </p:grpSpPr>
        <p:sp>
          <p:nvSpPr>
            <p:cNvPr id="15" name="node05.container"/>
            <p:cNvSpPr/>
            <p:nvPr/>
          </p:nvSpPr>
          <p:spPr>
            <a:xfrm>
              <a:off x="723900" y="3886200"/>
              <a:ext cx="5029200" cy="914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6" name="node05.edge"/>
            <p:cNvSpPr/>
            <p:nvPr/>
          </p:nvSpPr>
          <p:spPr>
            <a:xfrm>
              <a:off x="723900" y="3886200"/>
              <a:ext cx="38100" cy="9144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7" name="node05.number-tile"/>
            <p:cNvSpPr/>
            <p:nvPr/>
          </p:nvSpPr>
          <p:spPr>
            <a:xfrm>
              <a:off x="914400" y="397510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18" name="node05.number"/>
            <p:cNvSpPr/>
            <p:nvPr/>
          </p:nvSpPr>
          <p:spPr>
            <a:xfrm>
              <a:off x="914400" y="397510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9" name="node05.title"/>
            <p:cNvSpPr/>
            <p:nvPr/>
          </p:nvSpPr>
          <p:spPr>
            <a:xfrm>
              <a:off x="1371600" y="4038600"/>
              <a:ext cx="42291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Decide what to retain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5.body.item-001.paragraph"/>
            <p:cNvSpPr/>
            <p:nvPr/>
          </p:nvSpPr>
          <p:spPr>
            <a:xfrm>
              <a:off x="914400" y="4406900"/>
              <a:ext cx="46863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Separate essential controls from obsolete features.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0" name="node06"/>
          <p:cNvGrpSpPr/>
          <p:nvPr/>
        </p:nvGrpSpPr>
        <p:grpSpPr>
          <a:xfrm>
            <a:off x="723900" y="5029200"/>
            <a:ext cx="5029200" cy="914400"/>
            <a:chOff x="723900" y="5029200"/>
            <a:chExt cx="5029200" cy="914400"/>
          </a:xfrm>
        </p:grpSpPr>
        <p:sp>
          <p:nvSpPr>
            <p:cNvPr id="21" name="node06.container"/>
            <p:cNvSpPr/>
            <p:nvPr/>
          </p:nvSpPr>
          <p:spPr>
            <a:xfrm>
              <a:off x="723900" y="5029200"/>
              <a:ext cx="5029200" cy="914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2" name="node06.edge"/>
            <p:cNvSpPr/>
            <p:nvPr/>
          </p:nvSpPr>
          <p:spPr>
            <a:xfrm>
              <a:off x="723900" y="5029200"/>
              <a:ext cx="38100" cy="9144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3" name="node06.number-tile"/>
            <p:cNvSpPr/>
            <p:nvPr/>
          </p:nvSpPr>
          <p:spPr>
            <a:xfrm>
              <a:off x="914400" y="511810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24" name="node06.number"/>
            <p:cNvSpPr/>
            <p:nvPr/>
          </p:nvSpPr>
          <p:spPr>
            <a:xfrm>
              <a:off x="914400" y="511810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5" name="node06.title"/>
            <p:cNvSpPr/>
            <p:nvPr/>
          </p:nvSpPr>
          <p:spPr>
            <a:xfrm>
              <a:off x="1371600" y="5181600"/>
              <a:ext cx="42291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Align business and technology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6.body.item-001.paragraph"/>
            <p:cNvSpPr/>
            <p:nvPr/>
          </p:nvSpPr>
          <p:spPr>
            <a:xfrm>
              <a:off x="914400" y="5549900"/>
              <a:ext cx="46863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Turn operator intent into shared designs and tests.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1" name="node07"/>
          <p:cNvGrpSpPr/>
          <p:nvPr/>
        </p:nvGrpSpPr>
        <p:grpSpPr>
          <a:xfrm>
            <a:off x="6438900" y="2743200"/>
            <a:ext cx="5029200" cy="914400"/>
            <a:chOff x="6438900" y="2743200"/>
            <a:chExt cx="5029200" cy="914400"/>
          </a:xfrm>
        </p:grpSpPr>
        <p:sp>
          <p:nvSpPr>
            <p:cNvPr id="27" name="node07.container"/>
            <p:cNvSpPr/>
            <p:nvPr/>
          </p:nvSpPr>
          <p:spPr>
            <a:xfrm>
              <a:off x="6438900" y="2743200"/>
              <a:ext cx="5029200" cy="914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8" name="node07.edge"/>
            <p:cNvSpPr/>
            <p:nvPr/>
          </p:nvSpPr>
          <p:spPr>
            <a:xfrm>
              <a:off x="6438900" y="2743200"/>
              <a:ext cx="38100" cy="9144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9" name="node07.number-tile"/>
            <p:cNvSpPr/>
            <p:nvPr/>
          </p:nvSpPr>
          <p:spPr>
            <a:xfrm>
              <a:off x="6629400" y="283210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30" name="node07.number"/>
            <p:cNvSpPr/>
            <p:nvPr/>
          </p:nvSpPr>
          <p:spPr>
            <a:xfrm>
              <a:off x="6629400" y="283210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04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7.title"/>
            <p:cNvSpPr/>
            <p:nvPr/>
          </p:nvSpPr>
          <p:spPr>
            <a:xfrm>
              <a:off x="7086600" y="2895600"/>
              <a:ext cx="42291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Untangle dependencies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7.body.item-001.paragraph"/>
            <p:cNvSpPr/>
            <p:nvPr/>
          </p:nvSpPr>
          <p:spPr>
            <a:xfrm>
              <a:off x="6629400" y="3263900"/>
              <a:ext cx="46863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Map integrations, then clean duplicate and incomplete data.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2" name="node08"/>
          <p:cNvGrpSpPr/>
          <p:nvPr/>
        </p:nvGrpSpPr>
        <p:grpSpPr>
          <a:xfrm>
            <a:off x="6438900" y="3886200"/>
            <a:ext cx="5029200" cy="914400"/>
            <a:chOff x="6438900" y="3886200"/>
            <a:chExt cx="5029200" cy="914400"/>
          </a:xfrm>
        </p:grpSpPr>
        <p:sp>
          <p:nvSpPr>
            <p:cNvPr id="33" name="node08.container"/>
            <p:cNvSpPr/>
            <p:nvPr/>
          </p:nvSpPr>
          <p:spPr>
            <a:xfrm>
              <a:off x="6438900" y="3886200"/>
              <a:ext cx="5029200" cy="914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4" name="node08.edge"/>
            <p:cNvSpPr/>
            <p:nvPr/>
          </p:nvSpPr>
          <p:spPr>
            <a:xfrm>
              <a:off x="6438900" y="3886200"/>
              <a:ext cx="38100" cy="9144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35" name="node08.number-tile"/>
            <p:cNvSpPr/>
            <p:nvPr/>
          </p:nvSpPr>
          <p:spPr>
            <a:xfrm>
              <a:off x="6629400" y="397510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36" name="node08.number"/>
            <p:cNvSpPr/>
            <p:nvPr/>
          </p:nvSpPr>
          <p:spPr>
            <a:xfrm>
              <a:off x="6629400" y="397510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05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7" name="node08.title"/>
            <p:cNvSpPr/>
            <p:nvPr/>
          </p:nvSpPr>
          <p:spPr>
            <a:xfrm>
              <a:off x="7086600" y="4038600"/>
              <a:ext cx="42291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Validate during cutover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08.body.item-001.paragraph"/>
            <p:cNvSpPr/>
            <p:nvPr/>
          </p:nvSpPr>
          <p:spPr>
            <a:xfrm>
              <a:off x="6629400" y="4406900"/>
              <a:ext cx="46863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Run acceptance tests while old and new systems coexist.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3" name="node09"/>
          <p:cNvGrpSpPr/>
          <p:nvPr/>
        </p:nvGrpSpPr>
        <p:grpSpPr>
          <a:xfrm>
            <a:off x="6438900" y="5029200"/>
            <a:ext cx="5029200" cy="914400"/>
            <a:chOff x="6438900" y="5029200"/>
            <a:chExt cx="5029200" cy="914400"/>
          </a:xfrm>
        </p:grpSpPr>
        <p:sp>
          <p:nvSpPr>
            <p:cNvPr id="39" name="node09.container"/>
            <p:cNvSpPr/>
            <p:nvPr/>
          </p:nvSpPr>
          <p:spPr>
            <a:xfrm>
              <a:off x="6438900" y="5029200"/>
              <a:ext cx="5029200" cy="9144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0" name="node09.edge"/>
            <p:cNvSpPr/>
            <p:nvPr/>
          </p:nvSpPr>
          <p:spPr>
            <a:xfrm>
              <a:off x="6438900" y="5029200"/>
              <a:ext cx="38100" cy="9144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1" name="node09.number-tile"/>
            <p:cNvSpPr/>
            <p:nvPr/>
          </p:nvSpPr>
          <p:spPr>
            <a:xfrm>
              <a:off x="6629400" y="511810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42" name="node09.number"/>
            <p:cNvSpPr/>
            <p:nvPr/>
          </p:nvSpPr>
          <p:spPr>
            <a:xfrm>
              <a:off x="6629400" y="511810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06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9.title"/>
            <p:cNvSpPr/>
            <p:nvPr/>
          </p:nvSpPr>
          <p:spPr>
            <a:xfrm>
              <a:off x="7086600" y="5181600"/>
              <a:ext cx="42291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Execute a safe cutover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4" name="node09.body.item-001.paragraph"/>
            <p:cNvSpPr/>
            <p:nvPr/>
          </p:nvSpPr>
          <p:spPr>
            <a:xfrm>
              <a:off x="6629400" y="5549900"/>
              <a:ext cx="46863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Sequence migration, rollback and controls to protect operations.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WHY IT IS HARD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Why modernization has been slow and costly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5" name="node01"/>
          <p:cNvGrpSpPr/>
          <p:nvPr/>
        </p:nvGrpSpPr>
        <p:grpSpPr>
          <a:xfrm>
            <a:off x="723900" y="1600200"/>
            <a:ext cx="10744200" cy="254000"/>
            <a:chOff x="723900" y="1600200"/>
            <a:chExt cx="10744200" cy="254000"/>
          </a:xfrm>
        </p:grpSpPr>
        <p:sp>
          <p:nvSpPr>
            <p:cNvPr id="6" name="node01.text"/>
            <p:cNvSpPr/>
            <p:nvPr/>
          </p:nvSpPr>
          <p:spPr>
            <a:xfrm>
              <a:off x="723900" y="1600200"/>
              <a:ext cx="10744200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Coding is only one part. The harder work is rediscovering, deciding and cutting over safely.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6" name="node02"/>
          <p:cNvGrpSpPr/>
          <p:nvPr/>
        </p:nvGrpSpPr>
        <p:grpSpPr>
          <a:xfrm>
            <a:off x="723900" y="2286000"/>
            <a:ext cx="10744200" cy="139700"/>
            <a:chOff x="723900" y="2286000"/>
            <a:chExt cx="10744200" cy="139700"/>
          </a:xfrm>
        </p:grpSpPr>
        <p:sp>
          <p:nvSpPr>
            <p:cNvPr id="7" name="node02.text"/>
            <p:cNvSpPr/>
            <p:nvPr/>
          </p:nvSpPr>
          <p:spPr>
            <a:xfrm>
              <a:off x="723900" y="2286000"/>
              <a:ext cx="10744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DISCOVER AND DEFINE</a:t>
              </a:r>
              <a:endParaRPr lang="en-US" sz="900" spc="72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47" name="node03"/>
          <p:cNvGrpSpPr/>
          <p:nvPr/>
        </p:nvGrpSpPr>
        <p:grpSpPr>
          <a:xfrm>
            <a:off x="723900" y="2514600"/>
            <a:ext cx="3429000" cy="1371600"/>
            <a:chOff x="723900" y="2514600"/>
            <a:chExt cx="3429000" cy="1371600"/>
          </a:xfrm>
        </p:grpSpPr>
        <p:sp>
          <p:nvSpPr>
            <p:cNvPr id="8" name="node03.container"/>
            <p:cNvSpPr/>
            <p:nvPr/>
          </p:nvSpPr>
          <p:spPr>
            <a:xfrm>
              <a:off x="723900" y="2514600"/>
              <a:ext cx="3429000" cy="1371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9" name="node03.edge"/>
            <p:cNvSpPr/>
            <p:nvPr/>
          </p:nvSpPr>
          <p:spPr>
            <a:xfrm>
              <a:off x="723900" y="2514600"/>
              <a:ext cx="38100" cy="13716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0" name="node03.number-tile"/>
            <p:cNvSpPr/>
            <p:nvPr/>
          </p:nvSpPr>
          <p:spPr>
            <a:xfrm>
              <a:off x="990600" y="267970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11" name="node03.number"/>
            <p:cNvSpPr/>
            <p:nvPr/>
          </p:nvSpPr>
          <p:spPr>
            <a:xfrm>
              <a:off x="990600" y="267970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3.title"/>
            <p:cNvSpPr/>
            <p:nvPr/>
          </p:nvSpPr>
          <p:spPr>
            <a:xfrm>
              <a:off x="1447800" y="2743200"/>
              <a:ext cx="2476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Reconstruct business behavior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3.body.item-001.paragraph"/>
            <p:cNvSpPr/>
            <p:nvPr/>
          </p:nvSpPr>
          <p:spPr>
            <a:xfrm>
              <a:off x="990600" y="3111500"/>
              <a:ext cx="29337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Document current processes, rules and workarounds.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8" name="node04"/>
          <p:cNvGrpSpPr/>
          <p:nvPr/>
        </p:nvGrpSpPr>
        <p:grpSpPr>
          <a:xfrm>
            <a:off x="4381500" y="2514600"/>
            <a:ext cx="3429000" cy="1371600"/>
            <a:chOff x="4381500" y="2514600"/>
            <a:chExt cx="3429000" cy="1371600"/>
          </a:xfrm>
        </p:grpSpPr>
        <p:sp>
          <p:nvSpPr>
            <p:cNvPr id="14" name="node04.container"/>
            <p:cNvSpPr/>
            <p:nvPr/>
          </p:nvSpPr>
          <p:spPr>
            <a:xfrm>
              <a:off x="4381500" y="2514600"/>
              <a:ext cx="3429000" cy="1371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5" name="node04.edge"/>
            <p:cNvSpPr/>
            <p:nvPr/>
          </p:nvSpPr>
          <p:spPr>
            <a:xfrm>
              <a:off x="4381500" y="2514600"/>
              <a:ext cx="38100" cy="13716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16" name="node04.number-tile"/>
            <p:cNvSpPr/>
            <p:nvPr/>
          </p:nvSpPr>
          <p:spPr>
            <a:xfrm>
              <a:off x="4648200" y="267970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17" name="node04.number"/>
            <p:cNvSpPr/>
            <p:nvPr/>
          </p:nvSpPr>
          <p:spPr>
            <a:xfrm>
              <a:off x="4648200" y="267970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4.title"/>
            <p:cNvSpPr/>
            <p:nvPr/>
          </p:nvSpPr>
          <p:spPr>
            <a:xfrm>
              <a:off x="5105400" y="2743200"/>
              <a:ext cx="2476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Decide what to retain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" name="node04.body.item-001.paragraph"/>
            <p:cNvSpPr/>
            <p:nvPr/>
          </p:nvSpPr>
          <p:spPr>
            <a:xfrm>
              <a:off x="4648200" y="3111500"/>
              <a:ext cx="29337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Separate essential controls from obsolete features.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9" name="node05"/>
          <p:cNvGrpSpPr/>
          <p:nvPr/>
        </p:nvGrpSpPr>
        <p:grpSpPr>
          <a:xfrm>
            <a:off x="8039100" y="2514600"/>
            <a:ext cx="3429000" cy="1371600"/>
            <a:chOff x="8039100" y="2514600"/>
            <a:chExt cx="3429000" cy="1371600"/>
          </a:xfrm>
        </p:grpSpPr>
        <p:sp>
          <p:nvSpPr>
            <p:cNvPr id="20" name="node05.container"/>
            <p:cNvSpPr/>
            <p:nvPr/>
          </p:nvSpPr>
          <p:spPr>
            <a:xfrm>
              <a:off x="8039100" y="2514600"/>
              <a:ext cx="3429000" cy="1371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1" name="node05.edge"/>
            <p:cNvSpPr/>
            <p:nvPr/>
          </p:nvSpPr>
          <p:spPr>
            <a:xfrm>
              <a:off x="8039100" y="2514600"/>
              <a:ext cx="38100" cy="13716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2" name="node05.number-tile"/>
            <p:cNvSpPr/>
            <p:nvPr/>
          </p:nvSpPr>
          <p:spPr>
            <a:xfrm>
              <a:off x="8305800" y="267970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23" name="node05.number"/>
            <p:cNvSpPr/>
            <p:nvPr/>
          </p:nvSpPr>
          <p:spPr>
            <a:xfrm>
              <a:off x="8305800" y="267970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5.title"/>
            <p:cNvSpPr/>
            <p:nvPr/>
          </p:nvSpPr>
          <p:spPr>
            <a:xfrm>
              <a:off x="8763000" y="2743200"/>
              <a:ext cx="2476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Align business and technology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5.body.item-001.paragraph"/>
            <p:cNvSpPr/>
            <p:nvPr/>
          </p:nvSpPr>
          <p:spPr>
            <a:xfrm>
              <a:off x="8305800" y="3111500"/>
              <a:ext cx="29337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Turn operator intent into shared designs and tests.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0" name="node06"/>
          <p:cNvGrpSpPr/>
          <p:nvPr/>
        </p:nvGrpSpPr>
        <p:grpSpPr>
          <a:xfrm>
            <a:off x="723900" y="4114800"/>
            <a:ext cx="10744200" cy="139700"/>
            <a:chOff x="723900" y="4114800"/>
            <a:chExt cx="10744200" cy="139700"/>
          </a:xfrm>
        </p:grpSpPr>
        <p:sp>
          <p:nvSpPr>
            <p:cNvPr id="26" name="node06.text"/>
            <p:cNvSpPr/>
            <p:nvPr/>
          </p:nvSpPr>
          <p:spPr>
            <a:xfrm>
              <a:off x="723900" y="4114800"/>
              <a:ext cx="10744200" cy="1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100"/>
                </a:lnSpc>
                <a:buNone/>
              </a:pPr>
              <a:r>
                <a:rPr lang="en-US" sz="900" spc="72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DELIVER AND TRANSITION</a:t>
              </a:r>
              <a:endParaRPr lang="en-US" sz="900" spc="72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51" name="node07"/>
          <p:cNvGrpSpPr/>
          <p:nvPr/>
        </p:nvGrpSpPr>
        <p:grpSpPr>
          <a:xfrm>
            <a:off x="723900" y="4343400"/>
            <a:ext cx="3429000" cy="1371600"/>
            <a:chOff x="723900" y="4343400"/>
            <a:chExt cx="3429000" cy="1371600"/>
          </a:xfrm>
        </p:grpSpPr>
        <p:sp>
          <p:nvSpPr>
            <p:cNvPr id="27" name="node07.container"/>
            <p:cNvSpPr/>
            <p:nvPr/>
          </p:nvSpPr>
          <p:spPr>
            <a:xfrm>
              <a:off x="723900" y="4343400"/>
              <a:ext cx="3429000" cy="1371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8" name="node07.edge"/>
            <p:cNvSpPr/>
            <p:nvPr/>
          </p:nvSpPr>
          <p:spPr>
            <a:xfrm>
              <a:off x="723900" y="4343400"/>
              <a:ext cx="38100" cy="13716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29" name="node07.number-tile"/>
            <p:cNvSpPr/>
            <p:nvPr/>
          </p:nvSpPr>
          <p:spPr>
            <a:xfrm>
              <a:off x="990600" y="450850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30" name="node07.number"/>
            <p:cNvSpPr/>
            <p:nvPr/>
          </p:nvSpPr>
          <p:spPr>
            <a:xfrm>
              <a:off x="990600" y="450850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04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7.title"/>
            <p:cNvSpPr/>
            <p:nvPr/>
          </p:nvSpPr>
          <p:spPr>
            <a:xfrm>
              <a:off x="1447800" y="4572000"/>
              <a:ext cx="2476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Untangle dependencies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7.body.item-001.paragraph"/>
            <p:cNvSpPr/>
            <p:nvPr/>
          </p:nvSpPr>
          <p:spPr>
            <a:xfrm>
              <a:off x="990600" y="4940300"/>
              <a:ext cx="29337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Map integrations, then clean duplicate and incomplete data.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2" name="node08"/>
          <p:cNvGrpSpPr/>
          <p:nvPr/>
        </p:nvGrpSpPr>
        <p:grpSpPr>
          <a:xfrm>
            <a:off x="4381500" y="4343400"/>
            <a:ext cx="3429000" cy="1371600"/>
            <a:chOff x="4381500" y="4343400"/>
            <a:chExt cx="3429000" cy="1371600"/>
          </a:xfrm>
        </p:grpSpPr>
        <p:sp>
          <p:nvSpPr>
            <p:cNvPr id="33" name="node08.container"/>
            <p:cNvSpPr/>
            <p:nvPr/>
          </p:nvSpPr>
          <p:spPr>
            <a:xfrm>
              <a:off x="4381500" y="4343400"/>
              <a:ext cx="3429000" cy="1371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4" name="node08.edge"/>
            <p:cNvSpPr/>
            <p:nvPr/>
          </p:nvSpPr>
          <p:spPr>
            <a:xfrm>
              <a:off x="4381500" y="4343400"/>
              <a:ext cx="38100" cy="13716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35" name="node08.number-tile"/>
            <p:cNvSpPr/>
            <p:nvPr/>
          </p:nvSpPr>
          <p:spPr>
            <a:xfrm>
              <a:off x="4648200" y="450850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36" name="node08.number"/>
            <p:cNvSpPr/>
            <p:nvPr/>
          </p:nvSpPr>
          <p:spPr>
            <a:xfrm>
              <a:off x="4648200" y="450850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05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7" name="node08.title"/>
            <p:cNvSpPr/>
            <p:nvPr/>
          </p:nvSpPr>
          <p:spPr>
            <a:xfrm>
              <a:off x="5105400" y="4572000"/>
              <a:ext cx="2476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Validate during cutover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08.body.item-001.paragraph"/>
            <p:cNvSpPr/>
            <p:nvPr/>
          </p:nvSpPr>
          <p:spPr>
            <a:xfrm>
              <a:off x="4648200" y="4940300"/>
              <a:ext cx="29337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Run acceptance tests while old and new systems coexist.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3" name="node09"/>
          <p:cNvGrpSpPr/>
          <p:nvPr/>
        </p:nvGrpSpPr>
        <p:grpSpPr>
          <a:xfrm>
            <a:off x="8039100" y="4343400"/>
            <a:ext cx="3429000" cy="1371600"/>
            <a:chOff x="8039100" y="4343400"/>
            <a:chExt cx="3429000" cy="1371600"/>
          </a:xfrm>
        </p:grpSpPr>
        <p:sp>
          <p:nvSpPr>
            <p:cNvPr id="39" name="node09.container"/>
            <p:cNvSpPr/>
            <p:nvPr/>
          </p:nvSpPr>
          <p:spPr>
            <a:xfrm>
              <a:off x="8039100" y="4343400"/>
              <a:ext cx="3429000" cy="13716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40" name="node09.edge"/>
            <p:cNvSpPr/>
            <p:nvPr/>
          </p:nvSpPr>
          <p:spPr>
            <a:xfrm>
              <a:off x="8039100" y="4343400"/>
              <a:ext cx="38100" cy="1371600"/>
            </a:xfrm>
            <a:prstGeom prst="rect">
              <a:avLst/>
            </a:prstGeom>
            <a:solidFill>
              <a:srgbClr val="0047FF"/>
            </a:solidFill>
            <a:ln>
              <a:noFill/>
            </a:ln>
          </p:spPr>
        </p:sp>
        <p:sp>
          <p:nvSpPr>
            <p:cNvPr id="41" name="node09.number-tile"/>
            <p:cNvSpPr/>
            <p:nvPr/>
          </p:nvSpPr>
          <p:spPr>
            <a:xfrm>
              <a:off x="8305800" y="450850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42" name="node09.number"/>
            <p:cNvSpPr/>
            <p:nvPr/>
          </p:nvSpPr>
          <p:spPr>
            <a:xfrm>
              <a:off x="8305800" y="450850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06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9.title"/>
            <p:cNvSpPr/>
            <p:nvPr/>
          </p:nvSpPr>
          <p:spPr>
            <a:xfrm>
              <a:off x="8763000" y="4572000"/>
              <a:ext cx="24765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Execute a safe cutover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4" name="node09.body.item-001.paragraph"/>
            <p:cNvSpPr/>
            <p:nvPr/>
          </p:nvSpPr>
          <p:spPr>
            <a:xfrm>
              <a:off x="8305800" y="4940300"/>
              <a:ext cx="2933700" cy="43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Sequence migration, rollback and controls to protect operations.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umtile-comfor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DENSITY COMFORTABLE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Fixed numeral tile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1" name="card"/>
          <p:cNvGrpSpPr/>
          <p:nvPr/>
        </p:nvGrpSpPr>
        <p:grpSpPr>
          <a:xfrm>
            <a:off x="723900" y="2286000"/>
            <a:ext cx="3429000" cy="2286000"/>
            <a:chOff x="723900" y="2286000"/>
            <a:chExt cx="3429000" cy="2286000"/>
          </a:xfrm>
        </p:grpSpPr>
        <p:sp>
          <p:nvSpPr>
            <p:cNvPr id="6" name="card.container"/>
            <p:cNvSpPr/>
            <p:nvPr/>
          </p:nvSpPr>
          <p:spPr>
            <a:xfrm>
              <a:off x="723900" y="2286000"/>
              <a:ext cx="3429000" cy="2286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card.number-tile"/>
            <p:cNvSpPr/>
            <p:nvPr/>
          </p:nvSpPr>
          <p:spPr>
            <a:xfrm>
              <a:off x="952500" y="249555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8" name="card.number"/>
            <p:cNvSpPr/>
            <p:nvPr/>
          </p:nvSpPr>
          <p:spPr>
            <a:xfrm>
              <a:off x="952500" y="249555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card.title"/>
            <p:cNvSpPr/>
            <p:nvPr/>
          </p:nvSpPr>
          <p:spPr>
            <a:xfrm>
              <a:off x="1409700" y="2514600"/>
              <a:ext cx="25146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Pillar title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0" name="card.body.item-001.paragraph"/>
            <p:cNvSpPr/>
            <p:nvPr/>
          </p:nvSpPr>
          <p:spPr>
            <a:xfrm>
              <a:off x="952500" y="29718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 short body.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umtile-co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DENSITY COMPACT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Fixed numeral tile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1" name="card"/>
          <p:cNvGrpSpPr/>
          <p:nvPr/>
        </p:nvGrpSpPr>
        <p:grpSpPr>
          <a:xfrm>
            <a:off x="723900" y="2286000"/>
            <a:ext cx="3429000" cy="2286000"/>
            <a:chOff x="723900" y="2286000"/>
            <a:chExt cx="3429000" cy="2286000"/>
          </a:xfrm>
        </p:grpSpPr>
        <p:sp>
          <p:nvSpPr>
            <p:cNvPr id="6" name="card.container"/>
            <p:cNvSpPr/>
            <p:nvPr/>
          </p:nvSpPr>
          <p:spPr>
            <a:xfrm>
              <a:off x="723900" y="2286000"/>
              <a:ext cx="3429000" cy="2286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card.number-tile"/>
            <p:cNvSpPr/>
            <p:nvPr/>
          </p:nvSpPr>
          <p:spPr>
            <a:xfrm>
              <a:off x="952500" y="247650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8" name="card.number"/>
            <p:cNvSpPr/>
            <p:nvPr/>
          </p:nvSpPr>
          <p:spPr>
            <a:xfrm>
              <a:off x="952500" y="247650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card.title"/>
            <p:cNvSpPr/>
            <p:nvPr/>
          </p:nvSpPr>
          <p:spPr>
            <a:xfrm>
              <a:off x="1409700" y="2514600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Pillar title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0" name="card.body.item-001.paragraph"/>
            <p:cNvSpPr/>
            <p:nvPr/>
          </p:nvSpPr>
          <p:spPr>
            <a:xfrm>
              <a:off x="952500" y="2933700"/>
              <a:ext cx="2971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 short body.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umtile-de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DENSITY DENSE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Fixed numeral tile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1" name="card"/>
          <p:cNvGrpSpPr/>
          <p:nvPr/>
        </p:nvGrpSpPr>
        <p:grpSpPr>
          <a:xfrm>
            <a:off x="723900" y="2286000"/>
            <a:ext cx="3429000" cy="2286000"/>
            <a:chOff x="723900" y="2286000"/>
            <a:chExt cx="3429000" cy="2286000"/>
          </a:xfrm>
        </p:grpSpPr>
        <p:sp>
          <p:nvSpPr>
            <p:cNvPr id="6" name="card.container"/>
            <p:cNvSpPr/>
            <p:nvPr/>
          </p:nvSpPr>
          <p:spPr>
            <a:xfrm>
              <a:off x="723900" y="2286000"/>
              <a:ext cx="3429000" cy="2286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card.number-tile"/>
            <p:cNvSpPr/>
            <p:nvPr/>
          </p:nvSpPr>
          <p:spPr>
            <a:xfrm>
              <a:off x="952500" y="2457450"/>
              <a:ext cx="342900" cy="342900"/>
            </a:xfrm>
            <a:prstGeom prst="rect">
              <a:avLst/>
            </a:prstGeom>
            <a:solidFill>
              <a:srgbClr val="F900D3"/>
            </a:solidFill>
            <a:ln>
              <a:noFill/>
            </a:ln>
          </p:spPr>
        </p:sp>
        <p:sp>
          <p:nvSpPr>
            <p:cNvPr id="8" name="card.number"/>
            <p:cNvSpPr/>
            <p:nvPr/>
          </p:nvSpPr>
          <p:spPr>
            <a:xfrm>
              <a:off x="952500" y="2457450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4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card.title"/>
            <p:cNvSpPr/>
            <p:nvPr/>
          </p:nvSpPr>
          <p:spPr>
            <a:xfrm>
              <a:off x="1409700" y="2514600"/>
              <a:ext cx="2514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Pillar title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0" name="card.body.item-001.paragraph"/>
            <p:cNvSpPr/>
            <p:nvPr/>
          </p:nvSpPr>
          <p:spPr>
            <a:xfrm>
              <a:off x="952500" y="289560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 short body.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WMDS color repairs and fixed numeral tiles</dc:title>
  <dc:subject>PptxGenJS Presentation</dc:subject>
  <dc:creator>West Monroe</dc:creator>
  <cp:lastModifiedBy>West Monroe</cp:lastModifiedBy>
  <cp:revision>1</cp:revision>
  <dcterms:created xsi:type="dcterms:W3CDTF">2026-10-06T14:50:27Z</dcterms:created>
  <dcterms:modified xsi:type="dcterms:W3CDTF">2026-10-06T14:50:27Z</dcterms:modified>
</cp:coreProperties>
</file>